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y="5143500" cx="9144000"/>
  <p:notesSz cx="6858000" cy="9144000"/>
  <p:embeddedFontLst>
    <p:embeddedFont>
      <p:font typeface="Caveat"/>
      <p:regular r:id="rId46"/>
      <p:bold r:id="rId47"/>
    </p:embeddedFont>
    <p:embeddedFont>
      <p:font typeface="Crimson Pro Light"/>
      <p:regular r:id="rId48"/>
      <p:bold r:id="rId49"/>
      <p:italic r:id="rId50"/>
      <p:boldItalic r:id="rId51"/>
    </p:embeddedFont>
    <p:embeddedFont>
      <p:font typeface="Crimson Pro"/>
      <p:regular r:id="rId52"/>
      <p:bold r:id="rId53"/>
      <p:italic r:id="rId54"/>
      <p:boldItalic r:id="rId55"/>
    </p:embeddedFont>
    <p:embeddedFont>
      <p:font typeface="Open Sans"/>
      <p:regular r:id="rId56"/>
      <p:bold r:id="rId57"/>
      <p:italic r:id="rId58"/>
      <p:boldItalic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80F6D17-53CE-4F3B-A51A-C32445133DF1}">
  <a:tblStyle styleId="{780F6D17-53CE-4F3B-A51A-C32445133DF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font" Target="fonts/Caveat-regular.fntdata"/><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CrimsonProLight-regular.fntdata"/><Relationship Id="rId47" Type="http://schemas.openxmlformats.org/officeDocument/2006/relationships/font" Target="fonts/Caveat-bold.fntdata"/><Relationship Id="rId49" Type="http://schemas.openxmlformats.org/officeDocument/2006/relationships/font" Target="fonts/CrimsonProLight-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CrimsonProLight-boldItalic.fntdata"/><Relationship Id="rId50" Type="http://schemas.openxmlformats.org/officeDocument/2006/relationships/font" Target="fonts/CrimsonProLight-italic.fntdata"/><Relationship Id="rId53" Type="http://schemas.openxmlformats.org/officeDocument/2006/relationships/font" Target="fonts/CrimsonPro-bold.fntdata"/><Relationship Id="rId52" Type="http://schemas.openxmlformats.org/officeDocument/2006/relationships/font" Target="fonts/CrimsonPro-regular.fntdata"/><Relationship Id="rId11" Type="http://schemas.openxmlformats.org/officeDocument/2006/relationships/slide" Target="slides/slide4.xml"/><Relationship Id="rId55" Type="http://schemas.openxmlformats.org/officeDocument/2006/relationships/font" Target="fonts/CrimsonPro-boldItalic.fntdata"/><Relationship Id="rId10" Type="http://schemas.openxmlformats.org/officeDocument/2006/relationships/slide" Target="slides/slide3.xml"/><Relationship Id="rId54" Type="http://schemas.openxmlformats.org/officeDocument/2006/relationships/font" Target="fonts/CrimsonPro-italic.fntdata"/><Relationship Id="rId13" Type="http://schemas.openxmlformats.org/officeDocument/2006/relationships/slide" Target="slides/slide6.xml"/><Relationship Id="rId57" Type="http://schemas.openxmlformats.org/officeDocument/2006/relationships/font" Target="fonts/OpenSans-bold.fntdata"/><Relationship Id="rId12" Type="http://schemas.openxmlformats.org/officeDocument/2006/relationships/slide" Target="slides/slide5.xml"/><Relationship Id="rId56" Type="http://schemas.openxmlformats.org/officeDocument/2006/relationships/font" Target="fonts/OpenSans-regular.fntdata"/><Relationship Id="rId15" Type="http://schemas.openxmlformats.org/officeDocument/2006/relationships/slide" Target="slides/slide8.xml"/><Relationship Id="rId59" Type="http://schemas.openxmlformats.org/officeDocument/2006/relationships/font" Target="fonts/OpenSans-boldItalic.fntdata"/><Relationship Id="rId14" Type="http://schemas.openxmlformats.org/officeDocument/2006/relationships/slide" Target="slides/slide7.xml"/><Relationship Id="rId58" Type="http://schemas.openxmlformats.org/officeDocument/2006/relationships/font" Target="fonts/OpenSans-italic.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de2ba2ae29_2_4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g3de2ba2ae29_2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de36cc0be9_1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de36cc0be9_1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de36cc0be9_1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de36cc0be9_1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de2ba2ae29_2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g3de2ba2ae29_2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de2ba2ae29_2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g3de2ba2ae29_2_1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0244f0db5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e0244f0db5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de2ba2ae29_2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g3de2ba2ae29_2_1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de2ba2ae2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g3de2ba2ae2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de2ba2ae29_2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g3de2ba2ae29_2_2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de36cc0be9_1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2" name="Google Shape;242;g3de36cc0be9_1_2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de2ba2ae29_2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g3de2ba2ae29_2_2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de2ba2ae29_2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g3de2ba2ae29_2_2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de2ba2ae29_2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g3de2ba2ae29_2_2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de2ba2ae29_2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0" name="Google Shape;310;g3de2ba2ae29_2_3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de2ba2ae29_2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4" name="Google Shape;324;g3de2ba2ae29_2_3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de2ba2ae29_2_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2" name="Google Shape;352;g3de2ba2ae29_2_3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de2ba2ae29_2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3" name="Google Shape;373;g3de2ba2ae29_2_4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de2ba2ae2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8" name="Google Shape;388;g3de2ba2ae29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de2ba2ae29_2_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6" name="Google Shape;396;g3de2ba2ae29_2_4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de36cc0be9_1_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3" name="Google Shape;413;g3de36cc0be9_1_4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de2ba2ae29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2" name="Google Shape;432;g3de2ba2ae29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de36cc0be9_1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0" name="Google Shape;440;g3de36cc0be9_1_2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de2ba2ae29_2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5" name="Google Shape;455;g3de2ba2ae29_2_5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de2ba2ae29_2_5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9" name="Google Shape;479;g3de2ba2ae29_2_5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de2ba2ae29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8" name="Google Shape;498;g3de2ba2ae29_0_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de2ba2ae29_2_6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6" name="Google Shape;506;g3de2ba2ae29_2_6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de2ba2ae29_2_6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1" name="Google Shape;521;g3de2ba2ae29_2_6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de2ba2ae29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6" name="Google Shape;536;g3de2ba2ae29_0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de36cc0be9_1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4" name="Google Shape;544;g3de36cc0be9_1_3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3de3d55d42d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3de3d55d42d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de2ba2ae29_2_7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0" name="Google Shape;570;g3de2ba2ae29_2_7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de2ba2ae29_2_7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0" name="Google Shape;590;g3de2ba2ae29_2_7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de2ba2ae29_2_8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0" name="Google Shape;610;g3de2ba2ae29_2_8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e0244f0db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3e0244f0db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3e0244f0db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3e0244f0db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e00aeebcdd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3e00aeebcdd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de36cc0be9_1_5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8" name="Google Shape;668;g3de36cc0be9_1_5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deb84d713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9" name="Google Shape;679;g3deb84d713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8" name="Shape 58"/>
        <p:cNvGrpSpPr/>
        <p:nvPr/>
      </p:nvGrpSpPr>
      <p:grpSpPr>
        <a:xfrm>
          <a:off x="0" y="0"/>
          <a:ext cx="0" cy="0"/>
          <a:chOff x="0" y="0"/>
          <a:chExt cx="0" cy="0"/>
        </a:xfrm>
      </p:grpSpPr>
      <p:sp>
        <p:nvSpPr>
          <p:cNvPr id="59" name="Google Shape;59;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0" name="Google Shape;60;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1" name="Google Shape;61;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2" name="Shape 62"/>
        <p:cNvGrpSpPr/>
        <p:nvPr/>
      </p:nvGrpSpPr>
      <p:grpSpPr>
        <a:xfrm>
          <a:off x="0" y="0"/>
          <a:ext cx="0" cy="0"/>
          <a:chOff x="0" y="0"/>
          <a:chExt cx="0" cy="0"/>
        </a:xfrm>
      </p:grpSpPr>
      <p:sp>
        <p:nvSpPr>
          <p:cNvPr id="63" name="Google Shape;63;p1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4" name="Google Shape;64;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spd="slow" p14:dur="1300">
        <p:push/>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mc:AlternateContent>
    <mc:Choice Requires="p14">
      <p:transition spd="slow" p14:dur="1300">
        <p:push/>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1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10.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1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8.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txBox="1"/>
          <p:nvPr>
            <p:ph idx="1" type="subTitle"/>
          </p:nvPr>
        </p:nvSpPr>
        <p:spPr>
          <a:xfrm>
            <a:off x="3868475" y="1966700"/>
            <a:ext cx="4963800" cy="1659900"/>
          </a:xfrm>
          <a:prstGeom prst="rect">
            <a:avLst/>
          </a:prstGeom>
          <a:noFill/>
          <a:ln>
            <a:noFill/>
          </a:ln>
        </p:spPr>
        <p:txBody>
          <a:bodyPr anchorCtr="0" anchor="t" bIns="91425" lIns="91425" spcFirstLastPara="1" rIns="91425" wrap="square" tIns="91425">
            <a:normAutofit fontScale="55000" lnSpcReduction="20000"/>
          </a:bodyPr>
          <a:lstStyle/>
          <a:p>
            <a:pPr indent="0" lvl="0" marL="0" rtl="0" algn="l">
              <a:lnSpc>
                <a:spcPct val="124719"/>
              </a:lnSpc>
              <a:spcBef>
                <a:spcPts val="0"/>
              </a:spcBef>
              <a:spcAft>
                <a:spcPts val="0"/>
              </a:spcAft>
              <a:buClr>
                <a:srgbClr val="443728"/>
              </a:buClr>
              <a:buSzPct val="100000"/>
              <a:buFont typeface="Crimson Pro"/>
              <a:buNone/>
            </a:pPr>
            <a:r>
              <a:rPr b="1" lang="en-GB" sz="4450">
                <a:solidFill>
                  <a:srgbClr val="443728"/>
                </a:solidFill>
                <a:latin typeface="Crimson Pro"/>
                <a:ea typeface="Crimson Pro"/>
                <a:cs typeface="Crimson Pro"/>
                <a:sym typeface="Crimson Pro"/>
              </a:rPr>
              <a:t>Narrative Shift Detection in News Media using Temporal Contrastive Learning</a:t>
            </a:r>
            <a:endParaRPr sz="4450">
              <a:solidFill>
                <a:schemeClr val="dk1"/>
              </a:solidFill>
            </a:endParaRPr>
          </a:p>
          <a:p>
            <a:pPr indent="0" lvl="0" marL="0" rtl="0" algn="ctr">
              <a:lnSpc>
                <a:spcPct val="100000"/>
              </a:lnSpc>
              <a:spcBef>
                <a:spcPts val="0"/>
              </a:spcBef>
              <a:spcAft>
                <a:spcPts val="0"/>
              </a:spcAft>
              <a:buSzPct val="181818"/>
              <a:buNone/>
            </a:pPr>
            <a:r>
              <a:t/>
            </a:r>
            <a:endParaRPr/>
          </a:p>
        </p:txBody>
      </p:sp>
      <p:pic>
        <p:nvPicPr>
          <p:cNvPr descr="preencoded.png" id="100" name="Google Shape;100;p25"/>
          <p:cNvPicPr preferRelativeResize="0"/>
          <p:nvPr/>
        </p:nvPicPr>
        <p:blipFill rotWithShape="1">
          <a:blip r:embed="rId3">
            <a:alphaModFix/>
          </a:blip>
          <a:srcRect b="-60406" l="0" r="-61082" t="-677"/>
          <a:stretch/>
        </p:blipFill>
        <p:spPr>
          <a:xfrm>
            <a:off x="0" y="0"/>
            <a:ext cx="5486400" cy="8229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00"/>
                                        </p:tgtEl>
                                        <p:attrNameLst>
                                          <p:attrName>style.visibility</p:attrName>
                                        </p:attrNameLst>
                                      </p:cBhvr>
                                      <p:to>
                                        <p:strVal val="visible"/>
                                      </p:to>
                                    </p:set>
                                    <p:animEffect filter="fade" transition="in">
                                      <p:cBhvr>
                                        <p:cTn dur="1000"/>
                                        <p:tgtEl>
                                          <p:spTgt spid="100"/>
                                        </p:tgtEl>
                                      </p:cBhvr>
                                    </p:animEffect>
                                  </p:childTnLst>
                                </p:cTn>
                              </p:par>
                              <p:par>
                                <p:cTn fill="hold" nodeType="withEffect" presetClass="entr" presetID="2" presetSubtype="2">
                                  <p:stCondLst>
                                    <p:cond delay="0"/>
                                  </p:stCondLst>
                                  <p:childTnLst>
                                    <p:set>
                                      <p:cBhvr>
                                        <p:cTn dur="1" fill="hold">
                                          <p:stCondLst>
                                            <p:cond delay="0"/>
                                          </p:stCondLst>
                                        </p:cTn>
                                        <p:tgtEl>
                                          <p:spTgt spid="99"/>
                                        </p:tgtEl>
                                        <p:attrNameLst>
                                          <p:attrName>style.visibility</p:attrName>
                                        </p:attrNameLst>
                                      </p:cBhvr>
                                      <p:to>
                                        <p:strVal val="visible"/>
                                      </p:to>
                                    </p:set>
                                    <p:anim calcmode="lin" valueType="num">
                                      <p:cBhvr additive="base">
                                        <p:cTn dur="1000"/>
                                        <p:tgtEl>
                                          <p:spTgt spid="9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6"/>
          <p:cNvSpPr/>
          <p:nvPr/>
        </p:nvSpPr>
        <p:spPr>
          <a:xfrm>
            <a:off x="276075" y="315125"/>
            <a:ext cx="3196500" cy="399600"/>
          </a:xfrm>
          <a:prstGeom prst="rect">
            <a:avLst/>
          </a:prstGeom>
          <a:noFill/>
          <a:ln>
            <a:noFill/>
          </a:ln>
        </p:spPr>
        <p:txBody>
          <a:bodyPr anchorCtr="0" anchor="t" bIns="0" lIns="0" spcFirstLastPara="1" rIns="0" wrap="square" tIns="0">
            <a:noAutofit/>
          </a:bodyPr>
          <a:lstStyle/>
          <a:p>
            <a:pPr indent="0" lvl="0" marL="0" marR="0" rtl="0" algn="l">
              <a:lnSpc>
                <a:spcPct val="125757"/>
              </a:lnSpc>
              <a:spcBef>
                <a:spcPts val="0"/>
              </a:spcBef>
              <a:spcAft>
                <a:spcPts val="0"/>
              </a:spcAft>
              <a:buClr>
                <a:srgbClr val="443728"/>
              </a:buClr>
              <a:buSzPts val="2487"/>
              <a:buFont typeface="Crimson Pro"/>
              <a:buNone/>
            </a:pPr>
            <a:r>
              <a:rPr b="1" i="0" lang="en-GB" sz="2287" u="none" cap="none" strike="noStrike">
                <a:solidFill>
                  <a:srgbClr val="443728"/>
                </a:solidFill>
              </a:rPr>
              <a:t>Objectives of the Work</a:t>
            </a:r>
            <a:endParaRPr i="0" sz="2287" u="none" cap="none" strike="noStrike"/>
          </a:p>
        </p:txBody>
      </p:sp>
      <p:grpSp>
        <p:nvGrpSpPr>
          <p:cNvPr id="106" name="Google Shape;106;p26"/>
          <p:cNvGrpSpPr/>
          <p:nvPr/>
        </p:nvGrpSpPr>
        <p:grpSpPr>
          <a:xfrm>
            <a:off x="189750" y="1441226"/>
            <a:ext cx="8281303" cy="1159755"/>
            <a:chOff x="189750" y="1441226"/>
            <a:chExt cx="8281303" cy="1159755"/>
          </a:xfrm>
        </p:grpSpPr>
        <p:grpSp>
          <p:nvGrpSpPr>
            <p:cNvPr id="107" name="Google Shape;107;p26"/>
            <p:cNvGrpSpPr/>
            <p:nvPr/>
          </p:nvGrpSpPr>
          <p:grpSpPr>
            <a:xfrm>
              <a:off x="189750" y="1441226"/>
              <a:ext cx="8281303" cy="1159755"/>
              <a:chOff x="521749" y="620689"/>
              <a:chExt cx="7881701" cy="1290911"/>
            </a:xfrm>
          </p:grpSpPr>
          <p:sp>
            <p:nvSpPr>
              <p:cNvPr id="108" name="Google Shape;108;p26"/>
              <p:cNvSpPr/>
              <p:nvPr/>
            </p:nvSpPr>
            <p:spPr>
              <a:xfrm>
                <a:off x="537750" y="620700"/>
                <a:ext cx="7865700" cy="1290900"/>
              </a:xfrm>
              <a:prstGeom prst="roundRect">
                <a:avLst>
                  <a:gd fmla="val 5954" name="adj"/>
                </a:avLst>
              </a:prstGeom>
              <a:solidFill>
                <a:srgbClr val="FFFCFA"/>
              </a:solidFill>
              <a:ln cap="flat" cmpd="sng" w="16000">
                <a:solidFill>
                  <a:srgbClr val="D1C8C6"/>
                </a:solidFill>
                <a:prstDash val="solid"/>
                <a:round/>
                <a:headEnd len="sm" w="sm" type="none"/>
                <a:tailEnd len="sm" w="sm" type="none"/>
              </a:ln>
            </p:spPr>
            <p:txBody>
              <a:bodyPr anchorCtr="0" anchor="ctr" bIns="64050" lIns="64050" spcFirstLastPara="1" rIns="64050" wrap="square" tIns="64050">
                <a:noAutofit/>
              </a:bodyPr>
              <a:lstStyle/>
              <a:p>
                <a:pPr indent="0" lvl="0" marL="0" rtl="0" algn="l">
                  <a:spcBef>
                    <a:spcPts val="0"/>
                  </a:spcBef>
                  <a:spcAft>
                    <a:spcPts val="0"/>
                  </a:spcAft>
                  <a:buNone/>
                </a:pPr>
                <a:r>
                  <a:t/>
                </a:r>
                <a:endParaRPr/>
              </a:p>
            </p:txBody>
          </p:sp>
          <p:sp>
            <p:nvSpPr>
              <p:cNvPr id="109" name="Google Shape;109;p26"/>
              <p:cNvSpPr/>
              <p:nvPr/>
            </p:nvSpPr>
            <p:spPr>
              <a:xfrm>
                <a:off x="521749" y="620689"/>
                <a:ext cx="64200" cy="1290900"/>
              </a:xfrm>
              <a:prstGeom prst="roundRect">
                <a:avLst>
                  <a:gd fmla="val 94954" name="adj"/>
                </a:avLst>
              </a:prstGeom>
              <a:solidFill>
                <a:srgbClr val="835E54"/>
              </a:solidFill>
              <a:ln>
                <a:noFill/>
              </a:ln>
            </p:spPr>
            <p:txBody>
              <a:bodyPr anchorCtr="0" anchor="ctr" bIns="64050" lIns="64050" spcFirstLastPara="1" rIns="64050" wrap="square" tIns="64050">
                <a:noAutofit/>
              </a:bodyPr>
              <a:lstStyle/>
              <a:p>
                <a:pPr indent="0" lvl="0" marL="0" rtl="0" algn="l">
                  <a:spcBef>
                    <a:spcPts val="0"/>
                  </a:spcBef>
                  <a:spcAft>
                    <a:spcPts val="0"/>
                  </a:spcAft>
                  <a:buNone/>
                </a:pPr>
                <a:r>
                  <a:t/>
                </a:r>
                <a:endParaRPr/>
              </a:p>
            </p:txBody>
          </p:sp>
        </p:grpSp>
        <p:sp>
          <p:nvSpPr>
            <p:cNvPr id="110" name="Google Shape;110;p26"/>
            <p:cNvSpPr/>
            <p:nvPr/>
          </p:nvSpPr>
          <p:spPr>
            <a:xfrm>
              <a:off x="374950" y="1510832"/>
              <a:ext cx="127500" cy="159900"/>
            </a:xfrm>
            <a:prstGeom prst="rect">
              <a:avLst/>
            </a:prstGeom>
            <a:noFill/>
            <a:ln>
              <a:noFill/>
            </a:ln>
          </p:spPr>
          <p:txBody>
            <a:bodyPr anchorCtr="0" anchor="t" bIns="0" lIns="0" spcFirstLastPara="1" rIns="0" wrap="square" tIns="0">
              <a:noAutofit/>
            </a:bodyPr>
            <a:lstStyle/>
            <a:p>
              <a:pPr indent="0" lvl="0" marL="0" marR="0" rtl="0" algn="l">
                <a:lnSpc>
                  <a:spcPct val="142307"/>
                </a:lnSpc>
                <a:spcBef>
                  <a:spcPts val="0"/>
                </a:spcBef>
                <a:spcAft>
                  <a:spcPts val="0"/>
                </a:spcAft>
                <a:buClr>
                  <a:srgbClr val="443728"/>
                </a:buClr>
                <a:buSzPts val="980"/>
                <a:buFont typeface="Crimson Pro Light"/>
                <a:buNone/>
              </a:pPr>
              <a:r>
                <a:rPr b="0" i="0" lang="en-GB" sz="980" u="none" cap="none" strike="noStrike">
                  <a:solidFill>
                    <a:srgbClr val="443728"/>
                  </a:solidFill>
                  <a:latin typeface="Crimson Pro Light"/>
                  <a:ea typeface="Crimson Pro Light"/>
                  <a:cs typeface="Crimson Pro Light"/>
                  <a:sym typeface="Crimson Pro Light"/>
                </a:rPr>
                <a:t>01</a:t>
              </a:r>
              <a:endParaRPr b="0" i="0" sz="980" u="none" cap="none" strike="noStrike"/>
            </a:p>
          </p:txBody>
        </p:sp>
        <p:sp>
          <p:nvSpPr>
            <p:cNvPr id="111" name="Google Shape;111;p26"/>
            <p:cNvSpPr/>
            <p:nvPr/>
          </p:nvSpPr>
          <p:spPr>
            <a:xfrm>
              <a:off x="374950" y="1710864"/>
              <a:ext cx="5997300" cy="17400"/>
            </a:xfrm>
            <a:prstGeom prst="rect">
              <a:avLst/>
            </a:prstGeom>
            <a:solidFill>
              <a:srgbClr val="835E54"/>
            </a:solidFill>
            <a:ln>
              <a:noFill/>
            </a:ln>
          </p:spPr>
          <p:txBody>
            <a:bodyPr anchorCtr="0" anchor="ctr" bIns="68900" lIns="68900" spcFirstLastPara="1" rIns="68900" wrap="square" tIns="68900">
              <a:noAutofit/>
            </a:bodyPr>
            <a:lstStyle/>
            <a:p>
              <a:pPr indent="0" lvl="0" marL="0" rtl="0" algn="l">
                <a:spcBef>
                  <a:spcPts val="0"/>
                </a:spcBef>
                <a:spcAft>
                  <a:spcPts val="0"/>
                </a:spcAft>
                <a:buNone/>
              </a:pPr>
              <a:r>
                <a:t/>
              </a:r>
              <a:endParaRPr/>
            </a:p>
          </p:txBody>
        </p:sp>
        <p:sp>
          <p:nvSpPr>
            <p:cNvPr id="112" name="Google Shape;112;p26"/>
            <p:cNvSpPr/>
            <p:nvPr/>
          </p:nvSpPr>
          <p:spPr>
            <a:xfrm>
              <a:off x="374950" y="1809225"/>
              <a:ext cx="3156600" cy="199500"/>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443728"/>
                </a:buClr>
                <a:buSzPts val="1244"/>
                <a:buFont typeface="Crimson Pro"/>
                <a:buNone/>
              </a:pPr>
              <a:r>
                <a:rPr b="1" lang="en-GB" sz="1244">
                  <a:solidFill>
                    <a:srgbClr val="443728"/>
                  </a:solidFill>
                </a:rPr>
                <a:t>Topic-Agnostic Narrative Shift Detection</a:t>
              </a:r>
              <a:endParaRPr i="0" sz="1244" u="none" cap="none" strike="noStrike"/>
            </a:p>
          </p:txBody>
        </p:sp>
        <p:sp>
          <p:nvSpPr>
            <p:cNvPr id="113" name="Google Shape;113;p26"/>
            <p:cNvSpPr/>
            <p:nvPr/>
          </p:nvSpPr>
          <p:spPr>
            <a:xfrm>
              <a:off x="374950" y="2066325"/>
              <a:ext cx="8096100" cy="357600"/>
            </a:xfrm>
            <a:prstGeom prst="rect">
              <a:avLst/>
            </a:prstGeom>
            <a:noFill/>
            <a:ln>
              <a:noFill/>
            </a:ln>
          </p:spPr>
          <p:txBody>
            <a:bodyPr anchorCtr="0" anchor="t" bIns="0" lIns="0" spcFirstLastPara="1" rIns="0" wrap="square" tIns="0">
              <a:noAutofit/>
            </a:bodyPr>
            <a:lstStyle/>
            <a:p>
              <a:pPr indent="-298450" lvl="0" marL="457200" rtl="0" algn="l">
                <a:lnSpc>
                  <a:spcPct val="142307"/>
                </a:lnSpc>
                <a:spcBef>
                  <a:spcPts val="0"/>
                </a:spcBef>
                <a:spcAft>
                  <a:spcPts val="0"/>
                </a:spcAft>
                <a:buClr>
                  <a:schemeClr val="dk1"/>
                </a:buClr>
                <a:buSzPts val="1100"/>
                <a:buChar char="●"/>
              </a:pPr>
              <a:r>
                <a:rPr lang="en-GB" sz="1100">
                  <a:solidFill>
                    <a:schemeClr val="dk1"/>
                  </a:solidFill>
                </a:rPr>
                <a:t>Build a model that works across </a:t>
              </a:r>
              <a:r>
                <a:rPr b="1" lang="en-GB" sz="1100">
                  <a:solidFill>
                    <a:schemeClr val="dk1"/>
                  </a:solidFill>
                </a:rPr>
                <a:t>multiple unrelated topics</a:t>
              </a:r>
              <a:r>
                <a:rPr lang="en-GB" sz="1100">
                  <a:solidFill>
                    <a:schemeClr val="dk1"/>
                  </a:solidFill>
                </a:rPr>
                <a:t> (war, climate, health, economics, technology)</a:t>
              </a:r>
              <a:endParaRPr sz="1100">
                <a:solidFill>
                  <a:schemeClr val="dk1"/>
                </a:solidFill>
              </a:endParaRPr>
            </a:p>
            <a:p>
              <a:pPr indent="-298450" lvl="0" marL="457200" rtl="0" algn="l">
                <a:lnSpc>
                  <a:spcPct val="142307"/>
                </a:lnSpc>
                <a:spcBef>
                  <a:spcPts val="0"/>
                </a:spcBef>
                <a:spcAft>
                  <a:spcPts val="0"/>
                </a:spcAft>
                <a:buClr>
                  <a:schemeClr val="dk1"/>
                </a:buClr>
                <a:buSzPts val="1100"/>
                <a:buChar char="●"/>
              </a:pPr>
              <a:r>
                <a:rPr lang="en-GB" sz="1100">
                  <a:solidFill>
                    <a:schemeClr val="dk1"/>
                  </a:solidFill>
                </a:rPr>
                <a:t>No need for topic-specific retraining or fine-tuning</a:t>
              </a:r>
              <a:endParaRPr sz="1100">
                <a:solidFill>
                  <a:schemeClr val="dk1"/>
                </a:solidFill>
              </a:endParaRPr>
            </a:p>
            <a:p>
              <a:pPr indent="0" lvl="0" marL="0" marR="0" rtl="0" algn="l">
                <a:lnSpc>
                  <a:spcPct val="142307"/>
                </a:lnSpc>
                <a:spcBef>
                  <a:spcPts val="0"/>
                </a:spcBef>
                <a:spcAft>
                  <a:spcPts val="0"/>
                </a:spcAft>
                <a:buClr>
                  <a:srgbClr val="443728"/>
                </a:buClr>
                <a:buSzPts val="980"/>
                <a:buFont typeface="Open Sans"/>
                <a:buNone/>
              </a:pPr>
              <a:r>
                <a:t/>
              </a:r>
              <a:endParaRPr sz="1100">
                <a:solidFill>
                  <a:schemeClr val="dk1"/>
                </a:solidFill>
              </a:endParaRPr>
            </a:p>
          </p:txBody>
        </p:sp>
      </p:grpSp>
      <p:grpSp>
        <p:nvGrpSpPr>
          <p:cNvPr id="114" name="Google Shape;114;p26"/>
          <p:cNvGrpSpPr/>
          <p:nvPr/>
        </p:nvGrpSpPr>
        <p:grpSpPr>
          <a:xfrm>
            <a:off x="181400" y="2938400"/>
            <a:ext cx="8281300" cy="1100100"/>
            <a:chOff x="181400" y="2938400"/>
            <a:chExt cx="8281300" cy="1100100"/>
          </a:xfrm>
        </p:grpSpPr>
        <p:sp>
          <p:nvSpPr>
            <p:cNvPr id="115" name="Google Shape;115;p26"/>
            <p:cNvSpPr/>
            <p:nvPr/>
          </p:nvSpPr>
          <p:spPr>
            <a:xfrm>
              <a:off x="198212" y="2938410"/>
              <a:ext cx="8264400" cy="1099800"/>
            </a:xfrm>
            <a:prstGeom prst="roundRect">
              <a:avLst>
                <a:gd fmla="val 5954" name="adj"/>
              </a:avLst>
            </a:prstGeom>
            <a:solidFill>
              <a:srgbClr val="FFFCFA"/>
            </a:solidFill>
            <a:ln cap="flat" cmpd="sng" w="16000">
              <a:solidFill>
                <a:srgbClr val="D1C8C6"/>
              </a:solidFill>
              <a:prstDash val="solid"/>
              <a:round/>
              <a:headEnd len="sm" w="sm" type="none"/>
              <a:tailEnd len="sm" w="sm" type="none"/>
            </a:ln>
          </p:spPr>
          <p:txBody>
            <a:bodyPr anchorCtr="0" anchor="ctr" bIns="64050" lIns="64050" spcFirstLastPara="1" rIns="64050" wrap="square" tIns="64050">
              <a:noAutofit/>
            </a:bodyPr>
            <a:lstStyle/>
            <a:p>
              <a:pPr indent="0" lvl="0" marL="0" rtl="0" algn="l">
                <a:spcBef>
                  <a:spcPts val="0"/>
                </a:spcBef>
                <a:spcAft>
                  <a:spcPts val="0"/>
                </a:spcAft>
                <a:buNone/>
              </a:pPr>
              <a:r>
                <a:t/>
              </a:r>
              <a:endParaRPr/>
            </a:p>
          </p:txBody>
        </p:sp>
        <p:sp>
          <p:nvSpPr>
            <p:cNvPr id="116" name="Google Shape;116;p26"/>
            <p:cNvSpPr/>
            <p:nvPr/>
          </p:nvSpPr>
          <p:spPr>
            <a:xfrm>
              <a:off x="181400" y="2938400"/>
              <a:ext cx="67500" cy="1100100"/>
            </a:xfrm>
            <a:prstGeom prst="roundRect">
              <a:avLst>
                <a:gd fmla="val 94954" name="adj"/>
              </a:avLst>
            </a:prstGeom>
            <a:solidFill>
              <a:srgbClr val="835E54"/>
            </a:solidFill>
            <a:ln>
              <a:noFill/>
            </a:ln>
          </p:spPr>
          <p:txBody>
            <a:bodyPr anchorCtr="0" anchor="ctr" bIns="64050" lIns="64050" spcFirstLastPara="1" rIns="64050" wrap="square" tIns="64050">
              <a:noAutofit/>
            </a:bodyPr>
            <a:lstStyle/>
            <a:p>
              <a:pPr indent="0" lvl="0" marL="0" rtl="0" algn="l">
                <a:spcBef>
                  <a:spcPts val="0"/>
                </a:spcBef>
                <a:spcAft>
                  <a:spcPts val="0"/>
                </a:spcAft>
                <a:buNone/>
              </a:pPr>
              <a:r>
                <a:t/>
              </a:r>
              <a:endParaRPr/>
            </a:p>
          </p:txBody>
        </p:sp>
        <p:sp>
          <p:nvSpPr>
            <p:cNvPr id="117" name="Google Shape;117;p26"/>
            <p:cNvSpPr/>
            <p:nvPr/>
          </p:nvSpPr>
          <p:spPr>
            <a:xfrm>
              <a:off x="366600" y="2996497"/>
              <a:ext cx="127500" cy="159900"/>
            </a:xfrm>
            <a:prstGeom prst="rect">
              <a:avLst/>
            </a:prstGeom>
            <a:noFill/>
            <a:ln>
              <a:noFill/>
            </a:ln>
          </p:spPr>
          <p:txBody>
            <a:bodyPr anchorCtr="0" anchor="t" bIns="0" lIns="0" spcFirstLastPara="1" rIns="0" wrap="square" tIns="0">
              <a:noAutofit/>
            </a:bodyPr>
            <a:lstStyle/>
            <a:p>
              <a:pPr indent="0" lvl="0" marL="0" marR="0" rtl="0" algn="l">
                <a:lnSpc>
                  <a:spcPct val="142307"/>
                </a:lnSpc>
                <a:spcBef>
                  <a:spcPts val="0"/>
                </a:spcBef>
                <a:spcAft>
                  <a:spcPts val="0"/>
                </a:spcAft>
                <a:buClr>
                  <a:srgbClr val="443728"/>
                </a:buClr>
                <a:buSzPts val="980"/>
                <a:buFont typeface="Crimson Pro Light"/>
                <a:buNone/>
              </a:pPr>
              <a:r>
                <a:rPr b="0" i="0" lang="en-GB" sz="980" u="none" cap="none" strike="noStrike">
                  <a:solidFill>
                    <a:srgbClr val="443728"/>
                  </a:solidFill>
                  <a:latin typeface="Crimson Pro Light"/>
                  <a:ea typeface="Crimson Pro Light"/>
                  <a:cs typeface="Crimson Pro Light"/>
                  <a:sym typeface="Crimson Pro Light"/>
                </a:rPr>
                <a:t>02</a:t>
              </a:r>
              <a:endParaRPr b="0" i="0" sz="980" u="none" cap="none" strike="noStrike"/>
            </a:p>
          </p:txBody>
        </p:sp>
        <p:sp>
          <p:nvSpPr>
            <p:cNvPr id="118" name="Google Shape;118;p26"/>
            <p:cNvSpPr/>
            <p:nvPr/>
          </p:nvSpPr>
          <p:spPr>
            <a:xfrm>
              <a:off x="366600" y="3196529"/>
              <a:ext cx="5997300" cy="17400"/>
            </a:xfrm>
            <a:prstGeom prst="rect">
              <a:avLst/>
            </a:prstGeom>
            <a:solidFill>
              <a:srgbClr val="835E54"/>
            </a:solidFill>
            <a:ln>
              <a:noFill/>
            </a:ln>
          </p:spPr>
          <p:txBody>
            <a:bodyPr anchorCtr="0" anchor="ctr" bIns="68900" lIns="68900" spcFirstLastPara="1" rIns="68900" wrap="square" tIns="68900">
              <a:noAutofit/>
            </a:bodyPr>
            <a:lstStyle/>
            <a:p>
              <a:pPr indent="0" lvl="0" marL="0" rtl="0" algn="l">
                <a:spcBef>
                  <a:spcPts val="0"/>
                </a:spcBef>
                <a:spcAft>
                  <a:spcPts val="0"/>
                </a:spcAft>
                <a:buNone/>
              </a:pPr>
              <a:r>
                <a:t/>
              </a:r>
              <a:endParaRPr/>
            </a:p>
          </p:txBody>
        </p:sp>
        <p:sp>
          <p:nvSpPr>
            <p:cNvPr id="119" name="Google Shape;119;p26"/>
            <p:cNvSpPr/>
            <p:nvPr/>
          </p:nvSpPr>
          <p:spPr>
            <a:xfrm>
              <a:off x="366600" y="3294875"/>
              <a:ext cx="2832000" cy="199500"/>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443728"/>
                </a:buClr>
                <a:buSzPts val="1244"/>
                <a:buFont typeface="Crimson Pro"/>
                <a:buNone/>
              </a:pPr>
              <a:r>
                <a:rPr b="1" lang="en-GB" sz="1244">
                  <a:solidFill>
                    <a:srgbClr val="443728"/>
                  </a:solidFill>
                </a:rPr>
                <a:t>Sentence-Level Shift Identification</a:t>
              </a:r>
              <a:endParaRPr i="0" sz="1244" u="none" cap="none" strike="noStrike"/>
            </a:p>
          </p:txBody>
        </p:sp>
        <p:sp>
          <p:nvSpPr>
            <p:cNvPr id="120" name="Google Shape;120;p26"/>
            <p:cNvSpPr/>
            <p:nvPr/>
          </p:nvSpPr>
          <p:spPr>
            <a:xfrm>
              <a:off x="366600" y="3552000"/>
              <a:ext cx="8096100" cy="357600"/>
            </a:xfrm>
            <a:prstGeom prst="rect">
              <a:avLst/>
            </a:prstGeom>
            <a:noFill/>
            <a:ln>
              <a:noFill/>
            </a:ln>
          </p:spPr>
          <p:txBody>
            <a:bodyPr anchorCtr="0" anchor="t" bIns="0" lIns="0" spcFirstLastPara="1" rIns="0" wrap="square" tIns="0">
              <a:noAutofit/>
            </a:bodyPr>
            <a:lstStyle/>
            <a:p>
              <a:pPr indent="-298450" lvl="0" marL="457200" rtl="0" algn="l">
                <a:lnSpc>
                  <a:spcPct val="142307"/>
                </a:lnSpc>
                <a:spcBef>
                  <a:spcPts val="0"/>
                </a:spcBef>
                <a:spcAft>
                  <a:spcPts val="0"/>
                </a:spcAft>
                <a:buClr>
                  <a:schemeClr val="dk1"/>
                </a:buClr>
                <a:buSzPts val="1100"/>
                <a:buChar char="●"/>
              </a:pPr>
              <a:r>
                <a:rPr lang="en-GB" sz="1100">
                  <a:solidFill>
                    <a:schemeClr val="dk1"/>
                  </a:solidFill>
                </a:rPr>
                <a:t>Detect </a:t>
              </a:r>
              <a:r>
                <a:rPr b="1" lang="en-GB" sz="1100">
                  <a:solidFill>
                    <a:schemeClr val="dk1"/>
                  </a:solidFill>
                </a:rPr>
                <a:t>which specific sentences cause narrative shifts</a:t>
              </a:r>
              <a:endParaRPr b="1" sz="1100">
                <a:solidFill>
                  <a:schemeClr val="dk1"/>
                </a:solidFill>
              </a:endParaRPr>
            </a:p>
            <a:p>
              <a:pPr indent="-298450" lvl="0" marL="457200" rtl="0" algn="l">
                <a:lnSpc>
                  <a:spcPct val="142307"/>
                </a:lnSpc>
                <a:spcBef>
                  <a:spcPts val="0"/>
                </a:spcBef>
                <a:spcAft>
                  <a:spcPts val="0"/>
                </a:spcAft>
                <a:buClr>
                  <a:schemeClr val="dk1"/>
                </a:buClr>
                <a:buSzPts val="1100"/>
                <a:buChar char="●"/>
              </a:pPr>
              <a:r>
                <a:rPr lang="en-GB" sz="1100">
                  <a:solidFill>
                    <a:schemeClr val="dk1"/>
                  </a:solidFill>
                </a:rPr>
                <a:t>Help users understand </a:t>
              </a:r>
              <a:r>
                <a:rPr b="1" lang="en-GB" sz="1100">
                  <a:solidFill>
                    <a:schemeClr val="dk1"/>
                  </a:solidFill>
                </a:rPr>
                <a:t>How </a:t>
              </a:r>
              <a:r>
                <a:rPr b="1" lang="en-GB" sz="1100">
                  <a:solidFill>
                    <a:schemeClr val="dk1"/>
                  </a:solidFill>
                </a:rPr>
                <a:t>exactly changed in the narrative</a:t>
              </a:r>
              <a:endParaRPr b="1" sz="1100">
                <a:solidFill>
                  <a:schemeClr val="dk1"/>
                </a:solidFill>
              </a:endParaRPr>
            </a:p>
            <a:p>
              <a:pPr indent="0" lvl="0" marL="0" marR="0" rtl="0" algn="l">
                <a:lnSpc>
                  <a:spcPct val="142307"/>
                </a:lnSpc>
                <a:spcBef>
                  <a:spcPts val="0"/>
                </a:spcBef>
                <a:spcAft>
                  <a:spcPts val="0"/>
                </a:spcAft>
                <a:buClr>
                  <a:srgbClr val="443728"/>
                </a:buClr>
                <a:buSzPts val="980"/>
                <a:buFont typeface="Open Sans"/>
                <a:buNone/>
              </a:pPr>
              <a:r>
                <a:t/>
              </a:r>
              <a:endParaRPr sz="1100">
                <a:solidFill>
                  <a:schemeClr val="dk1"/>
                </a:solidFil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06"/>
                                        </p:tgtEl>
                                        <p:attrNameLst>
                                          <p:attrName>style.visibility</p:attrName>
                                        </p:attrNameLst>
                                      </p:cBhvr>
                                      <p:to>
                                        <p:strVal val="visible"/>
                                      </p:to>
                                    </p:set>
                                    <p:animEffect filter="fade" transition="in">
                                      <p:cBhvr>
                                        <p:cTn dur="1000"/>
                                        <p:tgtEl>
                                          <p:spTgt spid="1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gtEl>
                                        <p:attrNameLst>
                                          <p:attrName>style.visibility</p:attrName>
                                        </p:attrNameLst>
                                      </p:cBhvr>
                                      <p:to>
                                        <p:strVal val="visible"/>
                                      </p:to>
                                    </p:set>
                                    <p:animEffect filter="fade" transition="in">
                                      <p:cBhvr>
                                        <p:cTn dur="1000"/>
                                        <p:tgtEl>
                                          <p:spTgt spid="1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7"/>
          <p:cNvSpPr/>
          <p:nvPr/>
        </p:nvSpPr>
        <p:spPr>
          <a:xfrm>
            <a:off x="228400" y="86125"/>
            <a:ext cx="3803100" cy="3807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43728"/>
              </a:buClr>
              <a:buSzPts val="2397"/>
              <a:buFont typeface="Crimson Pro"/>
              <a:buNone/>
            </a:pPr>
            <a:r>
              <a:rPr b="1" i="0" lang="en-GB" sz="2397" u="none" cap="none" strike="noStrike">
                <a:solidFill>
                  <a:srgbClr val="443728"/>
                </a:solidFill>
              </a:rPr>
              <a:t>What is Narrative Shift?</a:t>
            </a:r>
            <a:endParaRPr i="0" sz="2397" u="none" cap="none" strike="noStrike"/>
          </a:p>
        </p:txBody>
      </p:sp>
      <p:sp>
        <p:nvSpPr>
          <p:cNvPr id="126" name="Google Shape;126;p27"/>
          <p:cNvSpPr/>
          <p:nvPr/>
        </p:nvSpPr>
        <p:spPr>
          <a:xfrm>
            <a:off x="553200" y="786049"/>
            <a:ext cx="7865700" cy="1785600"/>
          </a:xfrm>
          <a:prstGeom prst="roundRect">
            <a:avLst>
              <a:gd fmla="val 5954" name="adj"/>
            </a:avLst>
          </a:prstGeom>
          <a:solidFill>
            <a:srgbClr val="FFFCFA"/>
          </a:solidFill>
          <a:ln cap="flat" cmpd="sng" w="16000">
            <a:solidFill>
              <a:srgbClr val="D1C8C6"/>
            </a:solidFill>
            <a:prstDash val="solid"/>
            <a:round/>
            <a:headEnd len="sm" w="sm" type="none"/>
            <a:tailEnd len="sm" w="sm" type="none"/>
          </a:ln>
        </p:spPr>
        <p:txBody>
          <a:bodyPr anchorCtr="0" anchor="ctr" bIns="64050" lIns="64050" spcFirstLastPara="1" rIns="64050" wrap="square" tIns="64050">
            <a:noAutofit/>
          </a:bodyPr>
          <a:lstStyle/>
          <a:p>
            <a:pPr indent="0" lvl="0" marL="0" rtl="0" algn="l">
              <a:spcBef>
                <a:spcPts val="0"/>
              </a:spcBef>
              <a:spcAft>
                <a:spcPts val="0"/>
              </a:spcAft>
              <a:buNone/>
            </a:pPr>
            <a:r>
              <a:t/>
            </a:r>
            <a:endParaRPr/>
          </a:p>
        </p:txBody>
      </p:sp>
      <p:sp>
        <p:nvSpPr>
          <p:cNvPr id="127" name="Google Shape;127;p27"/>
          <p:cNvSpPr/>
          <p:nvPr/>
        </p:nvSpPr>
        <p:spPr>
          <a:xfrm>
            <a:off x="537200" y="786025"/>
            <a:ext cx="78900" cy="1785600"/>
          </a:xfrm>
          <a:prstGeom prst="roundRect">
            <a:avLst>
              <a:gd fmla="val 94954" name="adj"/>
            </a:avLst>
          </a:prstGeom>
          <a:solidFill>
            <a:srgbClr val="835E54"/>
          </a:solidFill>
          <a:ln>
            <a:noFill/>
          </a:ln>
        </p:spPr>
        <p:txBody>
          <a:bodyPr anchorCtr="0" anchor="ctr" bIns="64050" lIns="64050" spcFirstLastPara="1" rIns="64050" wrap="square" tIns="64050">
            <a:noAutofit/>
          </a:bodyPr>
          <a:lstStyle/>
          <a:p>
            <a:pPr indent="0" lvl="0" marL="0" rtl="0" algn="l">
              <a:spcBef>
                <a:spcPts val="0"/>
              </a:spcBef>
              <a:spcAft>
                <a:spcPts val="0"/>
              </a:spcAft>
              <a:buNone/>
            </a:pPr>
            <a:r>
              <a:t/>
            </a:r>
            <a:endParaRPr/>
          </a:p>
        </p:txBody>
      </p:sp>
      <p:sp>
        <p:nvSpPr>
          <p:cNvPr id="128" name="Google Shape;128;p27"/>
          <p:cNvSpPr/>
          <p:nvPr/>
        </p:nvSpPr>
        <p:spPr>
          <a:xfrm>
            <a:off x="553200" y="965650"/>
            <a:ext cx="7191900" cy="1507800"/>
          </a:xfrm>
          <a:prstGeom prst="rect">
            <a:avLst/>
          </a:prstGeom>
          <a:noFill/>
          <a:ln>
            <a:noFill/>
          </a:ln>
        </p:spPr>
        <p:txBody>
          <a:bodyPr anchorCtr="0" anchor="t" bIns="0" lIns="0" spcFirstLastPara="1" rIns="0" wrap="square" tIns="0">
            <a:noAutofit/>
          </a:bodyPr>
          <a:lstStyle/>
          <a:p>
            <a:pPr indent="-311150" lvl="0" marL="457200" rtl="0" algn="l">
              <a:lnSpc>
                <a:spcPct val="153125"/>
              </a:lnSpc>
              <a:spcBef>
                <a:spcPts val="0"/>
              </a:spcBef>
              <a:spcAft>
                <a:spcPts val="0"/>
              </a:spcAft>
              <a:buClr>
                <a:schemeClr val="dk1"/>
              </a:buClr>
              <a:buSzPts val="1300"/>
              <a:buChar char="●"/>
            </a:pPr>
            <a:r>
              <a:rPr lang="en-GB" sz="1300">
                <a:solidFill>
                  <a:schemeClr val="dk1"/>
                </a:solidFill>
              </a:rPr>
              <a:t>A narrative shift is a change in how a topic is </a:t>
            </a:r>
            <a:r>
              <a:rPr b="1" lang="en-GB" sz="1300">
                <a:solidFill>
                  <a:schemeClr val="dk1"/>
                </a:solidFill>
              </a:rPr>
              <a:t>framed or interpreted over time</a:t>
            </a:r>
            <a:endParaRPr b="1" sz="1300">
              <a:solidFill>
                <a:schemeClr val="dk1"/>
              </a:solidFill>
            </a:endParaRPr>
          </a:p>
          <a:p>
            <a:pPr indent="-311150" lvl="0" marL="457200" rtl="0" algn="l">
              <a:lnSpc>
                <a:spcPct val="153125"/>
              </a:lnSpc>
              <a:spcBef>
                <a:spcPts val="0"/>
              </a:spcBef>
              <a:spcAft>
                <a:spcPts val="0"/>
              </a:spcAft>
              <a:buClr>
                <a:schemeClr val="dk1"/>
              </a:buClr>
              <a:buSzPts val="1300"/>
              <a:buChar char="●"/>
            </a:pPr>
            <a:r>
              <a:rPr lang="en-GB" sz="1300">
                <a:solidFill>
                  <a:schemeClr val="dk1"/>
                </a:solidFill>
              </a:rPr>
              <a:t>It reflects changes in </a:t>
            </a:r>
            <a:r>
              <a:rPr b="1" lang="en-GB" sz="1300">
                <a:solidFill>
                  <a:schemeClr val="dk1"/>
                </a:solidFill>
              </a:rPr>
              <a:t>meaning, not just factual content</a:t>
            </a:r>
            <a:endParaRPr b="1" sz="1300">
              <a:solidFill>
                <a:schemeClr val="dk1"/>
              </a:solidFill>
            </a:endParaRPr>
          </a:p>
          <a:p>
            <a:pPr indent="-311150" lvl="0" marL="457200" rtl="0" algn="l">
              <a:lnSpc>
                <a:spcPct val="153125"/>
              </a:lnSpc>
              <a:spcBef>
                <a:spcPts val="0"/>
              </a:spcBef>
              <a:spcAft>
                <a:spcPts val="0"/>
              </a:spcAft>
              <a:buClr>
                <a:schemeClr val="dk1"/>
              </a:buClr>
              <a:buSzPts val="1300"/>
              <a:buChar char="●"/>
            </a:pPr>
            <a:r>
              <a:rPr lang="en-GB" sz="1300">
                <a:solidFill>
                  <a:schemeClr val="dk1"/>
                </a:solidFill>
              </a:rPr>
              <a:t>Can occur even when the </a:t>
            </a:r>
            <a:r>
              <a:rPr b="1" lang="en-GB" sz="1300">
                <a:solidFill>
                  <a:schemeClr val="dk1"/>
                </a:solidFill>
              </a:rPr>
              <a:t>underlying topic remains the same</a:t>
            </a:r>
            <a:endParaRPr b="1" sz="1300">
              <a:solidFill>
                <a:schemeClr val="dk1"/>
              </a:solidFill>
            </a:endParaRPr>
          </a:p>
          <a:p>
            <a:pPr indent="-311150" lvl="0" marL="457200" rtl="0" algn="l">
              <a:lnSpc>
                <a:spcPct val="153125"/>
              </a:lnSpc>
              <a:spcBef>
                <a:spcPts val="0"/>
              </a:spcBef>
              <a:spcAft>
                <a:spcPts val="0"/>
              </a:spcAft>
              <a:buClr>
                <a:schemeClr val="dk1"/>
              </a:buClr>
              <a:buSzPts val="1300"/>
              <a:buChar char="●"/>
            </a:pPr>
            <a:r>
              <a:rPr lang="en-GB" sz="1300">
                <a:solidFill>
                  <a:schemeClr val="dk1"/>
                </a:solidFill>
              </a:rPr>
              <a:t>Represents evolution in </a:t>
            </a:r>
            <a:r>
              <a:rPr b="1" lang="en-GB" sz="1300">
                <a:solidFill>
                  <a:schemeClr val="dk1"/>
                </a:solidFill>
              </a:rPr>
              <a:t>perspective, emphasis, or context</a:t>
            </a:r>
            <a:endParaRPr b="1" sz="1300">
              <a:solidFill>
                <a:schemeClr val="dk1"/>
              </a:solidFill>
            </a:endParaRPr>
          </a:p>
          <a:p>
            <a:pPr indent="-311150" lvl="0" marL="457200" rtl="0" algn="l">
              <a:lnSpc>
                <a:spcPct val="153125"/>
              </a:lnSpc>
              <a:spcBef>
                <a:spcPts val="0"/>
              </a:spcBef>
              <a:spcAft>
                <a:spcPts val="0"/>
              </a:spcAft>
              <a:buClr>
                <a:schemeClr val="dk1"/>
              </a:buClr>
              <a:buSzPts val="1300"/>
              <a:buChar char="●"/>
            </a:pPr>
            <a:r>
              <a:rPr lang="en-GB" sz="1300">
                <a:solidFill>
                  <a:schemeClr val="dk1"/>
                </a:solidFill>
              </a:rPr>
              <a:t>Can be </a:t>
            </a:r>
            <a:r>
              <a:rPr b="1" lang="en-GB" sz="1300">
                <a:solidFill>
                  <a:schemeClr val="dk1"/>
                </a:solidFill>
              </a:rPr>
              <a:t>gradual (slow evolution)</a:t>
            </a:r>
            <a:r>
              <a:rPr lang="en-GB" sz="1300">
                <a:solidFill>
                  <a:schemeClr val="dk1"/>
                </a:solidFill>
              </a:rPr>
              <a:t> or </a:t>
            </a:r>
            <a:r>
              <a:rPr b="1" lang="en-GB" sz="1300">
                <a:solidFill>
                  <a:schemeClr val="dk1"/>
                </a:solidFill>
              </a:rPr>
              <a:t>abrupt (sudden change)</a:t>
            </a:r>
            <a:endParaRPr sz="1300">
              <a:solidFill>
                <a:srgbClr val="443728"/>
              </a:solidFill>
            </a:endParaRPr>
          </a:p>
        </p:txBody>
      </p:sp>
      <p:sp>
        <p:nvSpPr>
          <p:cNvPr id="129" name="Google Shape;129;p27"/>
          <p:cNvSpPr/>
          <p:nvPr/>
        </p:nvSpPr>
        <p:spPr>
          <a:xfrm>
            <a:off x="616000" y="3288370"/>
            <a:ext cx="2364600" cy="1208100"/>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443728"/>
              </a:buClr>
              <a:buSzPts val="932"/>
              <a:buFont typeface="Open Sans"/>
              <a:buNone/>
            </a:pPr>
            <a:r>
              <a:rPr b="0" i="0" lang="en-GB" sz="932" u="none" cap="none" strike="noStrike">
                <a:solidFill>
                  <a:srgbClr val="443728"/>
                </a:solidFill>
                <a:latin typeface="Open Sans"/>
                <a:ea typeface="Open Sans"/>
                <a:cs typeface="Open Sans"/>
                <a:sym typeface="Open Sans"/>
              </a:rPr>
              <a:t>Shifts may be </a:t>
            </a:r>
            <a:r>
              <a:rPr b="1" i="0" lang="en-GB" sz="932" u="none" cap="none" strike="noStrike">
                <a:solidFill>
                  <a:srgbClr val="443728"/>
                </a:solidFill>
                <a:latin typeface="Open Sans"/>
                <a:ea typeface="Open Sans"/>
                <a:cs typeface="Open Sans"/>
                <a:sym typeface="Open Sans"/>
              </a:rPr>
              <a:t>gradual</a:t>
            </a:r>
            <a:r>
              <a:rPr b="0" i="0" lang="en-GB" sz="932" u="none" cap="none" strike="noStrike">
                <a:solidFill>
                  <a:srgbClr val="443728"/>
                </a:solidFill>
                <a:latin typeface="Open Sans"/>
                <a:ea typeface="Open Sans"/>
                <a:cs typeface="Open Sans"/>
                <a:sym typeface="Open Sans"/>
              </a:rPr>
              <a:t> — evolving incrementally as new information accumulates — or </a:t>
            </a:r>
            <a:r>
              <a:rPr b="1" i="0" lang="en-GB" sz="932" u="none" cap="none" strike="noStrike">
                <a:solidFill>
                  <a:srgbClr val="443728"/>
                </a:solidFill>
                <a:latin typeface="Open Sans"/>
                <a:ea typeface="Open Sans"/>
                <a:cs typeface="Open Sans"/>
                <a:sym typeface="Open Sans"/>
              </a:rPr>
              <a:t>abrupt</a:t>
            </a:r>
            <a:r>
              <a:rPr b="0" i="0" lang="en-GB" sz="932" u="none" cap="none" strike="noStrike">
                <a:solidFill>
                  <a:srgbClr val="443728"/>
                </a:solidFill>
                <a:latin typeface="Open Sans"/>
                <a:ea typeface="Open Sans"/>
                <a:cs typeface="Open Sans"/>
                <a:sym typeface="Open Sans"/>
              </a:rPr>
              <a:t>, triggered by sudden events.</a:t>
            </a:r>
            <a:endParaRPr b="0" i="0" sz="932" u="none" cap="none" strike="noStrike"/>
          </a:p>
        </p:txBody>
      </p:sp>
      <p:sp>
        <p:nvSpPr>
          <p:cNvPr id="130" name="Google Shape;130;p27"/>
          <p:cNvSpPr/>
          <p:nvPr/>
        </p:nvSpPr>
        <p:spPr>
          <a:xfrm>
            <a:off x="3459544" y="3288382"/>
            <a:ext cx="2324700" cy="704400"/>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443728"/>
              </a:buClr>
              <a:buSzPts val="932"/>
              <a:buFont typeface="Open Sans"/>
              <a:buNone/>
            </a:pPr>
            <a:r>
              <a:rPr b="0" i="0" lang="en-GB" sz="932" u="none" cap="none" strike="noStrike">
                <a:solidFill>
                  <a:srgbClr val="443728"/>
                </a:solidFill>
                <a:latin typeface="Open Sans"/>
                <a:ea typeface="Open Sans"/>
                <a:cs typeface="Open Sans"/>
                <a:sym typeface="Open Sans"/>
              </a:rPr>
              <a:t>The same topic can carry </a:t>
            </a:r>
            <a:r>
              <a:rPr b="1" i="0" lang="en-GB" sz="932" u="none" cap="none" strike="noStrike">
                <a:solidFill>
                  <a:srgbClr val="443728"/>
                </a:solidFill>
                <a:latin typeface="Open Sans"/>
                <a:ea typeface="Open Sans"/>
                <a:cs typeface="Open Sans"/>
                <a:sym typeface="Open Sans"/>
              </a:rPr>
              <a:t>entirely different semantic framing</a:t>
            </a:r>
            <a:r>
              <a:rPr b="0" i="0" lang="en-GB" sz="932" u="none" cap="none" strike="noStrike">
                <a:solidFill>
                  <a:srgbClr val="443728"/>
                </a:solidFill>
                <a:latin typeface="Open Sans"/>
                <a:ea typeface="Open Sans"/>
                <a:cs typeface="Open Sans"/>
                <a:sym typeface="Open Sans"/>
              </a:rPr>
              <a:t> across distinct time periods without any change in the underlying subject matter.</a:t>
            </a:r>
            <a:endParaRPr b="0" i="0" sz="932" u="none" cap="none" strike="noStrike"/>
          </a:p>
        </p:txBody>
      </p:sp>
      <p:sp>
        <p:nvSpPr>
          <p:cNvPr id="131" name="Google Shape;131;p27"/>
          <p:cNvSpPr/>
          <p:nvPr/>
        </p:nvSpPr>
        <p:spPr>
          <a:xfrm>
            <a:off x="6303164" y="3288382"/>
            <a:ext cx="2324700" cy="528300"/>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443728"/>
              </a:buClr>
              <a:buSzPts val="932"/>
              <a:buFont typeface="Open Sans"/>
              <a:buNone/>
            </a:pPr>
            <a:r>
              <a:rPr b="0" i="0" lang="en-GB" sz="932" u="none" cap="none" strike="noStrike">
                <a:solidFill>
                  <a:srgbClr val="443728"/>
                </a:solidFill>
                <a:latin typeface="Open Sans"/>
                <a:ea typeface="Open Sans"/>
                <a:cs typeface="Open Sans"/>
                <a:sym typeface="Open Sans"/>
              </a:rPr>
              <a:t>Detecting such shifts provides a systematic lens for understanding </a:t>
            </a:r>
            <a:r>
              <a:rPr b="1" i="0" lang="en-GB" sz="932" u="none" cap="none" strike="noStrike">
                <a:solidFill>
                  <a:srgbClr val="443728"/>
                </a:solidFill>
                <a:latin typeface="Open Sans"/>
                <a:ea typeface="Open Sans"/>
                <a:cs typeface="Open Sans"/>
                <a:sym typeface="Open Sans"/>
              </a:rPr>
              <a:t>evolving media discourse</a:t>
            </a:r>
            <a:r>
              <a:rPr b="0" i="0" lang="en-GB" sz="932" u="none" cap="none" strike="noStrike">
                <a:solidFill>
                  <a:srgbClr val="443728"/>
                </a:solidFill>
                <a:latin typeface="Open Sans"/>
                <a:ea typeface="Open Sans"/>
                <a:cs typeface="Open Sans"/>
                <a:sym typeface="Open Sans"/>
              </a:rPr>
              <a:t> at scale.</a:t>
            </a:r>
            <a:endParaRPr b="0" i="0" sz="932" u="none" cap="none" strike="noStrike"/>
          </a:p>
        </p:txBody>
      </p:sp>
      <p:pic>
        <p:nvPicPr>
          <p:cNvPr id="132" name="Google Shape;132;p27"/>
          <p:cNvPicPr preferRelativeResize="0"/>
          <p:nvPr/>
        </p:nvPicPr>
        <p:blipFill>
          <a:blip r:embed="rId3">
            <a:alphaModFix/>
          </a:blip>
          <a:stretch>
            <a:fillRect/>
          </a:stretch>
        </p:blipFill>
        <p:spPr>
          <a:xfrm>
            <a:off x="344225" y="3328550"/>
            <a:ext cx="210475" cy="180600"/>
          </a:xfrm>
          <a:prstGeom prst="rect">
            <a:avLst/>
          </a:prstGeom>
          <a:noFill/>
          <a:ln>
            <a:noFill/>
          </a:ln>
        </p:spPr>
      </p:pic>
      <p:pic>
        <p:nvPicPr>
          <p:cNvPr id="133" name="Google Shape;133;p27"/>
          <p:cNvPicPr preferRelativeResize="0"/>
          <p:nvPr/>
        </p:nvPicPr>
        <p:blipFill>
          <a:blip r:embed="rId3">
            <a:alphaModFix/>
          </a:blip>
          <a:stretch>
            <a:fillRect/>
          </a:stretch>
        </p:blipFill>
        <p:spPr>
          <a:xfrm>
            <a:off x="6059200" y="3328550"/>
            <a:ext cx="210475" cy="180600"/>
          </a:xfrm>
          <a:prstGeom prst="rect">
            <a:avLst/>
          </a:prstGeom>
          <a:noFill/>
          <a:ln>
            <a:noFill/>
          </a:ln>
        </p:spPr>
      </p:pic>
      <p:pic>
        <p:nvPicPr>
          <p:cNvPr id="134" name="Google Shape;134;p27"/>
          <p:cNvPicPr preferRelativeResize="0"/>
          <p:nvPr/>
        </p:nvPicPr>
        <p:blipFill>
          <a:blip r:embed="rId3">
            <a:alphaModFix/>
          </a:blip>
          <a:stretch>
            <a:fillRect/>
          </a:stretch>
        </p:blipFill>
        <p:spPr>
          <a:xfrm>
            <a:off x="3174850" y="3328550"/>
            <a:ext cx="210475" cy="180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4">
                                  <p:stCondLst>
                                    <p:cond delay="0"/>
                                  </p:stCondLst>
                                  <p:childTnLst>
                                    <p:set>
                                      <p:cBhvr>
                                        <p:cTn dur="1" fill="hold">
                                          <p:stCondLst>
                                            <p:cond delay="0"/>
                                          </p:stCondLst>
                                        </p:cTn>
                                        <p:tgtEl>
                                          <p:spTgt spid="126"/>
                                        </p:tgtEl>
                                        <p:attrNameLst>
                                          <p:attrName>style.visibility</p:attrName>
                                        </p:attrNameLst>
                                      </p:cBhvr>
                                      <p:to>
                                        <p:strVal val="visible"/>
                                      </p:to>
                                    </p:set>
                                    <p:anim calcmode="lin" valueType="num">
                                      <p:cBhvr additive="base">
                                        <p:cTn dur="1000"/>
                                        <p:tgtEl>
                                          <p:spTgt spid="12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27"/>
                                        </p:tgtEl>
                                        <p:attrNameLst>
                                          <p:attrName>style.visibility</p:attrName>
                                        </p:attrNameLst>
                                      </p:cBhvr>
                                      <p:to>
                                        <p:strVal val="visible"/>
                                      </p:to>
                                    </p:set>
                                    <p:anim calcmode="lin" valueType="num">
                                      <p:cBhvr additive="base">
                                        <p:cTn dur="1000"/>
                                        <p:tgtEl>
                                          <p:spTgt spid="127"/>
                                        </p:tgtEl>
                                        <p:attrNameLst>
                                          <p:attrName>ppt_y</p:attrName>
                                        </p:attrNameLst>
                                      </p:cBhvr>
                                      <p:tavLst>
                                        <p:tav fmla="" tm="0">
                                          <p:val>
                                            <p:strVal val="#ppt_y+1"/>
                                          </p:val>
                                        </p:tav>
                                        <p:tav fmla="" tm="100000">
                                          <p:val>
                                            <p:strVal val="#ppt_y"/>
                                          </p:val>
                                        </p:tav>
                                      </p:tavLst>
                                    </p:anim>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1000"/>
                                        <p:tgtEl>
                                          <p:spTgt spid="1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1000"/>
                                        <p:tgtEl>
                                          <p:spTgt spid="132"/>
                                        </p:tgtEl>
                                      </p:cBhvr>
                                    </p:animEffect>
                                  </p:childTnLst>
                                </p:cTn>
                              </p:par>
                              <p:par>
                                <p:cTn fill="hold" nodeType="withEffect" presetClass="entr" presetID="2" presetSubtype="2">
                                  <p:stCondLst>
                                    <p:cond delay="0"/>
                                  </p:stCondLst>
                                  <p:childTnLst>
                                    <p:set>
                                      <p:cBhvr>
                                        <p:cTn dur="1" fill="hold">
                                          <p:stCondLst>
                                            <p:cond delay="0"/>
                                          </p:stCondLst>
                                        </p:cTn>
                                        <p:tgtEl>
                                          <p:spTgt spid="129"/>
                                        </p:tgtEl>
                                        <p:attrNameLst>
                                          <p:attrName>style.visibility</p:attrName>
                                        </p:attrNameLst>
                                      </p:cBhvr>
                                      <p:to>
                                        <p:strVal val="visible"/>
                                      </p:to>
                                    </p:set>
                                    <p:anim calcmode="lin" valueType="num">
                                      <p:cBhvr additive="base">
                                        <p:cTn dur="1000"/>
                                        <p:tgtEl>
                                          <p:spTgt spid="12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1000"/>
                                        <p:tgtEl>
                                          <p:spTgt spid="134"/>
                                        </p:tgtEl>
                                      </p:cBhvr>
                                    </p:animEffect>
                                  </p:childTnLst>
                                </p:cTn>
                              </p:par>
                            </p:childTnLst>
                          </p:cTn>
                        </p:par>
                        <p:par>
                          <p:cTn fill="hold">
                            <p:stCondLst>
                              <p:cond delay="1000"/>
                            </p:stCondLst>
                            <p:childTnLst>
                              <p:par>
                                <p:cTn fill="hold" nodeType="afterEffect" presetClass="entr" presetID="2" presetSubtype="2">
                                  <p:stCondLst>
                                    <p:cond delay="0"/>
                                  </p:stCondLst>
                                  <p:childTnLst>
                                    <p:set>
                                      <p:cBhvr>
                                        <p:cTn dur="1" fill="hold">
                                          <p:stCondLst>
                                            <p:cond delay="0"/>
                                          </p:stCondLst>
                                        </p:cTn>
                                        <p:tgtEl>
                                          <p:spTgt spid="130"/>
                                        </p:tgtEl>
                                        <p:attrNameLst>
                                          <p:attrName>style.visibility</p:attrName>
                                        </p:attrNameLst>
                                      </p:cBhvr>
                                      <p:to>
                                        <p:strVal val="visible"/>
                                      </p:to>
                                    </p:set>
                                    <p:anim calcmode="lin" valueType="num">
                                      <p:cBhvr additive="base">
                                        <p:cTn dur="1000"/>
                                        <p:tgtEl>
                                          <p:spTgt spid="13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1000"/>
                                        <p:tgtEl>
                                          <p:spTgt spid="133"/>
                                        </p:tgtEl>
                                      </p:cBhvr>
                                    </p:animEffect>
                                  </p:childTnLst>
                                </p:cTn>
                              </p:par>
                              <p:par>
                                <p:cTn fill="hold" nodeType="withEffect" presetClass="entr" presetID="2" presetSubtype="2">
                                  <p:stCondLst>
                                    <p:cond delay="0"/>
                                  </p:stCondLst>
                                  <p:childTnLst>
                                    <p:set>
                                      <p:cBhvr>
                                        <p:cTn dur="1" fill="hold">
                                          <p:stCondLst>
                                            <p:cond delay="0"/>
                                          </p:stCondLst>
                                        </p:cTn>
                                        <p:tgtEl>
                                          <p:spTgt spid="131"/>
                                        </p:tgtEl>
                                        <p:attrNameLst>
                                          <p:attrName>style.visibility</p:attrName>
                                        </p:attrNameLst>
                                      </p:cBhvr>
                                      <p:to>
                                        <p:strVal val="visible"/>
                                      </p:to>
                                    </p:set>
                                    <p:anim calcmode="lin" valueType="num">
                                      <p:cBhvr additive="base">
                                        <p:cTn dur="1000"/>
                                        <p:tgtEl>
                                          <p:spTgt spid="13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8"/>
          <p:cNvSpPr/>
          <p:nvPr/>
        </p:nvSpPr>
        <p:spPr>
          <a:xfrm>
            <a:off x="1922415" y="78075"/>
            <a:ext cx="5475922" cy="95961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43728"/>
              </a:buClr>
              <a:buSzPts val="3009"/>
              <a:buFont typeface="Crimson Pro"/>
              <a:buNone/>
            </a:pPr>
            <a:r>
              <a:rPr b="1" i="0" lang="en-GB" sz="2409" u="none" cap="none" strike="noStrike">
                <a:solidFill>
                  <a:srgbClr val="443728"/>
                </a:solidFill>
              </a:rPr>
              <a:t>Real-World Example: COVID-19 Narrative Evolution</a:t>
            </a:r>
            <a:endParaRPr i="0" sz="2409" u="none" cap="none" strike="noStrike">
              <a:solidFill>
                <a:srgbClr val="000000"/>
              </a:solidFill>
            </a:endParaRPr>
          </a:p>
        </p:txBody>
      </p:sp>
      <p:sp>
        <p:nvSpPr>
          <p:cNvPr id="140" name="Google Shape;140;p28"/>
          <p:cNvSpPr/>
          <p:nvPr/>
        </p:nvSpPr>
        <p:spPr>
          <a:xfrm>
            <a:off x="4649498" y="1255244"/>
            <a:ext cx="21921" cy="3676406"/>
          </a:xfrm>
          <a:prstGeom prst="roundRect">
            <a:avLst>
              <a:gd fmla="val 295331" name="adj"/>
            </a:avLst>
          </a:prstGeom>
          <a:solidFill>
            <a:srgbClr val="D1C8C6"/>
          </a:solidFill>
          <a:ln>
            <a:noFill/>
          </a:ln>
        </p:spPr>
        <p:txBody>
          <a:bodyPr anchorCtr="0" anchor="ctr" bIns="65500" lIns="65500" spcFirstLastPara="1" rIns="65500" wrap="square" tIns="655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28"/>
          <p:cNvSpPr/>
          <p:nvPr/>
        </p:nvSpPr>
        <p:spPr>
          <a:xfrm>
            <a:off x="4048930" y="1417051"/>
            <a:ext cx="460572" cy="21921"/>
          </a:xfrm>
          <a:prstGeom prst="roundRect">
            <a:avLst>
              <a:gd fmla="val 295331" name="adj"/>
            </a:avLst>
          </a:prstGeom>
          <a:solidFill>
            <a:srgbClr val="D1C8C6"/>
          </a:solidFill>
          <a:ln>
            <a:noFill/>
          </a:ln>
        </p:spPr>
        <p:txBody>
          <a:bodyPr anchorCtr="0" anchor="ctr" bIns="65500" lIns="65500" spcFirstLastPara="1" rIns="65500" wrap="square" tIns="655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28"/>
          <p:cNvSpPr/>
          <p:nvPr/>
        </p:nvSpPr>
        <p:spPr>
          <a:xfrm>
            <a:off x="4487691" y="1255244"/>
            <a:ext cx="345375" cy="345375"/>
          </a:xfrm>
          <a:prstGeom prst="roundRect">
            <a:avLst>
              <a:gd fmla="val 18668" name="adj"/>
            </a:avLst>
          </a:prstGeom>
          <a:solidFill>
            <a:srgbClr val="EBE2E0"/>
          </a:solidFill>
          <a:ln cap="flat" cmpd="sng" w="9525">
            <a:solidFill>
              <a:srgbClr val="D1C8C6"/>
            </a:solidFill>
            <a:prstDash val="solid"/>
            <a:round/>
            <a:headEnd len="sm" w="sm" type="none"/>
            <a:tailEnd len="sm" w="sm" type="none"/>
          </a:ln>
        </p:spPr>
        <p:txBody>
          <a:bodyPr anchorCtr="0" anchor="ctr" bIns="65500" lIns="65500" spcFirstLastPara="1" rIns="65500" wrap="square" tIns="655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28"/>
          <p:cNvSpPr/>
          <p:nvPr/>
        </p:nvSpPr>
        <p:spPr>
          <a:xfrm>
            <a:off x="4545267" y="1284032"/>
            <a:ext cx="230394" cy="28777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43728"/>
              </a:buClr>
              <a:buSzPts val="1791"/>
              <a:buFont typeface="Crimson Pro"/>
              <a:buNone/>
            </a:pPr>
            <a:r>
              <a:rPr b="1" i="0" lang="en-GB" sz="1791" u="none" cap="none" strike="noStrike">
                <a:solidFill>
                  <a:srgbClr val="443728"/>
                </a:solidFill>
                <a:latin typeface="Crimson Pro"/>
                <a:ea typeface="Crimson Pro"/>
                <a:cs typeface="Crimson Pro"/>
                <a:sym typeface="Crimson Pro"/>
              </a:rPr>
              <a:t>1</a:t>
            </a:r>
            <a:endParaRPr b="0" i="0" sz="1791" u="none" cap="none" strike="noStrike">
              <a:solidFill>
                <a:srgbClr val="000000"/>
              </a:solidFill>
              <a:latin typeface="Arial"/>
              <a:ea typeface="Arial"/>
              <a:cs typeface="Arial"/>
              <a:sym typeface="Arial"/>
            </a:endParaRPr>
          </a:p>
        </p:txBody>
      </p:sp>
      <p:sp>
        <p:nvSpPr>
          <p:cNvPr id="144" name="Google Shape;144;p28"/>
          <p:cNvSpPr/>
          <p:nvPr/>
        </p:nvSpPr>
        <p:spPr>
          <a:xfrm>
            <a:off x="1973507" y="1307958"/>
            <a:ext cx="1919227" cy="239850"/>
          </a:xfrm>
          <a:prstGeom prst="rect">
            <a:avLst/>
          </a:prstGeom>
          <a:noFill/>
          <a:ln>
            <a:noFill/>
          </a:ln>
        </p:spPr>
        <p:txBody>
          <a:bodyPr anchorCtr="0" anchor="t" bIns="0" lIns="0" spcFirstLastPara="1" rIns="0" wrap="square" tIns="0">
            <a:noAutofit/>
          </a:bodyPr>
          <a:lstStyle/>
          <a:p>
            <a:pPr indent="0" lvl="0" marL="0" marR="0" rtl="0" algn="r">
              <a:lnSpc>
                <a:spcPct val="123809"/>
              </a:lnSpc>
              <a:spcBef>
                <a:spcPts val="0"/>
              </a:spcBef>
              <a:spcAft>
                <a:spcPts val="0"/>
              </a:spcAft>
              <a:buClr>
                <a:srgbClr val="443728"/>
              </a:buClr>
              <a:buSzPts val="1504"/>
              <a:buFont typeface="Crimson Pro"/>
              <a:buNone/>
            </a:pPr>
            <a:r>
              <a:rPr b="1" i="0" lang="en-GB" sz="1504" u="none" cap="none" strike="noStrike">
                <a:solidFill>
                  <a:srgbClr val="443728"/>
                </a:solidFill>
                <a:latin typeface="Crimson Pro"/>
                <a:ea typeface="Crimson Pro"/>
                <a:cs typeface="Crimson Pro"/>
                <a:sym typeface="Crimson Pro"/>
              </a:rPr>
              <a:t>Early Coverage</a:t>
            </a:r>
            <a:endParaRPr b="0" i="0" sz="1504" u="none" cap="none" strike="noStrike">
              <a:solidFill>
                <a:srgbClr val="000000"/>
              </a:solidFill>
              <a:latin typeface="Arial"/>
              <a:ea typeface="Arial"/>
              <a:cs typeface="Arial"/>
              <a:sym typeface="Arial"/>
            </a:endParaRPr>
          </a:p>
        </p:txBody>
      </p:sp>
      <p:sp>
        <p:nvSpPr>
          <p:cNvPr id="145" name="Google Shape;145;p28"/>
          <p:cNvSpPr/>
          <p:nvPr/>
        </p:nvSpPr>
        <p:spPr>
          <a:xfrm>
            <a:off x="1922415" y="1634813"/>
            <a:ext cx="1970378" cy="1194091"/>
          </a:xfrm>
          <a:prstGeom prst="rect">
            <a:avLst/>
          </a:prstGeom>
          <a:noFill/>
          <a:ln>
            <a:noFill/>
          </a:ln>
        </p:spPr>
        <p:txBody>
          <a:bodyPr anchorCtr="0" anchor="t" bIns="0" lIns="0" spcFirstLastPara="1" rIns="0" wrap="square" tIns="0">
            <a:noAutofit/>
          </a:bodyPr>
          <a:lstStyle/>
          <a:p>
            <a:pPr indent="0" lvl="0" marL="0" marR="0" rtl="0" algn="r">
              <a:lnSpc>
                <a:spcPct val="157575"/>
              </a:lnSpc>
              <a:spcBef>
                <a:spcPts val="0"/>
              </a:spcBef>
              <a:spcAft>
                <a:spcPts val="0"/>
              </a:spcAft>
              <a:buClr>
                <a:srgbClr val="443728"/>
              </a:buClr>
              <a:buSzPts val="1182"/>
              <a:buFont typeface="Open Sans"/>
              <a:buNone/>
            </a:pPr>
            <a:r>
              <a:rPr b="0" i="0" lang="en-GB" sz="1182" u="none" cap="none" strike="noStrike">
                <a:solidFill>
                  <a:srgbClr val="443728"/>
                </a:solidFill>
                <a:latin typeface="Open Sans"/>
                <a:ea typeface="Open Sans"/>
                <a:cs typeface="Open Sans"/>
                <a:sym typeface="Open Sans"/>
              </a:rPr>
              <a:t>Framing centered on </a:t>
            </a:r>
            <a:r>
              <a:rPr b="1" i="0" lang="en-GB" sz="1182" u="none" cap="none" strike="noStrike">
                <a:solidFill>
                  <a:srgbClr val="443728"/>
                </a:solidFill>
                <a:latin typeface="Open Sans"/>
                <a:ea typeface="Open Sans"/>
                <a:cs typeface="Open Sans"/>
                <a:sym typeface="Open Sans"/>
              </a:rPr>
              <a:t>origin and localized spread</a:t>
            </a:r>
            <a:r>
              <a:rPr b="0" i="0" lang="en-GB" sz="1182" u="none" cap="none" strike="noStrike">
                <a:solidFill>
                  <a:srgbClr val="443728"/>
                </a:solidFill>
                <a:latin typeface="Open Sans"/>
                <a:ea typeface="Open Sans"/>
                <a:cs typeface="Open Sans"/>
                <a:sym typeface="Open Sans"/>
              </a:rPr>
              <a:t> — treating the outbreak as a regional health concern.</a:t>
            </a:r>
            <a:endParaRPr b="0" i="0" sz="1182" u="none" cap="none" strike="noStrike">
              <a:solidFill>
                <a:srgbClr val="000000"/>
              </a:solidFill>
              <a:latin typeface="Arial"/>
              <a:ea typeface="Arial"/>
              <a:cs typeface="Arial"/>
              <a:sym typeface="Arial"/>
            </a:endParaRPr>
          </a:p>
        </p:txBody>
      </p:sp>
      <p:sp>
        <p:nvSpPr>
          <p:cNvPr id="146" name="Google Shape;146;p28"/>
          <p:cNvSpPr/>
          <p:nvPr/>
        </p:nvSpPr>
        <p:spPr>
          <a:xfrm>
            <a:off x="4811305" y="2321274"/>
            <a:ext cx="460572" cy="21921"/>
          </a:xfrm>
          <a:prstGeom prst="roundRect">
            <a:avLst>
              <a:gd fmla="val 295331" name="adj"/>
            </a:avLst>
          </a:prstGeom>
          <a:solidFill>
            <a:srgbClr val="D1C8C6"/>
          </a:solidFill>
          <a:ln>
            <a:noFill/>
          </a:ln>
        </p:spPr>
        <p:txBody>
          <a:bodyPr anchorCtr="0" anchor="ctr" bIns="65500" lIns="65500" spcFirstLastPara="1" rIns="65500" wrap="square" tIns="655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28"/>
          <p:cNvSpPr/>
          <p:nvPr/>
        </p:nvSpPr>
        <p:spPr>
          <a:xfrm>
            <a:off x="4487691" y="2159468"/>
            <a:ext cx="345375" cy="345375"/>
          </a:xfrm>
          <a:prstGeom prst="roundRect">
            <a:avLst>
              <a:gd fmla="val 18668" name="adj"/>
            </a:avLst>
          </a:prstGeom>
          <a:solidFill>
            <a:srgbClr val="EBE2E0"/>
          </a:solidFill>
          <a:ln cap="flat" cmpd="sng" w="9525">
            <a:solidFill>
              <a:srgbClr val="D1C8C6"/>
            </a:solidFill>
            <a:prstDash val="solid"/>
            <a:round/>
            <a:headEnd len="sm" w="sm" type="none"/>
            <a:tailEnd len="sm" w="sm" type="none"/>
          </a:ln>
        </p:spPr>
        <p:txBody>
          <a:bodyPr anchorCtr="0" anchor="ctr" bIns="65500" lIns="65500" spcFirstLastPara="1" rIns="65500" wrap="square" tIns="655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28"/>
          <p:cNvSpPr/>
          <p:nvPr/>
        </p:nvSpPr>
        <p:spPr>
          <a:xfrm>
            <a:off x="4545267" y="2188255"/>
            <a:ext cx="230394" cy="28777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43728"/>
              </a:buClr>
              <a:buSzPts val="1791"/>
              <a:buFont typeface="Crimson Pro"/>
              <a:buNone/>
            </a:pPr>
            <a:r>
              <a:rPr b="1" i="0" lang="en-GB" sz="1791" u="none" cap="none" strike="noStrike">
                <a:solidFill>
                  <a:srgbClr val="443728"/>
                </a:solidFill>
                <a:latin typeface="Crimson Pro"/>
                <a:ea typeface="Crimson Pro"/>
                <a:cs typeface="Crimson Pro"/>
                <a:sym typeface="Crimson Pro"/>
              </a:rPr>
              <a:t>2</a:t>
            </a:r>
            <a:endParaRPr b="0" i="0" sz="1791" u="none" cap="none" strike="noStrike">
              <a:solidFill>
                <a:srgbClr val="000000"/>
              </a:solidFill>
              <a:latin typeface="Arial"/>
              <a:ea typeface="Arial"/>
              <a:cs typeface="Arial"/>
              <a:sym typeface="Arial"/>
            </a:endParaRPr>
          </a:p>
        </p:txBody>
      </p:sp>
      <p:sp>
        <p:nvSpPr>
          <p:cNvPr id="149" name="Google Shape;149;p28"/>
          <p:cNvSpPr/>
          <p:nvPr/>
        </p:nvSpPr>
        <p:spPr>
          <a:xfrm>
            <a:off x="5428080" y="2212180"/>
            <a:ext cx="1919227" cy="239850"/>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443728"/>
              </a:buClr>
              <a:buSzPts val="1504"/>
              <a:buFont typeface="Crimson Pro"/>
              <a:buNone/>
            </a:pPr>
            <a:r>
              <a:rPr b="1" i="0" lang="en-GB" sz="1504" u="none" cap="none" strike="noStrike">
                <a:solidFill>
                  <a:srgbClr val="443728"/>
                </a:solidFill>
                <a:latin typeface="Crimson Pro"/>
                <a:ea typeface="Crimson Pro"/>
                <a:cs typeface="Crimson Pro"/>
                <a:sym typeface="Crimson Pro"/>
              </a:rPr>
              <a:t>Mid-Stage Coverage</a:t>
            </a:r>
            <a:endParaRPr b="0" i="0" sz="1504" u="none" cap="none" strike="noStrike">
              <a:solidFill>
                <a:srgbClr val="000000"/>
              </a:solidFill>
              <a:latin typeface="Arial"/>
              <a:ea typeface="Arial"/>
              <a:cs typeface="Arial"/>
              <a:sym typeface="Arial"/>
            </a:endParaRPr>
          </a:p>
        </p:txBody>
      </p:sp>
      <p:sp>
        <p:nvSpPr>
          <p:cNvPr id="150" name="Google Shape;150;p28"/>
          <p:cNvSpPr/>
          <p:nvPr/>
        </p:nvSpPr>
        <p:spPr>
          <a:xfrm>
            <a:off x="5428080" y="2539035"/>
            <a:ext cx="1970378" cy="1194091"/>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443728"/>
              </a:buClr>
              <a:buSzPts val="1182"/>
              <a:buFont typeface="Open Sans"/>
              <a:buNone/>
            </a:pPr>
            <a:r>
              <a:rPr b="0" i="0" lang="en-GB" sz="1182" u="none" cap="none" strike="noStrike">
                <a:solidFill>
                  <a:srgbClr val="443728"/>
                </a:solidFill>
                <a:latin typeface="Open Sans"/>
                <a:ea typeface="Open Sans"/>
                <a:cs typeface="Open Sans"/>
                <a:sym typeface="Open Sans"/>
              </a:rPr>
              <a:t>Narrative shifted to a </a:t>
            </a:r>
            <a:r>
              <a:rPr b="1" i="0" lang="en-GB" sz="1182" u="none" cap="none" strike="noStrike">
                <a:solidFill>
                  <a:srgbClr val="443728"/>
                </a:solidFill>
                <a:latin typeface="Open Sans"/>
                <a:ea typeface="Open Sans"/>
                <a:cs typeface="Open Sans"/>
                <a:sym typeface="Open Sans"/>
              </a:rPr>
              <a:t>global crisis</a:t>
            </a:r>
            <a:r>
              <a:rPr b="0" i="0" lang="en-GB" sz="1182" u="none" cap="none" strike="noStrike">
                <a:solidFill>
                  <a:srgbClr val="443728"/>
                </a:solidFill>
                <a:latin typeface="Open Sans"/>
                <a:ea typeface="Open Sans"/>
                <a:cs typeface="Open Sans"/>
                <a:sym typeface="Open Sans"/>
              </a:rPr>
              <a:t> frame, emphasizing cross-border spread and overwhelmed healthcare systems.</a:t>
            </a:r>
            <a:endParaRPr b="0" i="0" sz="1182" u="none" cap="none" strike="noStrike">
              <a:solidFill>
                <a:srgbClr val="000000"/>
              </a:solidFill>
              <a:latin typeface="Arial"/>
              <a:ea typeface="Arial"/>
              <a:cs typeface="Arial"/>
              <a:sym typeface="Arial"/>
            </a:endParaRPr>
          </a:p>
        </p:txBody>
      </p:sp>
      <p:sp>
        <p:nvSpPr>
          <p:cNvPr id="151" name="Google Shape;151;p28"/>
          <p:cNvSpPr/>
          <p:nvPr/>
        </p:nvSpPr>
        <p:spPr>
          <a:xfrm>
            <a:off x="4048930" y="3280855"/>
            <a:ext cx="460572" cy="21921"/>
          </a:xfrm>
          <a:prstGeom prst="roundRect">
            <a:avLst>
              <a:gd fmla="val 295331" name="adj"/>
            </a:avLst>
          </a:prstGeom>
          <a:solidFill>
            <a:srgbClr val="D1C8C6"/>
          </a:solidFill>
          <a:ln>
            <a:noFill/>
          </a:ln>
        </p:spPr>
        <p:txBody>
          <a:bodyPr anchorCtr="0" anchor="ctr" bIns="65500" lIns="65500" spcFirstLastPara="1" rIns="65500" wrap="square" tIns="655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28"/>
          <p:cNvSpPr/>
          <p:nvPr/>
        </p:nvSpPr>
        <p:spPr>
          <a:xfrm>
            <a:off x="4487691" y="3119047"/>
            <a:ext cx="345375" cy="345375"/>
          </a:xfrm>
          <a:prstGeom prst="roundRect">
            <a:avLst>
              <a:gd fmla="val 18668" name="adj"/>
            </a:avLst>
          </a:prstGeom>
          <a:solidFill>
            <a:srgbClr val="EBE2E0"/>
          </a:solidFill>
          <a:ln cap="flat" cmpd="sng" w="9525">
            <a:solidFill>
              <a:srgbClr val="D1C8C6"/>
            </a:solidFill>
            <a:prstDash val="solid"/>
            <a:round/>
            <a:headEnd len="sm" w="sm" type="none"/>
            <a:tailEnd len="sm" w="sm" type="none"/>
          </a:ln>
        </p:spPr>
        <p:txBody>
          <a:bodyPr anchorCtr="0" anchor="ctr" bIns="65500" lIns="65500" spcFirstLastPara="1" rIns="65500" wrap="square" tIns="655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28"/>
          <p:cNvSpPr/>
          <p:nvPr/>
        </p:nvSpPr>
        <p:spPr>
          <a:xfrm>
            <a:off x="4545267" y="3147836"/>
            <a:ext cx="230394" cy="28777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43728"/>
              </a:buClr>
              <a:buSzPts val="1791"/>
              <a:buFont typeface="Crimson Pro"/>
              <a:buNone/>
            </a:pPr>
            <a:r>
              <a:rPr b="1" i="0" lang="en-GB" sz="1791" u="none" cap="none" strike="noStrike">
                <a:solidFill>
                  <a:srgbClr val="443728"/>
                </a:solidFill>
                <a:latin typeface="Crimson Pro"/>
                <a:ea typeface="Crimson Pro"/>
                <a:cs typeface="Crimson Pro"/>
                <a:sym typeface="Crimson Pro"/>
              </a:rPr>
              <a:t>3</a:t>
            </a:r>
            <a:endParaRPr b="0" i="0" sz="1791" u="none" cap="none" strike="noStrike">
              <a:solidFill>
                <a:srgbClr val="000000"/>
              </a:solidFill>
              <a:latin typeface="Arial"/>
              <a:ea typeface="Arial"/>
              <a:cs typeface="Arial"/>
              <a:sym typeface="Arial"/>
            </a:endParaRPr>
          </a:p>
        </p:txBody>
      </p:sp>
      <p:sp>
        <p:nvSpPr>
          <p:cNvPr id="154" name="Google Shape;154;p28"/>
          <p:cNvSpPr/>
          <p:nvPr/>
        </p:nvSpPr>
        <p:spPr>
          <a:xfrm>
            <a:off x="1973507" y="3171761"/>
            <a:ext cx="1919227" cy="239850"/>
          </a:xfrm>
          <a:prstGeom prst="rect">
            <a:avLst/>
          </a:prstGeom>
          <a:noFill/>
          <a:ln>
            <a:noFill/>
          </a:ln>
        </p:spPr>
        <p:txBody>
          <a:bodyPr anchorCtr="0" anchor="t" bIns="0" lIns="0" spcFirstLastPara="1" rIns="0" wrap="square" tIns="0">
            <a:noAutofit/>
          </a:bodyPr>
          <a:lstStyle/>
          <a:p>
            <a:pPr indent="0" lvl="0" marL="0" marR="0" rtl="0" algn="r">
              <a:lnSpc>
                <a:spcPct val="123809"/>
              </a:lnSpc>
              <a:spcBef>
                <a:spcPts val="0"/>
              </a:spcBef>
              <a:spcAft>
                <a:spcPts val="0"/>
              </a:spcAft>
              <a:buClr>
                <a:srgbClr val="443728"/>
              </a:buClr>
              <a:buSzPts val="1504"/>
              <a:buFont typeface="Crimson Pro"/>
              <a:buNone/>
            </a:pPr>
            <a:r>
              <a:rPr b="1" i="0" lang="en-GB" sz="1504" u="none" cap="none" strike="noStrike">
                <a:solidFill>
                  <a:srgbClr val="443728"/>
                </a:solidFill>
                <a:latin typeface="Crimson Pro"/>
                <a:ea typeface="Crimson Pro"/>
                <a:cs typeface="Crimson Pro"/>
                <a:sym typeface="Crimson Pro"/>
              </a:rPr>
              <a:t>Late-Stage Coverage</a:t>
            </a:r>
            <a:endParaRPr b="0" i="0" sz="1504" u="none" cap="none" strike="noStrike">
              <a:solidFill>
                <a:srgbClr val="000000"/>
              </a:solidFill>
              <a:latin typeface="Arial"/>
              <a:ea typeface="Arial"/>
              <a:cs typeface="Arial"/>
              <a:sym typeface="Arial"/>
            </a:endParaRPr>
          </a:p>
        </p:txBody>
      </p:sp>
      <p:sp>
        <p:nvSpPr>
          <p:cNvPr id="155" name="Google Shape;155;p28"/>
          <p:cNvSpPr/>
          <p:nvPr/>
        </p:nvSpPr>
        <p:spPr>
          <a:xfrm>
            <a:off x="1922415" y="3498614"/>
            <a:ext cx="1970378" cy="1432866"/>
          </a:xfrm>
          <a:prstGeom prst="rect">
            <a:avLst/>
          </a:prstGeom>
          <a:noFill/>
          <a:ln>
            <a:noFill/>
          </a:ln>
        </p:spPr>
        <p:txBody>
          <a:bodyPr anchorCtr="0" anchor="t" bIns="0" lIns="0" spcFirstLastPara="1" rIns="0" wrap="square" tIns="0">
            <a:noAutofit/>
          </a:bodyPr>
          <a:lstStyle/>
          <a:p>
            <a:pPr indent="0" lvl="0" marL="0" marR="0" rtl="0" algn="r">
              <a:lnSpc>
                <a:spcPct val="157575"/>
              </a:lnSpc>
              <a:spcBef>
                <a:spcPts val="0"/>
              </a:spcBef>
              <a:spcAft>
                <a:spcPts val="0"/>
              </a:spcAft>
              <a:buClr>
                <a:srgbClr val="443728"/>
              </a:buClr>
              <a:buSzPts val="1182"/>
              <a:buFont typeface="Open Sans"/>
              <a:buNone/>
            </a:pPr>
            <a:r>
              <a:rPr b="0" i="0" lang="en-GB" sz="1182" u="none" cap="none" strike="noStrike">
                <a:solidFill>
                  <a:srgbClr val="443728"/>
                </a:solidFill>
                <a:latin typeface="Open Sans"/>
                <a:ea typeface="Open Sans"/>
                <a:cs typeface="Open Sans"/>
                <a:sym typeface="Open Sans"/>
              </a:rPr>
              <a:t>Focus transitioned to </a:t>
            </a:r>
            <a:r>
              <a:rPr b="1" i="0" lang="en-GB" sz="1182" u="none" cap="none" strike="noStrike">
                <a:solidFill>
                  <a:srgbClr val="443728"/>
                </a:solidFill>
                <a:latin typeface="Open Sans"/>
                <a:ea typeface="Open Sans"/>
                <a:cs typeface="Open Sans"/>
                <a:sym typeface="Open Sans"/>
              </a:rPr>
              <a:t>vaccination, recovery, and economic reopening</a:t>
            </a:r>
            <a:r>
              <a:rPr b="0" i="0" lang="en-GB" sz="1182" u="none" cap="none" strike="noStrike">
                <a:solidFill>
                  <a:srgbClr val="443728"/>
                </a:solidFill>
                <a:latin typeface="Open Sans"/>
                <a:ea typeface="Open Sans"/>
                <a:cs typeface="Open Sans"/>
                <a:sym typeface="Open Sans"/>
              </a:rPr>
              <a:t> — marking a clear interpretive transformation.</a:t>
            </a:r>
            <a:endParaRPr b="0" i="0" sz="1182"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1000"/>
                                        <p:tgtEl>
                                          <p:spTgt spid="143"/>
                                        </p:tgtEl>
                                      </p:cBhvr>
                                    </p:animEffect>
                                  </p:childTnLst>
                                </p:cTn>
                              </p:par>
                            </p:childTnLst>
                          </p:cTn>
                        </p:par>
                        <p:par>
                          <p:cTn fill="hold">
                            <p:stCondLst>
                              <p:cond delay="1000"/>
                            </p:stCondLst>
                            <p:childTnLst>
                              <p:par>
                                <p:cTn fill="hold" nodeType="afterEffect" presetClass="entr" presetID="2" presetSubtype="8">
                                  <p:stCondLst>
                                    <p:cond delay="0"/>
                                  </p:stCondLst>
                                  <p:childTnLst>
                                    <p:set>
                                      <p:cBhvr>
                                        <p:cTn dur="1" fill="hold">
                                          <p:stCondLst>
                                            <p:cond delay="0"/>
                                          </p:stCondLst>
                                        </p:cTn>
                                        <p:tgtEl>
                                          <p:spTgt spid="144"/>
                                        </p:tgtEl>
                                        <p:attrNameLst>
                                          <p:attrName>style.visibility</p:attrName>
                                        </p:attrNameLst>
                                      </p:cBhvr>
                                      <p:to>
                                        <p:strVal val="visible"/>
                                      </p:to>
                                    </p:set>
                                    <p:anim calcmode="lin" valueType="num">
                                      <p:cBhvr additive="base">
                                        <p:cTn dur="500"/>
                                        <p:tgtEl>
                                          <p:spTgt spid="144"/>
                                        </p:tgtEl>
                                        <p:attrNameLst>
                                          <p:attrName>ppt_x</p:attrName>
                                        </p:attrNameLst>
                                      </p:cBhvr>
                                      <p:tavLst>
                                        <p:tav fmla="" tm="0">
                                          <p:val>
                                            <p:strVal val="#ppt_x-1"/>
                                          </p:val>
                                        </p:tav>
                                        <p:tav fmla="" tm="100000">
                                          <p:val>
                                            <p:strVal val="#ppt_x"/>
                                          </p:val>
                                        </p:tav>
                                      </p:tavLst>
                                    </p:anim>
                                  </p:childTnLst>
                                </p:cTn>
                              </p:par>
                            </p:childTnLst>
                          </p:cTn>
                        </p:par>
                        <p:par>
                          <p:cTn fill="hold">
                            <p:stCondLst>
                              <p:cond delay="1500"/>
                            </p:stCondLst>
                            <p:childTnLst>
                              <p:par>
                                <p:cTn fill="hold" nodeType="afterEffect" presetClass="entr" presetID="2" presetSubtype="8">
                                  <p:stCondLst>
                                    <p:cond delay="0"/>
                                  </p:stCondLst>
                                  <p:childTnLst>
                                    <p:set>
                                      <p:cBhvr>
                                        <p:cTn dur="1" fill="hold">
                                          <p:stCondLst>
                                            <p:cond delay="0"/>
                                          </p:stCondLst>
                                        </p:cTn>
                                        <p:tgtEl>
                                          <p:spTgt spid="145"/>
                                        </p:tgtEl>
                                        <p:attrNameLst>
                                          <p:attrName>style.visibility</p:attrName>
                                        </p:attrNameLst>
                                      </p:cBhvr>
                                      <p:to>
                                        <p:strVal val="visible"/>
                                      </p:to>
                                    </p:set>
                                    <p:anim calcmode="lin" valueType="num">
                                      <p:cBhvr additive="base">
                                        <p:cTn dur="500"/>
                                        <p:tgtEl>
                                          <p:spTgt spid="14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1000"/>
                                        <p:tgtEl>
                                          <p:spTgt spid="148"/>
                                        </p:tgtEl>
                                      </p:cBhvr>
                                    </p:animEffect>
                                  </p:childTnLst>
                                </p:cTn>
                              </p:par>
                            </p:childTnLst>
                          </p:cTn>
                        </p:par>
                        <p:par>
                          <p:cTn fill="hold">
                            <p:stCondLst>
                              <p:cond delay="1000"/>
                            </p:stCondLst>
                            <p:childTnLst>
                              <p:par>
                                <p:cTn fill="hold" nodeType="afterEffect" presetClass="entr" presetID="2" presetSubtype="2">
                                  <p:stCondLst>
                                    <p:cond delay="0"/>
                                  </p:stCondLst>
                                  <p:childTnLst>
                                    <p:set>
                                      <p:cBhvr>
                                        <p:cTn dur="1" fill="hold">
                                          <p:stCondLst>
                                            <p:cond delay="0"/>
                                          </p:stCondLst>
                                        </p:cTn>
                                        <p:tgtEl>
                                          <p:spTgt spid="149"/>
                                        </p:tgtEl>
                                        <p:attrNameLst>
                                          <p:attrName>style.visibility</p:attrName>
                                        </p:attrNameLst>
                                      </p:cBhvr>
                                      <p:to>
                                        <p:strVal val="visible"/>
                                      </p:to>
                                    </p:set>
                                    <p:anim calcmode="lin" valueType="num">
                                      <p:cBhvr additive="base">
                                        <p:cTn dur="500"/>
                                        <p:tgtEl>
                                          <p:spTgt spid="149"/>
                                        </p:tgtEl>
                                        <p:attrNameLst>
                                          <p:attrName>ppt_x</p:attrName>
                                        </p:attrNameLst>
                                      </p:cBhvr>
                                      <p:tavLst>
                                        <p:tav fmla="" tm="0">
                                          <p:val>
                                            <p:strVal val="#ppt_x+1"/>
                                          </p:val>
                                        </p:tav>
                                        <p:tav fmla="" tm="100000">
                                          <p:val>
                                            <p:strVal val="#ppt_x"/>
                                          </p:val>
                                        </p:tav>
                                      </p:tavLst>
                                    </p:anim>
                                  </p:childTnLst>
                                </p:cTn>
                              </p:par>
                            </p:childTnLst>
                          </p:cTn>
                        </p:par>
                        <p:par>
                          <p:cTn fill="hold">
                            <p:stCondLst>
                              <p:cond delay="1500"/>
                            </p:stCondLst>
                            <p:childTnLst>
                              <p:par>
                                <p:cTn fill="hold" nodeType="afterEffect" presetClass="entr" presetID="2" presetSubtype="2">
                                  <p:stCondLst>
                                    <p:cond delay="0"/>
                                  </p:stCondLst>
                                  <p:childTnLst>
                                    <p:set>
                                      <p:cBhvr>
                                        <p:cTn dur="1" fill="hold">
                                          <p:stCondLst>
                                            <p:cond delay="0"/>
                                          </p:stCondLst>
                                        </p:cTn>
                                        <p:tgtEl>
                                          <p:spTgt spid="150"/>
                                        </p:tgtEl>
                                        <p:attrNameLst>
                                          <p:attrName>style.visibility</p:attrName>
                                        </p:attrNameLst>
                                      </p:cBhvr>
                                      <p:to>
                                        <p:strVal val="visible"/>
                                      </p:to>
                                    </p:set>
                                    <p:anim calcmode="lin" valueType="num">
                                      <p:cBhvr additive="base">
                                        <p:cTn dur="500"/>
                                        <p:tgtEl>
                                          <p:spTgt spid="15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1000"/>
                                        <p:tgtEl>
                                          <p:spTgt spid="153"/>
                                        </p:tgtEl>
                                      </p:cBhvr>
                                    </p:animEffect>
                                  </p:childTnLst>
                                </p:cTn>
                              </p:par>
                            </p:childTnLst>
                          </p:cTn>
                        </p:par>
                        <p:par>
                          <p:cTn fill="hold">
                            <p:stCondLst>
                              <p:cond delay="1000"/>
                            </p:stCondLst>
                            <p:childTnLst>
                              <p:par>
                                <p:cTn fill="hold" nodeType="afterEffect" presetClass="entr" presetID="2" presetSubtype="8">
                                  <p:stCondLst>
                                    <p:cond delay="0"/>
                                  </p:stCondLst>
                                  <p:childTnLst>
                                    <p:set>
                                      <p:cBhvr>
                                        <p:cTn dur="1" fill="hold">
                                          <p:stCondLst>
                                            <p:cond delay="0"/>
                                          </p:stCondLst>
                                        </p:cTn>
                                        <p:tgtEl>
                                          <p:spTgt spid="154"/>
                                        </p:tgtEl>
                                        <p:attrNameLst>
                                          <p:attrName>style.visibility</p:attrName>
                                        </p:attrNameLst>
                                      </p:cBhvr>
                                      <p:to>
                                        <p:strVal val="visible"/>
                                      </p:to>
                                    </p:set>
                                    <p:anim calcmode="lin" valueType="num">
                                      <p:cBhvr additive="base">
                                        <p:cTn dur="500"/>
                                        <p:tgtEl>
                                          <p:spTgt spid="154"/>
                                        </p:tgtEl>
                                        <p:attrNameLst>
                                          <p:attrName>ppt_x</p:attrName>
                                        </p:attrNameLst>
                                      </p:cBhvr>
                                      <p:tavLst>
                                        <p:tav fmla="" tm="0">
                                          <p:val>
                                            <p:strVal val="#ppt_x-1"/>
                                          </p:val>
                                        </p:tav>
                                        <p:tav fmla="" tm="100000">
                                          <p:val>
                                            <p:strVal val="#ppt_x"/>
                                          </p:val>
                                        </p:tav>
                                      </p:tavLst>
                                    </p:anim>
                                  </p:childTnLst>
                                </p:cTn>
                              </p:par>
                            </p:childTnLst>
                          </p:cTn>
                        </p:par>
                        <p:par>
                          <p:cTn fill="hold">
                            <p:stCondLst>
                              <p:cond delay="1500"/>
                            </p:stCondLst>
                            <p:childTnLst>
                              <p:par>
                                <p:cTn fill="hold" nodeType="afterEffect" presetClass="entr" presetID="2" presetSubtype="8">
                                  <p:stCondLst>
                                    <p:cond delay="0"/>
                                  </p:stCondLst>
                                  <p:childTnLst>
                                    <p:set>
                                      <p:cBhvr>
                                        <p:cTn dur="1" fill="hold">
                                          <p:stCondLst>
                                            <p:cond delay="0"/>
                                          </p:stCondLst>
                                        </p:cTn>
                                        <p:tgtEl>
                                          <p:spTgt spid="155"/>
                                        </p:tgtEl>
                                        <p:attrNameLst>
                                          <p:attrName>style.visibility</p:attrName>
                                        </p:attrNameLst>
                                      </p:cBhvr>
                                      <p:to>
                                        <p:strVal val="visible"/>
                                      </p:to>
                                    </p:set>
                                    <p:anim calcmode="lin" valueType="num">
                                      <p:cBhvr additive="base">
                                        <p:cTn dur="500"/>
                                        <p:tgtEl>
                                          <p:spTgt spid="155"/>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9"/>
          <p:cNvSpPr/>
          <p:nvPr/>
        </p:nvSpPr>
        <p:spPr>
          <a:xfrm>
            <a:off x="188775" y="227525"/>
            <a:ext cx="3145200" cy="393000"/>
          </a:xfrm>
          <a:prstGeom prst="rect">
            <a:avLst/>
          </a:prstGeom>
          <a:noFill/>
          <a:ln>
            <a:noFill/>
          </a:ln>
        </p:spPr>
        <p:txBody>
          <a:bodyPr anchorCtr="0" anchor="t" bIns="0" lIns="0" spcFirstLastPara="1" rIns="0" wrap="square" tIns="0">
            <a:noAutofit/>
          </a:bodyPr>
          <a:lstStyle/>
          <a:p>
            <a:pPr indent="0" lvl="0" marL="0" marR="0" rtl="0" algn="l">
              <a:lnSpc>
                <a:spcPct val="125333"/>
              </a:lnSpc>
              <a:spcBef>
                <a:spcPts val="0"/>
              </a:spcBef>
              <a:spcAft>
                <a:spcPts val="0"/>
              </a:spcAft>
              <a:buClr>
                <a:srgbClr val="443728"/>
              </a:buClr>
              <a:buSzPts val="2446"/>
              <a:buFont typeface="Crimson Pro"/>
              <a:buNone/>
            </a:pPr>
            <a:r>
              <a:rPr b="1" i="0" lang="en-GB" sz="2446" u="none" cap="none" strike="noStrike">
                <a:solidFill>
                  <a:srgbClr val="443728"/>
                </a:solidFill>
              </a:rPr>
              <a:t>Problem Statement</a:t>
            </a:r>
            <a:endParaRPr i="0" sz="2446" u="none" cap="none" strike="noStrike">
              <a:solidFill>
                <a:srgbClr val="000000"/>
              </a:solidFill>
            </a:endParaRPr>
          </a:p>
        </p:txBody>
      </p:sp>
      <p:grpSp>
        <p:nvGrpSpPr>
          <p:cNvPr id="161" name="Google Shape;161;p29"/>
          <p:cNvGrpSpPr/>
          <p:nvPr/>
        </p:nvGrpSpPr>
        <p:grpSpPr>
          <a:xfrm>
            <a:off x="188775" y="1236154"/>
            <a:ext cx="5523000" cy="2939601"/>
            <a:chOff x="188775" y="1236154"/>
            <a:chExt cx="5523000" cy="2939601"/>
          </a:xfrm>
        </p:grpSpPr>
        <p:pic>
          <p:nvPicPr>
            <p:cNvPr descr="preencoded.png" id="162" name="Google Shape;162;p29"/>
            <p:cNvPicPr preferRelativeResize="0"/>
            <p:nvPr/>
          </p:nvPicPr>
          <p:blipFill rotWithShape="1">
            <a:blip r:embed="rId3">
              <a:alphaModFix/>
            </a:blip>
            <a:srcRect b="0" l="0" r="0" t="0"/>
            <a:stretch/>
          </p:blipFill>
          <p:spPr>
            <a:xfrm>
              <a:off x="888945" y="1236154"/>
              <a:ext cx="4122401" cy="2446694"/>
            </a:xfrm>
            <a:prstGeom prst="rect">
              <a:avLst/>
            </a:prstGeom>
            <a:noFill/>
            <a:ln>
              <a:noFill/>
            </a:ln>
          </p:spPr>
        </p:pic>
        <p:sp>
          <p:nvSpPr>
            <p:cNvPr id="163" name="Google Shape;163;p29"/>
            <p:cNvSpPr/>
            <p:nvPr/>
          </p:nvSpPr>
          <p:spPr>
            <a:xfrm>
              <a:off x="3758228" y="3016631"/>
              <a:ext cx="1024500" cy="394800"/>
            </a:xfrm>
            <a:prstGeom prst="rect">
              <a:avLst/>
            </a:prstGeom>
            <a:noFill/>
            <a:ln>
              <a:noFill/>
            </a:ln>
          </p:spPr>
          <p:txBody>
            <a:bodyPr anchorCtr="0" anchor="t" bIns="0" lIns="0" spcFirstLastPara="1" rIns="0" wrap="square" tIns="0">
              <a:noAutofit/>
            </a:bodyPr>
            <a:lstStyle/>
            <a:p>
              <a:pPr indent="0" lvl="0" marL="0" marR="0" rtl="0" algn="ctr">
                <a:lnSpc>
                  <a:spcPct val="123684"/>
                </a:lnSpc>
                <a:spcBef>
                  <a:spcPts val="0"/>
                </a:spcBef>
                <a:spcAft>
                  <a:spcPts val="0"/>
                </a:spcAft>
                <a:buClr>
                  <a:srgbClr val="443728"/>
                </a:buClr>
                <a:buSzPts val="1239"/>
                <a:buFont typeface="Crimson Pro"/>
                <a:buNone/>
              </a:pPr>
              <a:r>
                <a:rPr b="1" lang="en-GB" sz="1239">
                  <a:solidFill>
                    <a:srgbClr val="443728"/>
                  </a:solidFill>
                  <a:latin typeface="Crimson Pro"/>
                  <a:ea typeface="Crimson Pro"/>
                  <a:cs typeface="Crimson Pro"/>
                  <a:sym typeface="Crimson Pro"/>
                </a:rPr>
                <a:t>Self </a:t>
              </a:r>
              <a:r>
                <a:rPr b="1" i="0" lang="en-GB" sz="1239" u="none" cap="none" strike="noStrike">
                  <a:solidFill>
                    <a:srgbClr val="443728"/>
                  </a:solidFill>
                  <a:latin typeface="Crimson Pro"/>
                  <a:ea typeface="Crimson Pro"/>
                  <a:cs typeface="Crimson Pro"/>
                  <a:sym typeface="Crimson Pro"/>
                </a:rPr>
                <a:t>supervised Output</a:t>
              </a:r>
              <a:endParaRPr b="0" i="0" sz="1239" u="none" cap="none" strike="noStrike">
                <a:solidFill>
                  <a:srgbClr val="000000"/>
                </a:solidFill>
                <a:latin typeface="Arial"/>
                <a:ea typeface="Arial"/>
                <a:cs typeface="Arial"/>
                <a:sym typeface="Arial"/>
              </a:endParaRPr>
            </a:p>
          </p:txBody>
        </p:sp>
        <p:sp>
          <p:nvSpPr>
            <p:cNvPr id="164" name="Google Shape;164;p29"/>
            <p:cNvSpPr/>
            <p:nvPr/>
          </p:nvSpPr>
          <p:spPr>
            <a:xfrm>
              <a:off x="2466753" y="3016631"/>
              <a:ext cx="1024500" cy="394800"/>
            </a:xfrm>
            <a:prstGeom prst="rect">
              <a:avLst/>
            </a:prstGeom>
            <a:noFill/>
            <a:ln>
              <a:noFill/>
            </a:ln>
          </p:spPr>
          <p:txBody>
            <a:bodyPr anchorCtr="0" anchor="t" bIns="0" lIns="0" spcFirstLastPara="1" rIns="0" wrap="square" tIns="0">
              <a:noAutofit/>
            </a:bodyPr>
            <a:lstStyle/>
            <a:p>
              <a:pPr indent="0" lvl="0" marL="0" marR="0" rtl="0" algn="ctr">
                <a:lnSpc>
                  <a:spcPct val="123684"/>
                </a:lnSpc>
                <a:spcBef>
                  <a:spcPts val="0"/>
                </a:spcBef>
                <a:spcAft>
                  <a:spcPts val="0"/>
                </a:spcAft>
                <a:buClr>
                  <a:srgbClr val="443728"/>
                </a:buClr>
                <a:buSzPts val="1239"/>
                <a:buFont typeface="Crimson Pro"/>
                <a:buNone/>
              </a:pPr>
              <a:r>
                <a:rPr b="1" i="0" lang="en-GB" sz="1239" u="none" cap="none" strike="noStrike">
                  <a:solidFill>
                    <a:srgbClr val="443728"/>
                  </a:solidFill>
                  <a:latin typeface="Crimson Pro"/>
                  <a:ea typeface="Crimson Pro"/>
                  <a:cs typeface="Crimson Pro"/>
                  <a:sym typeface="Crimson Pro"/>
                </a:rPr>
                <a:t>Change Detection</a:t>
              </a:r>
              <a:endParaRPr b="0" i="0" sz="1239" u="none" cap="none" strike="noStrike">
                <a:solidFill>
                  <a:srgbClr val="000000"/>
                </a:solidFill>
                <a:latin typeface="Arial"/>
                <a:ea typeface="Arial"/>
                <a:cs typeface="Arial"/>
                <a:sym typeface="Arial"/>
              </a:endParaRPr>
            </a:p>
          </p:txBody>
        </p:sp>
        <p:sp>
          <p:nvSpPr>
            <p:cNvPr id="165" name="Google Shape;165;p29"/>
            <p:cNvSpPr/>
            <p:nvPr/>
          </p:nvSpPr>
          <p:spPr>
            <a:xfrm>
              <a:off x="1154223" y="3016631"/>
              <a:ext cx="1024500" cy="394800"/>
            </a:xfrm>
            <a:prstGeom prst="rect">
              <a:avLst/>
            </a:prstGeom>
            <a:noFill/>
            <a:ln>
              <a:noFill/>
            </a:ln>
          </p:spPr>
          <p:txBody>
            <a:bodyPr anchorCtr="0" anchor="t" bIns="0" lIns="0" spcFirstLastPara="1" rIns="0" wrap="square" tIns="0">
              <a:noAutofit/>
            </a:bodyPr>
            <a:lstStyle/>
            <a:p>
              <a:pPr indent="0" lvl="0" marL="0" marR="0" rtl="0" algn="ctr">
                <a:lnSpc>
                  <a:spcPct val="123684"/>
                </a:lnSpc>
                <a:spcBef>
                  <a:spcPts val="0"/>
                </a:spcBef>
                <a:spcAft>
                  <a:spcPts val="0"/>
                </a:spcAft>
                <a:buClr>
                  <a:srgbClr val="443728"/>
                </a:buClr>
                <a:buSzPts val="1239"/>
                <a:buFont typeface="Crimson Pro"/>
                <a:buNone/>
              </a:pPr>
              <a:r>
                <a:rPr b="1" i="0" lang="en-GB" sz="1239" u="none" cap="none" strike="noStrike">
                  <a:solidFill>
                    <a:srgbClr val="443728"/>
                  </a:solidFill>
                  <a:latin typeface="Crimson Pro"/>
                  <a:ea typeface="Crimson Pro"/>
                  <a:cs typeface="Crimson Pro"/>
                  <a:sym typeface="Crimson Pro"/>
                </a:rPr>
                <a:t>Temporal Input</a:t>
              </a:r>
              <a:endParaRPr b="0" i="0" sz="1239" u="none" cap="none" strike="noStrike">
                <a:solidFill>
                  <a:srgbClr val="000000"/>
                </a:solidFill>
                <a:latin typeface="Arial"/>
                <a:ea typeface="Arial"/>
                <a:cs typeface="Arial"/>
                <a:sym typeface="Arial"/>
              </a:endParaRPr>
            </a:p>
          </p:txBody>
        </p:sp>
        <p:sp>
          <p:nvSpPr>
            <p:cNvPr id="166" name="Google Shape;166;p29"/>
            <p:cNvSpPr/>
            <p:nvPr/>
          </p:nvSpPr>
          <p:spPr>
            <a:xfrm>
              <a:off x="188775" y="3803155"/>
              <a:ext cx="5523000" cy="372600"/>
            </a:xfrm>
            <a:prstGeom prst="rect">
              <a:avLst/>
            </a:prstGeom>
            <a:noFill/>
            <a:ln>
              <a:noFill/>
            </a:ln>
          </p:spPr>
          <p:txBody>
            <a:bodyPr anchorCtr="0" anchor="t" bIns="0" lIns="0" spcFirstLastPara="1" rIns="0" wrap="square" tIns="0">
              <a:noAutofit/>
            </a:bodyPr>
            <a:lstStyle/>
            <a:p>
              <a:pPr indent="0" lvl="0" marL="0" marR="0" rtl="0" algn="l">
                <a:lnSpc>
                  <a:spcPct val="146666"/>
                </a:lnSpc>
                <a:spcBef>
                  <a:spcPts val="0"/>
                </a:spcBef>
                <a:spcAft>
                  <a:spcPts val="0"/>
                </a:spcAft>
                <a:buClr>
                  <a:srgbClr val="443728"/>
                </a:buClr>
                <a:buSzPts val="978"/>
                <a:buFont typeface="Open Sans"/>
                <a:buNone/>
              </a:pPr>
              <a:r>
                <a:t/>
              </a:r>
              <a:endParaRPr b="0" i="0" sz="978" u="none" cap="none" strike="noStrike">
                <a:solidFill>
                  <a:srgbClr val="000000"/>
                </a:solidFill>
                <a:latin typeface="Arial"/>
                <a:ea typeface="Arial"/>
                <a:cs typeface="Arial"/>
                <a:sym typeface="Arial"/>
              </a:endParaRPr>
            </a:p>
          </p:txBody>
        </p:sp>
      </p:grpSp>
      <p:grpSp>
        <p:nvGrpSpPr>
          <p:cNvPr id="167" name="Google Shape;167;p29"/>
          <p:cNvGrpSpPr/>
          <p:nvPr/>
        </p:nvGrpSpPr>
        <p:grpSpPr>
          <a:xfrm>
            <a:off x="6023495" y="901368"/>
            <a:ext cx="2832300" cy="1124100"/>
            <a:chOff x="6023495" y="901368"/>
            <a:chExt cx="2832300" cy="1124100"/>
          </a:xfrm>
        </p:grpSpPr>
        <p:sp>
          <p:nvSpPr>
            <p:cNvPr id="168" name="Google Shape;168;p29"/>
            <p:cNvSpPr/>
            <p:nvPr/>
          </p:nvSpPr>
          <p:spPr>
            <a:xfrm>
              <a:off x="6023495" y="901368"/>
              <a:ext cx="2832300" cy="1124100"/>
            </a:xfrm>
            <a:prstGeom prst="roundRect">
              <a:avLst>
                <a:gd fmla="val 4702" name="adj"/>
              </a:avLst>
            </a:prstGeom>
            <a:solidFill>
              <a:srgbClr val="EBE2E0"/>
            </a:solidFill>
            <a:ln cap="flat" cmpd="sng" w="9525">
              <a:solidFill>
                <a:srgbClr val="D1C8C6"/>
              </a:solidFill>
              <a:prstDash val="solid"/>
              <a:round/>
              <a:headEnd len="sm" w="sm" type="none"/>
              <a:tailEnd len="sm" w="sm" type="none"/>
            </a:ln>
          </p:spPr>
          <p:txBody>
            <a:bodyPr anchorCtr="0" anchor="ctr" bIns="59625" lIns="59625" spcFirstLastPara="1" rIns="59625" wrap="square" tIns="596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29"/>
            <p:cNvSpPr/>
            <p:nvPr/>
          </p:nvSpPr>
          <p:spPr>
            <a:xfrm>
              <a:off x="6154272" y="1032144"/>
              <a:ext cx="1572600" cy="196500"/>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443728"/>
                </a:buClr>
                <a:buSzPts val="1207"/>
                <a:buFont typeface="Crimson Pro"/>
                <a:buNone/>
              </a:pPr>
              <a:r>
                <a:rPr b="1" i="0" lang="en-GB" sz="1207" u="none" cap="none" strike="noStrike">
                  <a:solidFill>
                    <a:srgbClr val="443728"/>
                  </a:solidFill>
                  <a:latin typeface="Crimson Pro"/>
                  <a:ea typeface="Crimson Pro"/>
                  <a:cs typeface="Crimson Pro"/>
                  <a:sym typeface="Crimson Pro"/>
                </a:rPr>
                <a:t>Input</a:t>
              </a:r>
              <a:endParaRPr b="0" i="0" sz="1207" u="none" cap="none" strike="noStrike">
                <a:solidFill>
                  <a:srgbClr val="000000"/>
                </a:solidFill>
                <a:latin typeface="Arial"/>
                <a:ea typeface="Arial"/>
                <a:cs typeface="Arial"/>
                <a:sym typeface="Arial"/>
              </a:endParaRPr>
            </a:p>
          </p:txBody>
        </p:sp>
        <p:sp>
          <p:nvSpPr>
            <p:cNvPr id="170" name="Google Shape;170;p29"/>
            <p:cNvSpPr/>
            <p:nvPr/>
          </p:nvSpPr>
          <p:spPr>
            <a:xfrm>
              <a:off x="6154272" y="1335634"/>
              <a:ext cx="2570400" cy="558600"/>
            </a:xfrm>
            <a:prstGeom prst="rect">
              <a:avLst/>
            </a:prstGeom>
            <a:noFill/>
            <a:ln>
              <a:noFill/>
            </a:ln>
          </p:spPr>
          <p:txBody>
            <a:bodyPr anchorCtr="0" anchor="t" bIns="0" lIns="0" spcFirstLastPara="1" rIns="0" wrap="square" tIns="0">
              <a:noAutofit/>
            </a:bodyPr>
            <a:lstStyle/>
            <a:p>
              <a:pPr indent="0" lvl="0" marL="0" marR="0" rtl="0" algn="l">
                <a:lnSpc>
                  <a:spcPct val="146666"/>
                </a:lnSpc>
                <a:spcBef>
                  <a:spcPts val="0"/>
                </a:spcBef>
                <a:spcAft>
                  <a:spcPts val="0"/>
                </a:spcAft>
                <a:buClr>
                  <a:srgbClr val="443728"/>
                </a:buClr>
                <a:buSzPts val="978"/>
                <a:buFont typeface="Open Sans"/>
                <a:buNone/>
              </a:pPr>
              <a:r>
                <a:rPr b="0" i="0" lang="en-GB" sz="978" u="none" cap="none" strike="noStrike">
                  <a:solidFill>
                    <a:srgbClr val="443728"/>
                  </a:solidFill>
                  <a:latin typeface="Open Sans"/>
                  <a:ea typeface="Open Sans"/>
                  <a:cs typeface="Open Sans"/>
                  <a:sym typeface="Open Sans"/>
                </a:rPr>
                <a:t>A chronologically ordered sequence of news articles spanning multiple time windows.</a:t>
              </a:r>
              <a:endParaRPr b="0" i="0" sz="978" u="none" cap="none" strike="noStrike">
                <a:solidFill>
                  <a:srgbClr val="000000"/>
                </a:solidFill>
                <a:latin typeface="Arial"/>
                <a:ea typeface="Arial"/>
                <a:cs typeface="Arial"/>
                <a:sym typeface="Arial"/>
              </a:endParaRPr>
            </a:p>
          </p:txBody>
        </p:sp>
      </p:grpSp>
      <p:grpSp>
        <p:nvGrpSpPr>
          <p:cNvPr id="171" name="Google Shape;171;p29"/>
          <p:cNvGrpSpPr/>
          <p:nvPr/>
        </p:nvGrpSpPr>
        <p:grpSpPr>
          <a:xfrm>
            <a:off x="6023495" y="2132022"/>
            <a:ext cx="2832300" cy="1124100"/>
            <a:chOff x="6023495" y="2132022"/>
            <a:chExt cx="2832300" cy="1124100"/>
          </a:xfrm>
        </p:grpSpPr>
        <p:sp>
          <p:nvSpPr>
            <p:cNvPr id="172" name="Google Shape;172;p29"/>
            <p:cNvSpPr/>
            <p:nvPr/>
          </p:nvSpPr>
          <p:spPr>
            <a:xfrm>
              <a:off x="6023495" y="2132022"/>
              <a:ext cx="2832300" cy="1124100"/>
            </a:xfrm>
            <a:prstGeom prst="roundRect">
              <a:avLst>
                <a:gd fmla="val 4702" name="adj"/>
              </a:avLst>
            </a:prstGeom>
            <a:solidFill>
              <a:srgbClr val="EBE2E0"/>
            </a:solidFill>
            <a:ln cap="flat" cmpd="sng" w="9525">
              <a:solidFill>
                <a:srgbClr val="D1C8C6"/>
              </a:solidFill>
              <a:prstDash val="solid"/>
              <a:round/>
              <a:headEnd len="sm" w="sm" type="none"/>
              <a:tailEnd len="sm" w="sm" type="none"/>
            </a:ln>
          </p:spPr>
          <p:txBody>
            <a:bodyPr anchorCtr="0" anchor="ctr" bIns="59625" lIns="59625" spcFirstLastPara="1" rIns="59625" wrap="square" tIns="596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29"/>
            <p:cNvSpPr/>
            <p:nvPr/>
          </p:nvSpPr>
          <p:spPr>
            <a:xfrm>
              <a:off x="6154272" y="2262799"/>
              <a:ext cx="1572600" cy="196500"/>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443728"/>
                </a:buClr>
                <a:buSzPts val="1207"/>
                <a:buFont typeface="Crimson Pro"/>
                <a:buNone/>
              </a:pPr>
              <a:r>
                <a:rPr b="1" i="0" lang="en-GB" sz="1207" u="none" cap="none" strike="noStrike">
                  <a:solidFill>
                    <a:srgbClr val="443728"/>
                  </a:solidFill>
                  <a:latin typeface="Crimson Pro"/>
                  <a:ea typeface="Crimson Pro"/>
                  <a:cs typeface="Crimson Pro"/>
                  <a:sym typeface="Crimson Pro"/>
                </a:rPr>
                <a:t>Output</a:t>
              </a:r>
              <a:endParaRPr b="0" i="0" sz="1207" u="none" cap="none" strike="noStrike">
                <a:solidFill>
                  <a:srgbClr val="000000"/>
                </a:solidFill>
                <a:latin typeface="Arial"/>
                <a:ea typeface="Arial"/>
                <a:cs typeface="Arial"/>
                <a:sym typeface="Arial"/>
              </a:endParaRPr>
            </a:p>
          </p:txBody>
        </p:sp>
        <p:sp>
          <p:nvSpPr>
            <p:cNvPr id="174" name="Google Shape;174;p29"/>
            <p:cNvSpPr/>
            <p:nvPr/>
          </p:nvSpPr>
          <p:spPr>
            <a:xfrm>
              <a:off x="6154272" y="2566289"/>
              <a:ext cx="2570400" cy="558600"/>
            </a:xfrm>
            <a:prstGeom prst="rect">
              <a:avLst/>
            </a:prstGeom>
            <a:noFill/>
            <a:ln>
              <a:noFill/>
            </a:ln>
          </p:spPr>
          <p:txBody>
            <a:bodyPr anchorCtr="0" anchor="t" bIns="0" lIns="0" spcFirstLastPara="1" rIns="0" wrap="square" tIns="0">
              <a:noAutofit/>
            </a:bodyPr>
            <a:lstStyle/>
            <a:p>
              <a:pPr indent="0" lvl="0" marL="0" marR="0" rtl="0" algn="l">
                <a:lnSpc>
                  <a:spcPct val="146666"/>
                </a:lnSpc>
                <a:spcBef>
                  <a:spcPts val="0"/>
                </a:spcBef>
                <a:spcAft>
                  <a:spcPts val="0"/>
                </a:spcAft>
                <a:buClr>
                  <a:srgbClr val="443728"/>
                </a:buClr>
                <a:buSzPts val="978"/>
                <a:buFont typeface="Open Sans"/>
                <a:buNone/>
              </a:pPr>
              <a:r>
                <a:rPr b="0" i="0" lang="en-GB" sz="978" u="none" cap="none" strike="noStrike">
                  <a:solidFill>
                    <a:srgbClr val="443728"/>
                  </a:solidFill>
                  <a:latin typeface="Open Sans"/>
                  <a:ea typeface="Open Sans"/>
                  <a:cs typeface="Open Sans"/>
                  <a:sym typeface="Open Sans"/>
                </a:rPr>
                <a:t>Detection of </a:t>
              </a:r>
              <a:r>
                <a:rPr b="1" i="0" lang="en-GB" sz="978" u="none" cap="none" strike="noStrike">
                  <a:solidFill>
                    <a:srgbClr val="443728"/>
                  </a:solidFill>
                  <a:latin typeface="Open Sans"/>
                  <a:ea typeface="Open Sans"/>
                  <a:cs typeface="Open Sans"/>
                  <a:sym typeface="Open Sans"/>
                </a:rPr>
                <a:t>when</a:t>
              </a:r>
              <a:r>
                <a:rPr b="0" i="0" lang="en-GB" sz="978" u="none" cap="none" strike="noStrike">
                  <a:solidFill>
                    <a:srgbClr val="443728"/>
                  </a:solidFill>
                  <a:latin typeface="Open Sans"/>
                  <a:ea typeface="Open Sans"/>
                  <a:cs typeface="Open Sans"/>
                  <a:sym typeface="Open Sans"/>
                </a:rPr>
                <a:t> a shift occurred</a:t>
              </a:r>
              <a:r>
                <a:rPr lang="en-GB" sz="978">
                  <a:solidFill>
                    <a:srgbClr val="443728"/>
                  </a:solidFill>
                  <a:latin typeface="Open Sans"/>
                  <a:ea typeface="Open Sans"/>
                  <a:cs typeface="Open Sans"/>
                  <a:sym typeface="Open Sans"/>
                </a:rPr>
                <a:t> and the sentences responsible for the shift.</a:t>
              </a:r>
              <a:endParaRPr i="0" sz="978" u="none" cap="none" strike="noStrike">
                <a:solidFill>
                  <a:srgbClr val="000000"/>
                </a:solidFill>
                <a:latin typeface="Open Sans"/>
                <a:ea typeface="Open Sans"/>
                <a:cs typeface="Open Sans"/>
                <a:sym typeface="Open Sans"/>
              </a:endParaRPr>
            </a:p>
          </p:txBody>
        </p:sp>
      </p:grpSp>
      <p:grpSp>
        <p:nvGrpSpPr>
          <p:cNvPr id="175" name="Google Shape;175;p29"/>
          <p:cNvGrpSpPr/>
          <p:nvPr/>
        </p:nvGrpSpPr>
        <p:grpSpPr>
          <a:xfrm>
            <a:off x="6023495" y="3362677"/>
            <a:ext cx="2832300" cy="1124100"/>
            <a:chOff x="6023495" y="3362677"/>
            <a:chExt cx="2832300" cy="1124100"/>
          </a:xfrm>
        </p:grpSpPr>
        <p:sp>
          <p:nvSpPr>
            <p:cNvPr id="176" name="Google Shape;176;p29"/>
            <p:cNvSpPr/>
            <p:nvPr/>
          </p:nvSpPr>
          <p:spPr>
            <a:xfrm>
              <a:off x="6023495" y="3362677"/>
              <a:ext cx="2832300" cy="1124100"/>
            </a:xfrm>
            <a:prstGeom prst="roundRect">
              <a:avLst>
                <a:gd fmla="val 4702" name="adj"/>
              </a:avLst>
            </a:prstGeom>
            <a:solidFill>
              <a:srgbClr val="EBE2E0"/>
            </a:solidFill>
            <a:ln cap="flat" cmpd="sng" w="9525">
              <a:solidFill>
                <a:srgbClr val="D1C8C6"/>
              </a:solidFill>
              <a:prstDash val="solid"/>
              <a:round/>
              <a:headEnd len="sm" w="sm" type="none"/>
              <a:tailEnd len="sm" w="sm" type="none"/>
            </a:ln>
          </p:spPr>
          <p:txBody>
            <a:bodyPr anchorCtr="0" anchor="ctr" bIns="59625" lIns="59625" spcFirstLastPara="1" rIns="59625" wrap="square" tIns="596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29"/>
            <p:cNvSpPr/>
            <p:nvPr/>
          </p:nvSpPr>
          <p:spPr>
            <a:xfrm>
              <a:off x="6154272" y="3493453"/>
              <a:ext cx="1572600" cy="196500"/>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443728"/>
                </a:buClr>
                <a:buSzPts val="1207"/>
                <a:buFont typeface="Crimson Pro"/>
                <a:buNone/>
              </a:pPr>
              <a:r>
                <a:rPr b="1" i="0" lang="en-GB" sz="1207" u="none" cap="none" strike="noStrike">
                  <a:solidFill>
                    <a:srgbClr val="443728"/>
                  </a:solidFill>
                  <a:latin typeface="Crimson Pro"/>
                  <a:ea typeface="Crimson Pro"/>
                  <a:cs typeface="Crimson Pro"/>
                  <a:sym typeface="Crimson Pro"/>
                </a:rPr>
                <a:t>Constraint</a:t>
              </a:r>
              <a:endParaRPr b="0" i="0" sz="1207" u="none" cap="none" strike="noStrike">
                <a:solidFill>
                  <a:srgbClr val="000000"/>
                </a:solidFill>
                <a:latin typeface="Arial"/>
                <a:ea typeface="Arial"/>
                <a:cs typeface="Arial"/>
                <a:sym typeface="Arial"/>
              </a:endParaRPr>
            </a:p>
          </p:txBody>
        </p:sp>
        <p:sp>
          <p:nvSpPr>
            <p:cNvPr id="178" name="Google Shape;178;p29"/>
            <p:cNvSpPr/>
            <p:nvPr/>
          </p:nvSpPr>
          <p:spPr>
            <a:xfrm>
              <a:off x="6154272" y="3796943"/>
              <a:ext cx="2570400" cy="558600"/>
            </a:xfrm>
            <a:prstGeom prst="rect">
              <a:avLst/>
            </a:prstGeom>
            <a:noFill/>
            <a:ln>
              <a:noFill/>
            </a:ln>
          </p:spPr>
          <p:txBody>
            <a:bodyPr anchorCtr="0" anchor="t" bIns="0" lIns="0" spcFirstLastPara="1" rIns="0" wrap="square" tIns="0">
              <a:noAutofit/>
            </a:bodyPr>
            <a:lstStyle/>
            <a:p>
              <a:pPr indent="0" lvl="0" marL="0" marR="0" rtl="0" algn="l">
                <a:lnSpc>
                  <a:spcPct val="146666"/>
                </a:lnSpc>
                <a:spcBef>
                  <a:spcPts val="0"/>
                </a:spcBef>
                <a:spcAft>
                  <a:spcPts val="0"/>
                </a:spcAft>
                <a:buClr>
                  <a:srgbClr val="443728"/>
                </a:buClr>
                <a:buSzPts val="978"/>
                <a:buFont typeface="Open Sans"/>
                <a:buNone/>
              </a:pPr>
              <a:r>
                <a:rPr b="0" i="0" lang="en-GB" sz="978" u="none" cap="none" strike="noStrike">
                  <a:solidFill>
                    <a:srgbClr val="443728"/>
                  </a:solidFill>
                  <a:latin typeface="Open Sans"/>
                  <a:ea typeface="Open Sans"/>
                  <a:cs typeface="Open Sans"/>
                  <a:sym typeface="Open Sans"/>
                </a:rPr>
                <a:t>Fully </a:t>
              </a:r>
              <a:r>
                <a:rPr b="1" i="0" lang="en-GB" sz="978" u="none" cap="none" strike="noStrike">
                  <a:solidFill>
                    <a:srgbClr val="443728"/>
                  </a:solidFill>
                  <a:latin typeface="Open Sans"/>
                  <a:ea typeface="Open Sans"/>
                  <a:cs typeface="Open Sans"/>
                  <a:sym typeface="Open Sans"/>
                </a:rPr>
                <a:t>unsupervised</a:t>
              </a:r>
              <a:r>
                <a:rPr b="0" i="0" lang="en-GB" sz="978" u="none" cap="none" strike="noStrike">
                  <a:solidFill>
                    <a:srgbClr val="443728"/>
                  </a:solidFill>
                  <a:latin typeface="Open Sans"/>
                  <a:ea typeface="Open Sans"/>
                  <a:cs typeface="Open Sans"/>
                  <a:sym typeface="Open Sans"/>
                </a:rPr>
                <a:t> — no labeled data, predefined shift annotations, or domain-specific rules.</a:t>
              </a:r>
              <a:endParaRPr b="0" i="0" sz="978"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1000"/>
                                        <p:tgtEl>
                                          <p:spTgt spid="161"/>
                                        </p:tgtEl>
                                      </p:cBhvr>
                                    </p:animEffect>
                                  </p:childTnLst>
                                </p:cTn>
                              </p:par>
                            </p:childTnLst>
                          </p:cTn>
                        </p:par>
                        <p:par>
                          <p:cTn fill="hold">
                            <p:stCondLst>
                              <p:cond delay="1000"/>
                            </p:stCondLst>
                            <p:childTnLst>
                              <p:par>
                                <p:cTn fill="hold" nodeType="afterEffect" presetClass="entr" presetID="2" presetSubtype="2">
                                  <p:stCondLst>
                                    <p:cond delay="0"/>
                                  </p:stCondLst>
                                  <p:childTnLst>
                                    <p:set>
                                      <p:cBhvr>
                                        <p:cTn dur="1" fill="hold">
                                          <p:stCondLst>
                                            <p:cond delay="0"/>
                                          </p:stCondLst>
                                        </p:cTn>
                                        <p:tgtEl>
                                          <p:spTgt spid="167"/>
                                        </p:tgtEl>
                                        <p:attrNameLst>
                                          <p:attrName>style.visibility</p:attrName>
                                        </p:attrNameLst>
                                      </p:cBhvr>
                                      <p:to>
                                        <p:strVal val="visible"/>
                                      </p:to>
                                    </p:set>
                                    <p:anim calcmode="lin" valueType="num">
                                      <p:cBhvr additive="base">
                                        <p:cTn dur="1000"/>
                                        <p:tgtEl>
                                          <p:spTgt spid="16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71"/>
                                        </p:tgtEl>
                                        <p:attrNameLst>
                                          <p:attrName>style.visibility</p:attrName>
                                        </p:attrNameLst>
                                      </p:cBhvr>
                                      <p:to>
                                        <p:strVal val="visible"/>
                                      </p:to>
                                    </p:set>
                                    <p:anim calcmode="lin" valueType="num">
                                      <p:cBhvr additive="base">
                                        <p:cTn dur="1000"/>
                                        <p:tgtEl>
                                          <p:spTgt spid="17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75"/>
                                        </p:tgtEl>
                                        <p:attrNameLst>
                                          <p:attrName>style.visibility</p:attrName>
                                        </p:attrNameLst>
                                      </p:cBhvr>
                                      <p:to>
                                        <p:strVal val="visible"/>
                                      </p:to>
                                    </p:set>
                                    <p:anim calcmode="lin" valueType="num">
                                      <p:cBhvr additive="base">
                                        <p:cTn dur="1000"/>
                                        <p:tgtEl>
                                          <p:spTgt spid="175"/>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0"/>
          <p:cNvSpPr/>
          <p:nvPr/>
        </p:nvSpPr>
        <p:spPr>
          <a:xfrm>
            <a:off x="276075" y="315125"/>
            <a:ext cx="3196500" cy="399600"/>
          </a:xfrm>
          <a:prstGeom prst="rect">
            <a:avLst/>
          </a:prstGeom>
          <a:noFill/>
          <a:ln>
            <a:noFill/>
          </a:ln>
        </p:spPr>
        <p:txBody>
          <a:bodyPr anchorCtr="0" anchor="t" bIns="0" lIns="0" spcFirstLastPara="1" rIns="0" wrap="square" tIns="0">
            <a:noAutofit/>
          </a:bodyPr>
          <a:lstStyle/>
          <a:p>
            <a:pPr indent="0" lvl="0" marL="0" marR="0" rtl="0" algn="l">
              <a:lnSpc>
                <a:spcPct val="125757"/>
              </a:lnSpc>
              <a:spcBef>
                <a:spcPts val="0"/>
              </a:spcBef>
              <a:spcAft>
                <a:spcPts val="0"/>
              </a:spcAft>
              <a:buClr>
                <a:srgbClr val="443728"/>
              </a:buClr>
              <a:buSzPts val="2487"/>
              <a:buFont typeface="Crimson Pro"/>
              <a:buNone/>
            </a:pPr>
            <a:r>
              <a:rPr b="1" lang="en-GB" sz="2287">
                <a:solidFill>
                  <a:srgbClr val="443728"/>
                </a:solidFill>
              </a:rPr>
              <a:t>Data Description </a:t>
            </a:r>
            <a:endParaRPr i="0" sz="2287" u="none" cap="none" strike="noStrike"/>
          </a:p>
        </p:txBody>
      </p:sp>
      <p:grpSp>
        <p:nvGrpSpPr>
          <p:cNvPr id="184" name="Google Shape;184;p30"/>
          <p:cNvGrpSpPr/>
          <p:nvPr/>
        </p:nvGrpSpPr>
        <p:grpSpPr>
          <a:xfrm>
            <a:off x="181400" y="853723"/>
            <a:ext cx="8281303" cy="1390894"/>
            <a:chOff x="189750" y="1441226"/>
            <a:chExt cx="8281303" cy="1159755"/>
          </a:xfrm>
        </p:grpSpPr>
        <p:grpSp>
          <p:nvGrpSpPr>
            <p:cNvPr id="185" name="Google Shape;185;p30"/>
            <p:cNvGrpSpPr/>
            <p:nvPr/>
          </p:nvGrpSpPr>
          <p:grpSpPr>
            <a:xfrm>
              <a:off x="189750" y="1441226"/>
              <a:ext cx="8281303" cy="1159755"/>
              <a:chOff x="521749" y="620689"/>
              <a:chExt cx="7881701" cy="1290911"/>
            </a:xfrm>
          </p:grpSpPr>
          <p:sp>
            <p:nvSpPr>
              <p:cNvPr id="186" name="Google Shape;186;p30"/>
              <p:cNvSpPr/>
              <p:nvPr/>
            </p:nvSpPr>
            <p:spPr>
              <a:xfrm>
                <a:off x="537750" y="620700"/>
                <a:ext cx="7865700" cy="1290900"/>
              </a:xfrm>
              <a:prstGeom prst="roundRect">
                <a:avLst>
                  <a:gd fmla="val 5954" name="adj"/>
                </a:avLst>
              </a:prstGeom>
              <a:solidFill>
                <a:srgbClr val="FFFCFA"/>
              </a:solidFill>
              <a:ln cap="flat" cmpd="sng" w="16000">
                <a:solidFill>
                  <a:srgbClr val="D1C8C6"/>
                </a:solidFill>
                <a:prstDash val="solid"/>
                <a:round/>
                <a:headEnd len="sm" w="sm" type="none"/>
                <a:tailEnd len="sm" w="sm" type="none"/>
              </a:ln>
            </p:spPr>
            <p:txBody>
              <a:bodyPr anchorCtr="0" anchor="ctr" bIns="64050" lIns="64050" spcFirstLastPara="1" rIns="64050" wrap="square" tIns="64050">
                <a:noAutofit/>
              </a:bodyPr>
              <a:lstStyle/>
              <a:p>
                <a:pPr indent="0" lvl="0" marL="0" rtl="0" algn="l">
                  <a:spcBef>
                    <a:spcPts val="0"/>
                  </a:spcBef>
                  <a:spcAft>
                    <a:spcPts val="0"/>
                  </a:spcAft>
                  <a:buNone/>
                </a:pPr>
                <a:r>
                  <a:t/>
                </a:r>
                <a:endParaRPr/>
              </a:p>
            </p:txBody>
          </p:sp>
          <p:sp>
            <p:nvSpPr>
              <p:cNvPr id="187" name="Google Shape;187;p30"/>
              <p:cNvSpPr/>
              <p:nvPr/>
            </p:nvSpPr>
            <p:spPr>
              <a:xfrm>
                <a:off x="521749" y="620689"/>
                <a:ext cx="64200" cy="1290900"/>
              </a:xfrm>
              <a:prstGeom prst="roundRect">
                <a:avLst>
                  <a:gd fmla="val 94954" name="adj"/>
                </a:avLst>
              </a:prstGeom>
              <a:solidFill>
                <a:srgbClr val="835E54"/>
              </a:solidFill>
              <a:ln>
                <a:noFill/>
              </a:ln>
            </p:spPr>
            <p:txBody>
              <a:bodyPr anchorCtr="0" anchor="ctr" bIns="64050" lIns="64050" spcFirstLastPara="1" rIns="64050" wrap="square" tIns="64050">
                <a:noAutofit/>
              </a:bodyPr>
              <a:lstStyle/>
              <a:p>
                <a:pPr indent="0" lvl="0" marL="0" rtl="0" algn="l">
                  <a:spcBef>
                    <a:spcPts val="0"/>
                  </a:spcBef>
                  <a:spcAft>
                    <a:spcPts val="0"/>
                  </a:spcAft>
                  <a:buNone/>
                </a:pPr>
                <a:r>
                  <a:t/>
                </a:r>
                <a:endParaRPr/>
              </a:p>
            </p:txBody>
          </p:sp>
        </p:grpSp>
        <p:sp>
          <p:nvSpPr>
            <p:cNvPr id="188" name="Google Shape;188;p30"/>
            <p:cNvSpPr/>
            <p:nvPr/>
          </p:nvSpPr>
          <p:spPr>
            <a:xfrm>
              <a:off x="374950" y="1510832"/>
              <a:ext cx="127500" cy="159900"/>
            </a:xfrm>
            <a:prstGeom prst="rect">
              <a:avLst/>
            </a:prstGeom>
            <a:noFill/>
            <a:ln>
              <a:noFill/>
            </a:ln>
          </p:spPr>
          <p:txBody>
            <a:bodyPr anchorCtr="0" anchor="t" bIns="0" lIns="0" spcFirstLastPara="1" rIns="0" wrap="square" tIns="0">
              <a:noAutofit/>
            </a:bodyPr>
            <a:lstStyle/>
            <a:p>
              <a:pPr indent="0" lvl="0" marL="0" marR="0" rtl="0" algn="l">
                <a:lnSpc>
                  <a:spcPct val="142307"/>
                </a:lnSpc>
                <a:spcBef>
                  <a:spcPts val="0"/>
                </a:spcBef>
                <a:spcAft>
                  <a:spcPts val="0"/>
                </a:spcAft>
                <a:buClr>
                  <a:srgbClr val="443728"/>
                </a:buClr>
                <a:buSzPts val="980"/>
                <a:buFont typeface="Crimson Pro Light"/>
                <a:buNone/>
              </a:pPr>
              <a:r>
                <a:rPr b="0" i="0" lang="en-GB" sz="980" u="none" cap="none" strike="noStrike">
                  <a:solidFill>
                    <a:srgbClr val="443728"/>
                  </a:solidFill>
                  <a:latin typeface="Crimson Pro Light"/>
                  <a:ea typeface="Crimson Pro Light"/>
                  <a:cs typeface="Crimson Pro Light"/>
                  <a:sym typeface="Crimson Pro Light"/>
                </a:rPr>
                <a:t>01</a:t>
              </a:r>
              <a:endParaRPr b="0" i="0" sz="980" u="none" cap="none" strike="noStrike"/>
            </a:p>
          </p:txBody>
        </p:sp>
        <p:sp>
          <p:nvSpPr>
            <p:cNvPr id="189" name="Google Shape;189;p30"/>
            <p:cNvSpPr/>
            <p:nvPr/>
          </p:nvSpPr>
          <p:spPr>
            <a:xfrm>
              <a:off x="374950" y="1710864"/>
              <a:ext cx="5997300" cy="17400"/>
            </a:xfrm>
            <a:prstGeom prst="rect">
              <a:avLst/>
            </a:prstGeom>
            <a:solidFill>
              <a:srgbClr val="835E54"/>
            </a:solidFill>
            <a:ln>
              <a:noFill/>
            </a:ln>
          </p:spPr>
          <p:txBody>
            <a:bodyPr anchorCtr="0" anchor="ctr" bIns="68900" lIns="68900" spcFirstLastPara="1" rIns="68900" wrap="square" tIns="68900">
              <a:noAutofit/>
            </a:bodyPr>
            <a:lstStyle/>
            <a:p>
              <a:pPr indent="0" lvl="0" marL="0" rtl="0" algn="l">
                <a:spcBef>
                  <a:spcPts val="0"/>
                </a:spcBef>
                <a:spcAft>
                  <a:spcPts val="0"/>
                </a:spcAft>
                <a:buNone/>
              </a:pPr>
              <a:r>
                <a:t/>
              </a:r>
              <a:endParaRPr/>
            </a:p>
          </p:txBody>
        </p:sp>
        <p:sp>
          <p:nvSpPr>
            <p:cNvPr id="190" name="Google Shape;190;p30"/>
            <p:cNvSpPr/>
            <p:nvPr/>
          </p:nvSpPr>
          <p:spPr>
            <a:xfrm>
              <a:off x="374950" y="1809225"/>
              <a:ext cx="3156600" cy="199500"/>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443728"/>
                </a:buClr>
                <a:buSzPts val="1244"/>
                <a:buFont typeface="Crimson Pro"/>
                <a:buNone/>
              </a:pPr>
              <a:r>
                <a:rPr b="1" lang="en-GB" sz="1244">
                  <a:solidFill>
                    <a:srgbClr val="443728"/>
                  </a:solidFill>
                </a:rPr>
                <a:t>Ideal articles</a:t>
              </a:r>
              <a:endParaRPr i="0" sz="1244" u="none" cap="none" strike="noStrike"/>
            </a:p>
          </p:txBody>
        </p:sp>
        <p:sp>
          <p:nvSpPr>
            <p:cNvPr id="191" name="Google Shape;191;p30"/>
            <p:cNvSpPr/>
            <p:nvPr/>
          </p:nvSpPr>
          <p:spPr>
            <a:xfrm>
              <a:off x="374950" y="2066321"/>
              <a:ext cx="8096100" cy="534600"/>
            </a:xfrm>
            <a:prstGeom prst="rect">
              <a:avLst/>
            </a:prstGeom>
            <a:noFill/>
            <a:ln>
              <a:noFill/>
            </a:ln>
          </p:spPr>
          <p:txBody>
            <a:bodyPr anchorCtr="0" anchor="t" bIns="0" lIns="0" spcFirstLastPara="1" rIns="0" wrap="square" tIns="0">
              <a:noAutofit/>
            </a:bodyPr>
            <a:lstStyle/>
            <a:p>
              <a:pPr indent="-292100" lvl="0" marL="457200" rtl="0" algn="l">
                <a:lnSpc>
                  <a:spcPct val="142307"/>
                </a:lnSpc>
                <a:spcBef>
                  <a:spcPts val="0"/>
                </a:spcBef>
                <a:spcAft>
                  <a:spcPts val="0"/>
                </a:spcAft>
                <a:buClr>
                  <a:schemeClr val="dk1"/>
                </a:buClr>
                <a:buSzPts val="1000"/>
                <a:buChar char="●"/>
              </a:pPr>
              <a:r>
                <a:rPr lang="en-GB" sz="1000">
                  <a:solidFill>
                    <a:schemeClr val="dk1"/>
                  </a:solidFill>
                </a:rPr>
                <a:t>Created</a:t>
              </a:r>
              <a:r>
                <a:rPr lang="en-GB" sz="1000">
                  <a:solidFill>
                    <a:schemeClr val="dk1"/>
                  </a:solidFill>
                </a:rPr>
                <a:t> multiple </a:t>
              </a:r>
              <a:r>
                <a:rPr lang="en-GB" sz="1000">
                  <a:solidFill>
                    <a:schemeClr val="dk1"/>
                  </a:solidFill>
                </a:rPr>
                <a:t>articles</a:t>
              </a:r>
              <a:r>
                <a:rPr lang="en-GB" sz="1000">
                  <a:solidFill>
                    <a:schemeClr val="dk1"/>
                  </a:solidFill>
                </a:rPr>
                <a:t> that contain only the topic specific sentences, like war article only contain the war related sentences.</a:t>
              </a:r>
              <a:endParaRPr sz="1000">
                <a:solidFill>
                  <a:schemeClr val="dk1"/>
                </a:solidFill>
              </a:endParaRPr>
            </a:p>
            <a:p>
              <a:pPr indent="-292100" lvl="0" marL="457200" rtl="0" algn="l">
                <a:lnSpc>
                  <a:spcPct val="142307"/>
                </a:lnSpc>
                <a:spcBef>
                  <a:spcPts val="0"/>
                </a:spcBef>
                <a:spcAft>
                  <a:spcPts val="0"/>
                </a:spcAft>
                <a:buClr>
                  <a:schemeClr val="dk1"/>
                </a:buClr>
                <a:buSzPts val="1000"/>
                <a:buChar char="●"/>
              </a:pPr>
              <a:r>
                <a:rPr lang="en-GB" sz="1000">
                  <a:solidFill>
                    <a:schemeClr val="dk1"/>
                  </a:solidFill>
                </a:rPr>
                <a:t>Used the sbert to find the overall  embedding of the article that will help in the </a:t>
              </a:r>
              <a:r>
                <a:rPr lang="en-GB" sz="1000">
                  <a:solidFill>
                    <a:schemeClr val="dk1"/>
                  </a:solidFill>
                </a:rPr>
                <a:t>filtering</a:t>
              </a:r>
              <a:r>
                <a:rPr lang="en-GB" sz="1000">
                  <a:solidFill>
                    <a:schemeClr val="dk1"/>
                  </a:solidFill>
                </a:rPr>
                <a:t> out the topic </a:t>
              </a:r>
              <a:r>
                <a:rPr lang="en-GB" sz="1000">
                  <a:solidFill>
                    <a:schemeClr val="dk1"/>
                  </a:solidFill>
                </a:rPr>
                <a:t>specific</a:t>
              </a:r>
              <a:r>
                <a:rPr lang="en-GB" sz="1000">
                  <a:solidFill>
                    <a:schemeClr val="dk1"/>
                  </a:solidFill>
                </a:rPr>
                <a:t> sentence in the </a:t>
              </a:r>
              <a:r>
                <a:rPr lang="en-GB" sz="1000">
                  <a:solidFill>
                    <a:schemeClr val="dk1"/>
                  </a:solidFill>
                </a:rPr>
                <a:t>testing</a:t>
              </a:r>
              <a:r>
                <a:rPr lang="en-GB" sz="1000">
                  <a:solidFill>
                    <a:schemeClr val="dk1"/>
                  </a:solidFill>
                </a:rPr>
                <a:t> and training </a:t>
              </a:r>
              <a:endParaRPr sz="1000">
                <a:solidFill>
                  <a:schemeClr val="dk1"/>
                </a:solidFill>
              </a:endParaRPr>
            </a:p>
            <a:p>
              <a:pPr indent="0" lvl="0" marL="0" marR="0" rtl="0" algn="l">
                <a:lnSpc>
                  <a:spcPct val="142307"/>
                </a:lnSpc>
                <a:spcBef>
                  <a:spcPts val="0"/>
                </a:spcBef>
                <a:spcAft>
                  <a:spcPts val="0"/>
                </a:spcAft>
                <a:buClr>
                  <a:srgbClr val="443728"/>
                </a:buClr>
                <a:buSzPts val="980"/>
                <a:buFont typeface="Open Sans"/>
                <a:buNone/>
              </a:pPr>
              <a:r>
                <a:t/>
              </a:r>
              <a:endParaRPr sz="1100">
                <a:solidFill>
                  <a:schemeClr val="dk1"/>
                </a:solidFill>
              </a:endParaRPr>
            </a:p>
          </p:txBody>
        </p:sp>
      </p:grpSp>
      <p:grpSp>
        <p:nvGrpSpPr>
          <p:cNvPr id="192" name="Google Shape;192;p30"/>
          <p:cNvGrpSpPr/>
          <p:nvPr/>
        </p:nvGrpSpPr>
        <p:grpSpPr>
          <a:xfrm>
            <a:off x="198200" y="2494171"/>
            <a:ext cx="8264500" cy="2394281"/>
            <a:chOff x="198200" y="2938400"/>
            <a:chExt cx="8264500" cy="1300604"/>
          </a:xfrm>
        </p:grpSpPr>
        <p:sp>
          <p:nvSpPr>
            <p:cNvPr id="193" name="Google Shape;193;p30"/>
            <p:cNvSpPr/>
            <p:nvPr/>
          </p:nvSpPr>
          <p:spPr>
            <a:xfrm>
              <a:off x="198200" y="2938416"/>
              <a:ext cx="8264400" cy="1300500"/>
            </a:xfrm>
            <a:prstGeom prst="roundRect">
              <a:avLst>
                <a:gd fmla="val 5954" name="adj"/>
              </a:avLst>
            </a:prstGeom>
            <a:solidFill>
              <a:srgbClr val="FFFCFA"/>
            </a:solidFill>
            <a:ln cap="flat" cmpd="sng" w="16000">
              <a:solidFill>
                <a:srgbClr val="D1C8C6"/>
              </a:solidFill>
              <a:prstDash val="solid"/>
              <a:round/>
              <a:headEnd len="sm" w="sm" type="none"/>
              <a:tailEnd len="sm" w="sm" type="none"/>
            </a:ln>
          </p:spPr>
          <p:txBody>
            <a:bodyPr anchorCtr="0" anchor="ctr" bIns="64050" lIns="64050" spcFirstLastPara="1" rIns="64050" wrap="square" tIns="64050">
              <a:noAutofit/>
            </a:bodyPr>
            <a:lstStyle/>
            <a:p>
              <a:pPr indent="0" lvl="0" marL="0" rtl="0" algn="l">
                <a:spcBef>
                  <a:spcPts val="0"/>
                </a:spcBef>
                <a:spcAft>
                  <a:spcPts val="0"/>
                </a:spcAft>
                <a:buNone/>
              </a:pPr>
              <a:r>
                <a:t/>
              </a:r>
              <a:endParaRPr/>
            </a:p>
          </p:txBody>
        </p:sp>
        <p:sp>
          <p:nvSpPr>
            <p:cNvPr id="194" name="Google Shape;194;p30"/>
            <p:cNvSpPr/>
            <p:nvPr/>
          </p:nvSpPr>
          <p:spPr>
            <a:xfrm>
              <a:off x="198200" y="2938400"/>
              <a:ext cx="50700" cy="1300500"/>
            </a:xfrm>
            <a:prstGeom prst="roundRect">
              <a:avLst>
                <a:gd fmla="val 94954" name="adj"/>
              </a:avLst>
            </a:prstGeom>
            <a:solidFill>
              <a:srgbClr val="835E54"/>
            </a:solidFill>
            <a:ln>
              <a:noFill/>
            </a:ln>
          </p:spPr>
          <p:txBody>
            <a:bodyPr anchorCtr="0" anchor="ctr" bIns="64050" lIns="64050" spcFirstLastPara="1" rIns="64050" wrap="square" tIns="64050">
              <a:noAutofit/>
            </a:bodyPr>
            <a:lstStyle/>
            <a:p>
              <a:pPr indent="0" lvl="0" marL="0" rtl="0" algn="l">
                <a:spcBef>
                  <a:spcPts val="0"/>
                </a:spcBef>
                <a:spcAft>
                  <a:spcPts val="0"/>
                </a:spcAft>
                <a:buNone/>
              </a:pPr>
              <a:r>
                <a:t/>
              </a:r>
              <a:endParaRPr/>
            </a:p>
          </p:txBody>
        </p:sp>
        <p:sp>
          <p:nvSpPr>
            <p:cNvPr id="195" name="Google Shape;195;p30"/>
            <p:cNvSpPr/>
            <p:nvPr/>
          </p:nvSpPr>
          <p:spPr>
            <a:xfrm>
              <a:off x="366600" y="2996497"/>
              <a:ext cx="127500" cy="159900"/>
            </a:xfrm>
            <a:prstGeom prst="rect">
              <a:avLst/>
            </a:prstGeom>
            <a:noFill/>
            <a:ln>
              <a:noFill/>
            </a:ln>
          </p:spPr>
          <p:txBody>
            <a:bodyPr anchorCtr="0" anchor="t" bIns="0" lIns="0" spcFirstLastPara="1" rIns="0" wrap="square" tIns="0">
              <a:noAutofit/>
            </a:bodyPr>
            <a:lstStyle/>
            <a:p>
              <a:pPr indent="0" lvl="0" marL="0" marR="0" rtl="0" algn="l">
                <a:lnSpc>
                  <a:spcPct val="142307"/>
                </a:lnSpc>
                <a:spcBef>
                  <a:spcPts val="0"/>
                </a:spcBef>
                <a:spcAft>
                  <a:spcPts val="0"/>
                </a:spcAft>
                <a:buClr>
                  <a:srgbClr val="443728"/>
                </a:buClr>
                <a:buSzPts val="980"/>
                <a:buFont typeface="Crimson Pro Light"/>
                <a:buNone/>
              </a:pPr>
              <a:r>
                <a:rPr b="0" i="0" lang="en-GB" sz="980" u="none" cap="none" strike="noStrike">
                  <a:solidFill>
                    <a:srgbClr val="443728"/>
                  </a:solidFill>
                  <a:latin typeface="Crimson Pro Light"/>
                  <a:ea typeface="Crimson Pro Light"/>
                  <a:cs typeface="Crimson Pro Light"/>
                  <a:sym typeface="Crimson Pro Light"/>
                </a:rPr>
                <a:t>02</a:t>
              </a:r>
              <a:endParaRPr b="0" i="0" sz="980" u="none" cap="none" strike="noStrike"/>
            </a:p>
          </p:txBody>
        </p:sp>
        <p:sp>
          <p:nvSpPr>
            <p:cNvPr id="196" name="Google Shape;196;p30"/>
            <p:cNvSpPr/>
            <p:nvPr/>
          </p:nvSpPr>
          <p:spPr>
            <a:xfrm>
              <a:off x="313875" y="3111168"/>
              <a:ext cx="5997300" cy="17400"/>
            </a:xfrm>
            <a:prstGeom prst="rect">
              <a:avLst/>
            </a:prstGeom>
            <a:solidFill>
              <a:srgbClr val="835E54"/>
            </a:solidFill>
            <a:ln>
              <a:noFill/>
            </a:ln>
          </p:spPr>
          <p:txBody>
            <a:bodyPr anchorCtr="0" anchor="ctr" bIns="68900" lIns="68900" spcFirstLastPara="1" rIns="68900" wrap="square" tIns="68900">
              <a:noAutofit/>
            </a:bodyPr>
            <a:lstStyle/>
            <a:p>
              <a:pPr indent="0" lvl="0" marL="0" rtl="0" algn="l">
                <a:spcBef>
                  <a:spcPts val="0"/>
                </a:spcBef>
                <a:spcAft>
                  <a:spcPts val="0"/>
                </a:spcAft>
                <a:buNone/>
              </a:pPr>
              <a:r>
                <a:t/>
              </a:r>
              <a:endParaRPr/>
            </a:p>
          </p:txBody>
        </p:sp>
        <p:sp>
          <p:nvSpPr>
            <p:cNvPr id="197" name="Google Shape;197;p30"/>
            <p:cNvSpPr/>
            <p:nvPr/>
          </p:nvSpPr>
          <p:spPr>
            <a:xfrm>
              <a:off x="366600" y="3203004"/>
              <a:ext cx="2832000" cy="159900"/>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443728"/>
                </a:buClr>
                <a:buSzPts val="1244"/>
                <a:buFont typeface="Crimson Pro"/>
                <a:buNone/>
              </a:pPr>
              <a:r>
                <a:rPr b="1" lang="en-GB" sz="1244">
                  <a:solidFill>
                    <a:srgbClr val="443728"/>
                  </a:solidFill>
                </a:rPr>
                <a:t> Testing Data</a:t>
              </a:r>
              <a:endParaRPr i="0" sz="1244" u="none" cap="none" strike="noStrike"/>
            </a:p>
          </p:txBody>
        </p:sp>
        <p:sp>
          <p:nvSpPr>
            <p:cNvPr id="198" name="Google Shape;198;p30"/>
            <p:cNvSpPr/>
            <p:nvPr/>
          </p:nvSpPr>
          <p:spPr>
            <a:xfrm>
              <a:off x="366600" y="3409503"/>
              <a:ext cx="8096100" cy="829500"/>
            </a:xfrm>
            <a:prstGeom prst="rect">
              <a:avLst/>
            </a:prstGeom>
            <a:noFill/>
            <a:ln>
              <a:noFill/>
            </a:ln>
          </p:spPr>
          <p:txBody>
            <a:bodyPr anchorCtr="0" anchor="t" bIns="0" lIns="0" spcFirstLastPara="1" rIns="0" wrap="square" tIns="0">
              <a:noAutofit/>
            </a:bodyPr>
            <a:lstStyle/>
            <a:p>
              <a:pPr indent="-298450" lvl="0" marL="457200" rtl="0" algn="l">
                <a:lnSpc>
                  <a:spcPct val="142307"/>
                </a:lnSpc>
                <a:spcBef>
                  <a:spcPts val="0"/>
                </a:spcBef>
                <a:spcAft>
                  <a:spcPts val="0"/>
                </a:spcAft>
                <a:buClr>
                  <a:schemeClr val="dk1"/>
                </a:buClr>
                <a:buSzPts val="1100"/>
                <a:buChar char="●"/>
              </a:pPr>
              <a:r>
                <a:rPr lang="en-GB" sz="1100">
                  <a:solidFill>
                    <a:schemeClr val="dk1"/>
                  </a:solidFill>
                </a:rPr>
                <a:t>With the </a:t>
              </a:r>
              <a:r>
                <a:rPr lang="en-GB" sz="1100">
                  <a:solidFill>
                    <a:schemeClr val="dk1"/>
                  </a:solidFill>
                </a:rPr>
                <a:t>help of LLM categories the article in 3 different categories, Hard, medium and low for each of the topic.</a:t>
              </a:r>
              <a:endParaRPr b="1" sz="1100">
                <a:solidFill>
                  <a:schemeClr val="dk1"/>
                </a:solidFill>
              </a:endParaRPr>
            </a:p>
            <a:p>
              <a:pPr indent="-298450" lvl="0" marL="457200" rtl="0" algn="l">
                <a:lnSpc>
                  <a:spcPct val="142307"/>
                </a:lnSpc>
                <a:spcBef>
                  <a:spcPts val="0"/>
                </a:spcBef>
                <a:spcAft>
                  <a:spcPts val="0"/>
                </a:spcAft>
                <a:buClr>
                  <a:schemeClr val="dk1"/>
                </a:buClr>
                <a:buSzPts val="1100"/>
                <a:buChar char="●"/>
              </a:pPr>
              <a:r>
                <a:rPr lang="en-GB" sz="1100">
                  <a:solidFill>
                    <a:schemeClr val="dk1"/>
                  </a:solidFill>
                </a:rPr>
                <a:t>Each of these categories have 8 different article.</a:t>
              </a:r>
              <a:endParaRPr sz="1100">
                <a:solidFill>
                  <a:schemeClr val="dk1"/>
                </a:solidFill>
              </a:endParaRPr>
            </a:p>
            <a:p>
              <a:pPr indent="-298450" lvl="0" marL="457200" rtl="0" algn="l">
                <a:lnSpc>
                  <a:spcPct val="142307"/>
                </a:lnSpc>
                <a:spcBef>
                  <a:spcPts val="0"/>
                </a:spcBef>
                <a:spcAft>
                  <a:spcPts val="0"/>
                </a:spcAft>
                <a:buClr>
                  <a:schemeClr val="dk1"/>
                </a:buClr>
                <a:buSzPts val="1100"/>
                <a:buChar char="●"/>
              </a:pPr>
              <a:r>
                <a:rPr lang="en-GB" sz="1100">
                  <a:solidFill>
                    <a:schemeClr val="dk1"/>
                  </a:solidFill>
                </a:rPr>
                <a:t>Hard categories means the set of article </a:t>
              </a:r>
              <a:r>
                <a:rPr lang="en-GB" sz="1100">
                  <a:solidFill>
                    <a:schemeClr val="dk1"/>
                  </a:solidFill>
                </a:rPr>
                <a:t>have the sentences in order ,where finding the narrative shift is very difficult.</a:t>
              </a:r>
              <a:endParaRPr sz="1100">
                <a:solidFill>
                  <a:schemeClr val="dk1"/>
                </a:solidFill>
              </a:endParaRPr>
            </a:p>
            <a:p>
              <a:pPr indent="-298450" lvl="0" marL="457200" rtl="0" algn="l">
                <a:lnSpc>
                  <a:spcPct val="142307"/>
                </a:lnSpc>
                <a:spcBef>
                  <a:spcPts val="0"/>
                </a:spcBef>
                <a:spcAft>
                  <a:spcPts val="0"/>
                </a:spcAft>
                <a:buClr>
                  <a:schemeClr val="dk1"/>
                </a:buClr>
                <a:buSzPts val="1100"/>
                <a:buChar char="●"/>
              </a:pPr>
              <a:r>
                <a:rPr lang="en-GB" sz="1100">
                  <a:solidFill>
                    <a:schemeClr val="dk1"/>
                  </a:solidFill>
                </a:rPr>
                <a:t>Low  categories means the set of article have the sentences in  order, where finding the narrative shift is very easy.</a:t>
              </a:r>
              <a:endParaRPr sz="1100">
                <a:solidFill>
                  <a:schemeClr val="dk1"/>
                </a:solidFill>
              </a:endParaRPr>
            </a:p>
            <a:p>
              <a:pPr indent="-298450" lvl="0" marL="457200" rtl="0" algn="l">
                <a:lnSpc>
                  <a:spcPct val="142307"/>
                </a:lnSpc>
                <a:spcBef>
                  <a:spcPts val="0"/>
                </a:spcBef>
                <a:spcAft>
                  <a:spcPts val="0"/>
                </a:spcAft>
                <a:buClr>
                  <a:schemeClr val="dk1"/>
                </a:buClr>
                <a:buSzPts val="1100"/>
                <a:buChar char="●"/>
              </a:pPr>
              <a:r>
                <a:rPr lang="en-GB" sz="1100">
                  <a:solidFill>
                    <a:schemeClr val="dk1"/>
                  </a:solidFill>
                </a:rPr>
                <a:t>Ground truth labels were manually annotated from the test data through human inspection of article narratives.</a:t>
              </a:r>
              <a:endParaRPr sz="1100">
                <a:solidFill>
                  <a:schemeClr val="dk1"/>
                </a:solidFill>
              </a:endParaRPr>
            </a:p>
            <a:p>
              <a:pPr indent="-298450" lvl="0" marL="457200" rtl="0" algn="l">
                <a:lnSpc>
                  <a:spcPct val="142307"/>
                </a:lnSpc>
                <a:spcBef>
                  <a:spcPts val="0"/>
                </a:spcBef>
                <a:spcAft>
                  <a:spcPts val="0"/>
                </a:spcAft>
                <a:buClr>
                  <a:schemeClr val="dk1"/>
                </a:buClr>
                <a:buSzPts val="1100"/>
                <a:buChar char="●"/>
              </a:pPr>
              <a:r>
                <a:rPr lang="en-GB" sz="1100">
                  <a:solidFill>
                    <a:schemeClr val="dk1"/>
                  </a:solidFill>
                </a:rPr>
                <a:t>For each of the 5 topics there are 3 categories, and each categories have 8 article that lead to total 120 testing articles.</a:t>
              </a:r>
              <a:endParaRPr sz="1100">
                <a:solidFill>
                  <a:schemeClr val="dk1"/>
                </a:solidFill>
              </a:endParaRPr>
            </a:p>
            <a:p>
              <a:pPr indent="0" lvl="0" marL="0" marR="0" rtl="0" algn="l">
                <a:lnSpc>
                  <a:spcPct val="142307"/>
                </a:lnSpc>
                <a:spcBef>
                  <a:spcPts val="0"/>
                </a:spcBef>
                <a:spcAft>
                  <a:spcPts val="0"/>
                </a:spcAft>
                <a:buClr>
                  <a:srgbClr val="443728"/>
                </a:buClr>
                <a:buSzPts val="980"/>
                <a:buFont typeface="Open Sans"/>
                <a:buNone/>
              </a:pPr>
              <a:r>
                <a:t/>
              </a:r>
              <a:endParaRPr sz="1100">
                <a:solidFill>
                  <a:schemeClr val="dk1"/>
                </a:solidFil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84"/>
                                        </p:tgtEl>
                                        <p:attrNameLst>
                                          <p:attrName>style.visibility</p:attrName>
                                        </p:attrNameLst>
                                      </p:cBhvr>
                                      <p:to>
                                        <p:strVal val="visible"/>
                                      </p:to>
                                    </p:set>
                                    <p:animEffect filter="fade" transition="in">
                                      <p:cBhvr>
                                        <p:cTn dur="1000"/>
                                        <p:tgtEl>
                                          <p:spTgt spid="1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gtEl>
                                        <p:attrNameLst>
                                          <p:attrName>style.visibility</p:attrName>
                                        </p:attrNameLst>
                                      </p:cBhvr>
                                      <p:to>
                                        <p:strVal val="visible"/>
                                      </p:to>
                                    </p:set>
                                    <p:animEffect filter="fade" transition="in">
                                      <p:cBhvr>
                                        <p:cTn dur="1000"/>
                                        <p:tgtEl>
                                          <p:spTgt spid="1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1"/>
          <p:cNvSpPr/>
          <p:nvPr/>
        </p:nvSpPr>
        <p:spPr>
          <a:xfrm>
            <a:off x="175154" y="408450"/>
            <a:ext cx="5127600" cy="477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443728"/>
              </a:buClr>
              <a:buSzPts val="3000"/>
              <a:buFont typeface="Crimson Pro"/>
              <a:buNone/>
            </a:pPr>
            <a:r>
              <a:rPr b="1" i="0" lang="en-GB" sz="3000" u="none" cap="none" strike="noStrike">
                <a:solidFill>
                  <a:srgbClr val="443728"/>
                </a:solidFill>
              </a:rPr>
              <a:t>Data Sources for </a:t>
            </a:r>
            <a:r>
              <a:rPr b="1" lang="en-GB" sz="3000">
                <a:solidFill>
                  <a:srgbClr val="443728"/>
                </a:solidFill>
              </a:rPr>
              <a:t>Training</a:t>
            </a:r>
            <a:endParaRPr i="0" sz="3000" u="none" cap="none" strike="noStrike">
              <a:solidFill>
                <a:srgbClr val="000000"/>
              </a:solidFill>
            </a:endParaRPr>
          </a:p>
        </p:txBody>
      </p:sp>
      <p:grpSp>
        <p:nvGrpSpPr>
          <p:cNvPr id="204" name="Google Shape;204;p31"/>
          <p:cNvGrpSpPr/>
          <p:nvPr/>
        </p:nvGrpSpPr>
        <p:grpSpPr>
          <a:xfrm>
            <a:off x="175138" y="1268576"/>
            <a:ext cx="8793719" cy="1271093"/>
            <a:chOff x="175138" y="1268576"/>
            <a:chExt cx="8793719" cy="1271093"/>
          </a:xfrm>
        </p:grpSpPr>
        <p:sp>
          <p:nvSpPr>
            <p:cNvPr id="205" name="Google Shape;205;p31"/>
            <p:cNvSpPr/>
            <p:nvPr/>
          </p:nvSpPr>
          <p:spPr>
            <a:xfrm>
              <a:off x="175138" y="1268576"/>
              <a:ext cx="4301100" cy="504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43728"/>
                </a:buClr>
                <a:buSzPts val="3944"/>
                <a:buFont typeface="Crimson Pro"/>
                <a:buNone/>
              </a:pPr>
              <a:r>
                <a:rPr b="1" i="0" lang="en-GB" sz="3944" u="none" cap="none" strike="noStrike">
                  <a:solidFill>
                    <a:srgbClr val="443728"/>
                  </a:solidFill>
                  <a:latin typeface="Crimson Pro"/>
                  <a:ea typeface="Crimson Pro"/>
                  <a:cs typeface="Crimson Pro"/>
                  <a:sym typeface="Crimson Pro"/>
                </a:rPr>
                <a:t>1.17M</a:t>
              </a:r>
              <a:endParaRPr b="0" i="0" sz="3944" u="none" cap="none" strike="noStrike">
                <a:solidFill>
                  <a:srgbClr val="000000"/>
                </a:solidFill>
                <a:latin typeface="Arial"/>
                <a:ea typeface="Arial"/>
                <a:cs typeface="Arial"/>
                <a:sym typeface="Arial"/>
              </a:endParaRPr>
            </a:p>
          </p:txBody>
        </p:sp>
        <p:sp>
          <p:nvSpPr>
            <p:cNvPr id="206" name="Google Shape;206;p31"/>
            <p:cNvSpPr/>
            <p:nvPr/>
          </p:nvSpPr>
          <p:spPr>
            <a:xfrm>
              <a:off x="1369922" y="1964223"/>
              <a:ext cx="1911600" cy="23910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443728"/>
                </a:buClr>
                <a:buSzPts val="1483"/>
                <a:buFont typeface="Crimson Pro"/>
                <a:buNone/>
              </a:pPr>
              <a:r>
                <a:rPr b="1" i="0" lang="en-GB" sz="1483" u="none" cap="none" strike="noStrike">
                  <a:solidFill>
                    <a:srgbClr val="443728"/>
                  </a:solidFill>
                  <a:latin typeface="Crimson Pro"/>
                  <a:ea typeface="Crimson Pro"/>
                  <a:cs typeface="Crimson Pro"/>
                  <a:sym typeface="Crimson Pro"/>
                </a:rPr>
                <a:t>News Articles</a:t>
              </a:r>
              <a:endParaRPr b="0" i="0" sz="1483" u="none" cap="none" strike="noStrike">
                <a:solidFill>
                  <a:srgbClr val="000000"/>
                </a:solidFill>
                <a:latin typeface="Arial"/>
                <a:ea typeface="Arial"/>
                <a:cs typeface="Arial"/>
                <a:sym typeface="Arial"/>
              </a:endParaRPr>
            </a:p>
          </p:txBody>
        </p:sp>
        <p:sp>
          <p:nvSpPr>
            <p:cNvPr id="207" name="Google Shape;207;p31"/>
            <p:cNvSpPr/>
            <p:nvPr/>
          </p:nvSpPr>
          <p:spPr>
            <a:xfrm>
              <a:off x="175138" y="2294869"/>
              <a:ext cx="4301100" cy="244800"/>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443728"/>
                </a:buClr>
                <a:buSzPts val="1180"/>
                <a:buFont typeface="Open Sans"/>
                <a:buNone/>
              </a:pPr>
              <a:r>
                <a:rPr b="0" i="0" lang="en-GB" sz="1180" u="none" cap="none" strike="noStrike">
                  <a:solidFill>
                    <a:srgbClr val="443728"/>
                  </a:solidFill>
                  <a:latin typeface="Open Sans"/>
                  <a:ea typeface="Open Sans"/>
                  <a:cs typeface="Open Sans"/>
                  <a:sym typeface="Open Sans"/>
                </a:rPr>
                <a:t>Collected from multiple sources spanning over a decade</a:t>
              </a:r>
              <a:endParaRPr b="0" i="0" sz="1180" u="none" cap="none" strike="noStrike">
                <a:solidFill>
                  <a:srgbClr val="000000"/>
                </a:solidFill>
                <a:latin typeface="Arial"/>
                <a:ea typeface="Arial"/>
                <a:cs typeface="Arial"/>
                <a:sym typeface="Arial"/>
              </a:endParaRPr>
            </a:p>
          </p:txBody>
        </p:sp>
        <p:sp>
          <p:nvSpPr>
            <p:cNvPr id="208" name="Google Shape;208;p31"/>
            <p:cNvSpPr/>
            <p:nvPr/>
          </p:nvSpPr>
          <p:spPr>
            <a:xfrm>
              <a:off x="4667457" y="1268576"/>
              <a:ext cx="4301400" cy="504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43728"/>
                </a:buClr>
                <a:buSzPts val="3944"/>
                <a:buFont typeface="Crimson Pro"/>
                <a:buNone/>
              </a:pPr>
              <a:r>
                <a:rPr b="1" i="0" lang="en-GB" sz="3944" u="none" cap="none" strike="noStrike">
                  <a:solidFill>
                    <a:srgbClr val="443728"/>
                  </a:solidFill>
                  <a:latin typeface="Crimson Pro"/>
                  <a:ea typeface="Crimson Pro"/>
                  <a:cs typeface="Crimson Pro"/>
                  <a:sym typeface="Crimson Pro"/>
                </a:rPr>
                <a:t>1</a:t>
              </a:r>
              <a:r>
                <a:rPr b="1" lang="en-GB" sz="3944">
                  <a:solidFill>
                    <a:srgbClr val="443728"/>
                  </a:solidFill>
                  <a:latin typeface="Crimson Pro"/>
                  <a:ea typeface="Crimson Pro"/>
                  <a:cs typeface="Crimson Pro"/>
                  <a:sym typeface="Crimson Pro"/>
                </a:rPr>
                <a:t>5</a:t>
              </a:r>
              <a:endParaRPr b="1" sz="3944">
                <a:solidFill>
                  <a:srgbClr val="443728"/>
                </a:solidFill>
                <a:latin typeface="Crimson Pro"/>
                <a:ea typeface="Crimson Pro"/>
                <a:cs typeface="Crimson Pro"/>
                <a:sym typeface="Crimson Pro"/>
              </a:endParaRPr>
            </a:p>
            <a:p>
              <a:pPr indent="0" lvl="0" marL="0" marR="0" rtl="0" algn="ctr">
                <a:lnSpc>
                  <a:spcPct val="100000"/>
                </a:lnSpc>
                <a:spcBef>
                  <a:spcPts val="0"/>
                </a:spcBef>
                <a:spcAft>
                  <a:spcPts val="0"/>
                </a:spcAft>
                <a:buClr>
                  <a:srgbClr val="443728"/>
                </a:buClr>
                <a:buSzPts val="3944"/>
                <a:buFont typeface="Crimson Pro"/>
                <a:buNone/>
              </a:pPr>
              <a:r>
                <a:t/>
              </a:r>
              <a:endParaRPr b="1" sz="3944">
                <a:solidFill>
                  <a:srgbClr val="443728"/>
                </a:solidFill>
                <a:latin typeface="Crimson Pro"/>
                <a:ea typeface="Crimson Pro"/>
                <a:cs typeface="Crimson Pro"/>
                <a:sym typeface="Crimson Pro"/>
              </a:endParaRPr>
            </a:p>
          </p:txBody>
        </p:sp>
        <p:sp>
          <p:nvSpPr>
            <p:cNvPr id="209" name="Google Shape;209;p31"/>
            <p:cNvSpPr/>
            <p:nvPr/>
          </p:nvSpPr>
          <p:spPr>
            <a:xfrm>
              <a:off x="5661126" y="1964225"/>
              <a:ext cx="2387400" cy="23910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443728"/>
                </a:buClr>
                <a:buSzPts val="1483"/>
                <a:buFont typeface="Crimson Pro"/>
                <a:buNone/>
              </a:pPr>
              <a:r>
                <a:rPr b="1" i="0" lang="en-GB" sz="1483" u="none" cap="none" strike="noStrike">
                  <a:solidFill>
                    <a:srgbClr val="443728"/>
                  </a:solidFill>
                  <a:latin typeface="Crimson Pro"/>
                  <a:ea typeface="Crimson Pro"/>
                  <a:cs typeface="Crimson Pro"/>
                  <a:sym typeface="Crimson Pro"/>
                </a:rPr>
                <a:t>Years Covered(2010-2025)</a:t>
              </a:r>
              <a:endParaRPr b="0" i="0" sz="1483" u="none" cap="none" strike="noStrike">
                <a:solidFill>
                  <a:srgbClr val="000000"/>
                </a:solidFill>
                <a:latin typeface="Arial"/>
                <a:ea typeface="Arial"/>
                <a:cs typeface="Arial"/>
                <a:sym typeface="Arial"/>
              </a:endParaRPr>
            </a:p>
          </p:txBody>
        </p:sp>
        <p:sp>
          <p:nvSpPr>
            <p:cNvPr id="210" name="Google Shape;210;p31"/>
            <p:cNvSpPr/>
            <p:nvPr/>
          </p:nvSpPr>
          <p:spPr>
            <a:xfrm>
              <a:off x="4667457" y="2294869"/>
              <a:ext cx="4301400" cy="244800"/>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443728"/>
                </a:buClr>
                <a:buSzPts val="1180"/>
                <a:buFont typeface="Open Sans"/>
                <a:buNone/>
              </a:pPr>
              <a:r>
                <a:rPr b="0" i="0" lang="en-GB" sz="1180" u="none" cap="none" strike="noStrike">
                  <a:solidFill>
                    <a:srgbClr val="443728"/>
                  </a:solidFill>
                  <a:latin typeface="Open Sans"/>
                  <a:ea typeface="Open Sans"/>
                  <a:cs typeface="Open Sans"/>
                  <a:sym typeface="Open Sans"/>
                </a:rPr>
                <a:t>Strong temporal coverage enabling longitudinal analysis</a:t>
              </a:r>
              <a:endParaRPr b="0" i="0" sz="1180" u="none" cap="none" strike="noStrike">
                <a:solidFill>
                  <a:srgbClr val="000000"/>
                </a:solidFill>
                <a:latin typeface="Arial"/>
                <a:ea typeface="Arial"/>
                <a:cs typeface="Arial"/>
                <a:sym typeface="Arial"/>
              </a:endParaRPr>
            </a:p>
          </p:txBody>
        </p:sp>
      </p:grpSp>
      <p:sp>
        <p:nvSpPr>
          <p:cNvPr id="211" name="Google Shape;211;p31"/>
          <p:cNvSpPr/>
          <p:nvPr/>
        </p:nvSpPr>
        <p:spPr>
          <a:xfrm>
            <a:off x="175188" y="3375532"/>
            <a:ext cx="1911600" cy="2391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43728"/>
              </a:buClr>
              <a:buSzPts val="1483"/>
              <a:buFont typeface="Crimson Pro"/>
              <a:buNone/>
            </a:pPr>
            <a:r>
              <a:rPr b="1" i="0" lang="en-GB" sz="1483" u="none" cap="none" strike="noStrike">
                <a:solidFill>
                  <a:srgbClr val="443728"/>
                </a:solidFill>
              </a:rPr>
              <a:t>Collection Strategy</a:t>
            </a:r>
            <a:endParaRPr i="0" sz="1483" u="none" cap="none" strike="noStrike">
              <a:solidFill>
                <a:srgbClr val="000000"/>
              </a:solidFill>
            </a:endParaRPr>
          </a:p>
        </p:txBody>
      </p:sp>
      <p:sp>
        <p:nvSpPr>
          <p:cNvPr id="212" name="Google Shape;212;p31"/>
          <p:cNvSpPr/>
          <p:nvPr/>
        </p:nvSpPr>
        <p:spPr>
          <a:xfrm>
            <a:off x="175188" y="3690740"/>
            <a:ext cx="8793600" cy="4893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43728"/>
              </a:buClr>
              <a:buSzPts val="1180"/>
              <a:buFont typeface="Open Sans"/>
              <a:buNone/>
            </a:pPr>
            <a:r>
              <a:rPr i="0" lang="en-GB" sz="1180" u="none" cap="none" strike="noStrike">
                <a:solidFill>
                  <a:srgbClr val="443728"/>
                </a:solidFill>
              </a:rPr>
              <a:t>Articles were sourced from </a:t>
            </a:r>
            <a:r>
              <a:rPr b="1" i="0" lang="en-GB" sz="1180" u="none" cap="none" strike="noStrike">
                <a:solidFill>
                  <a:srgbClr val="443728"/>
                </a:solidFill>
              </a:rPr>
              <a:t>Kaggle datasets, public APIs, and web-based collections</a:t>
            </a:r>
            <a:r>
              <a:rPr i="0" lang="en-GB" sz="1180" u="none" cap="none" strike="noStrike">
                <a:solidFill>
                  <a:srgbClr val="443728"/>
                </a:solidFill>
              </a:rPr>
              <a:t> to maximize topical breadth and temporal range.</a:t>
            </a:r>
            <a:endParaRPr i="0" sz="1180" u="none" cap="none" strike="noStrike">
              <a:solidFill>
                <a:srgbClr val="00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04"/>
                                        </p:tgtEl>
                                        <p:attrNameLst>
                                          <p:attrName>style.visibility</p:attrName>
                                        </p:attrNameLst>
                                      </p:cBhvr>
                                      <p:to>
                                        <p:strVal val="visible"/>
                                      </p:to>
                                    </p:set>
                                    <p:animEffect filter="fade" transition="in">
                                      <p:cBhvr>
                                        <p:cTn dur="1000"/>
                                        <p:tgtEl>
                                          <p:spTgt spid="2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1000"/>
                                        <p:tgtEl>
                                          <p:spTgt spid="21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1000"/>
                                        <p:tgtEl>
                                          <p:spTgt spid="2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2"/>
          <p:cNvSpPr/>
          <p:nvPr/>
        </p:nvSpPr>
        <p:spPr>
          <a:xfrm>
            <a:off x="382350" y="336250"/>
            <a:ext cx="8379300" cy="5310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443728"/>
              </a:buClr>
              <a:buSzPts val="3180"/>
              <a:buFont typeface="Crimson Pro"/>
              <a:buNone/>
            </a:pPr>
            <a:r>
              <a:rPr b="1" i="0" lang="en-GB" sz="2780" u="none" cap="none" strike="noStrike">
                <a:solidFill>
                  <a:srgbClr val="443728"/>
                </a:solidFill>
              </a:rPr>
              <a:t>Data Cleaning &amp; Preprocessing</a:t>
            </a:r>
            <a:endParaRPr i="0" sz="2780" u="none" cap="none" strike="noStrike">
              <a:solidFill>
                <a:srgbClr val="000000"/>
              </a:solidFill>
            </a:endParaRPr>
          </a:p>
        </p:txBody>
      </p:sp>
      <p:pic>
        <p:nvPicPr>
          <p:cNvPr id="218" name="Google Shape;218;p32" title="pre_processing_pipline.jpeg"/>
          <p:cNvPicPr preferRelativeResize="0"/>
          <p:nvPr/>
        </p:nvPicPr>
        <p:blipFill>
          <a:blip r:embed="rId3">
            <a:alphaModFix/>
          </a:blip>
          <a:stretch>
            <a:fillRect/>
          </a:stretch>
        </p:blipFill>
        <p:spPr>
          <a:xfrm>
            <a:off x="431488" y="943750"/>
            <a:ext cx="8281024" cy="3971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1200"/>
                                        <p:tgtEl>
                                          <p:spTgt spid="2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3"/>
          <p:cNvSpPr/>
          <p:nvPr/>
        </p:nvSpPr>
        <p:spPr>
          <a:xfrm>
            <a:off x="388325" y="130750"/>
            <a:ext cx="5799900" cy="417900"/>
          </a:xfrm>
          <a:prstGeom prst="rect">
            <a:avLst/>
          </a:prstGeom>
          <a:noFill/>
          <a:ln>
            <a:noFill/>
          </a:ln>
        </p:spPr>
        <p:txBody>
          <a:bodyPr anchorCtr="0" anchor="t" bIns="0" lIns="0" spcFirstLastPara="1" rIns="0" wrap="square" tIns="0">
            <a:noAutofit/>
          </a:bodyPr>
          <a:lstStyle/>
          <a:p>
            <a:pPr indent="0" lvl="0" marL="0" marR="0" rtl="0" algn="l">
              <a:lnSpc>
                <a:spcPct val="125333"/>
              </a:lnSpc>
              <a:spcBef>
                <a:spcPts val="0"/>
              </a:spcBef>
              <a:spcAft>
                <a:spcPts val="0"/>
              </a:spcAft>
              <a:buClr>
                <a:srgbClr val="443728"/>
              </a:buClr>
              <a:buSzPts val="2611"/>
              <a:buFont typeface="Crimson Pro"/>
              <a:buNone/>
            </a:pPr>
            <a:r>
              <a:rPr b="1" i="0" lang="en-GB" sz="2611" u="none" cap="none" strike="noStrike">
                <a:solidFill>
                  <a:srgbClr val="443728"/>
                </a:solidFill>
              </a:rPr>
              <a:t>K-Means Clustering Approach</a:t>
            </a:r>
            <a:endParaRPr i="0" sz="2611" u="none" cap="none" strike="noStrike">
              <a:solidFill>
                <a:srgbClr val="000000"/>
              </a:solidFill>
            </a:endParaRPr>
          </a:p>
        </p:txBody>
      </p:sp>
      <p:grpSp>
        <p:nvGrpSpPr>
          <p:cNvPr id="224" name="Google Shape;224;p33"/>
          <p:cNvGrpSpPr/>
          <p:nvPr/>
        </p:nvGrpSpPr>
        <p:grpSpPr>
          <a:xfrm>
            <a:off x="415650" y="1722725"/>
            <a:ext cx="8312700" cy="950100"/>
            <a:chOff x="388325" y="718725"/>
            <a:chExt cx="8312700" cy="950100"/>
          </a:xfrm>
        </p:grpSpPr>
        <p:sp>
          <p:nvSpPr>
            <p:cNvPr id="225" name="Google Shape;225;p33"/>
            <p:cNvSpPr/>
            <p:nvPr/>
          </p:nvSpPr>
          <p:spPr>
            <a:xfrm>
              <a:off x="388325" y="718725"/>
              <a:ext cx="8312700" cy="950100"/>
            </a:xfrm>
            <a:prstGeom prst="roundRect">
              <a:avLst>
                <a:gd fmla="val 5913" name="adj"/>
              </a:avLst>
            </a:prstGeom>
            <a:solidFill>
              <a:srgbClr val="EBE2E0"/>
            </a:solidFill>
            <a:ln cap="flat" cmpd="sng" w="9525">
              <a:solidFill>
                <a:srgbClr val="D1C8C6"/>
              </a:solidFill>
              <a:prstDash val="solid"/>
              <a:round/>
              <a:headEnd len="sm" w="sm" type="none"/>
              <a:tailEnd len="sm" w="sm" type="none"/>
            </a:ln>
          </p:spPr>
          <p:txBody>
            <a:bodyPr anchorCtr="0" anchor="ctr" bIns="63675" lIns="63675" spcFirstLastPara="1" rIns="63675" wrap="square" tIns="636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33"/>
            <p:cNvSpPr/>
            <p:nvPr/>
          </p:nvSpPr>
          <p:spPr>
            <a:xfrm>
              <a:off x="527362" y="857769"/>
              <a:ext cx="1672500" cy="209100"/>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443728"/>
                </a:buClr>
                <a:buSzPts val="1288"/>
                <a:buFont typeface="Crimson Pro"/>
                <a:buNone/>
              </a:pPr>
              <a:r>
                <a:rPr b="1" i="0" lang="en-GB" sz="1288" u="none" cap="none" strike="noStrike">
                  <a:solidFill>
                    <a:srgbClr val="443728"/>
                  </a:solidFill>
                </a:rPr>
                <a:t>Semantic Grouping</a:t>
              </a:r>
              <a:endParaRPr i="0" sz="1288" u="none" cap="none" strike="noStrike">
                <a:solidFill>
                  <a:srgbClr val="000000"/>
                </a:solidFill>
              </a:endParaRPr>
            </a:p>
          </p:txBody>
        </p:sp>
        <p:sp>
          <p:nvSpPr>
            <p:cNvPr id="227" name="Google Shape;227;p33"/>
            <p:cNvSpPr/>
            <p:nvPr/>
          </p:nvSpPr>
          <p:spPr>
            <a:xfrm>
              <a:off x="527344" y="1134775"/>
              <a:ext cx="8013300" cy="395400"/>
            </a:xfrm>
            <a:prstGeom prst="rect">
              <a:avLst/>
            </a:prstGeom>
            <a:noFill/>
            <a:ln>
              <a:noFill/>
            </a:ln>
          </p:spPr>
          <p:txBody>
            <a:bodyPr anchorCtr="0" anchor="t" bIns="0" lIns="0" spcFirstLastPara="1" rIns="0" wrap="square" tIns="0">
              <a:noAutofit/>
            </a:bodyPr>
            <a:lstStyle/>
            <a:p>
              <a:pPr indent="-298450" lvl="0" marL="457200" marR="0" rtl="0" algn="l">
                <a:lnSpc>
                  <a:spcPct val="146666"/>
                </a:lnSpc>
                <a:spcBef>
                  <a:spcPts val="1200"/>
                </a:spcBef>
                <a:spcAft>
                  <a:spcPts val="0"/>
                </a:spcAft>
                <a:buClr>
                  <a:schemeClr val="dk1"/>
                </a:buClr>
                <a:buSzPts val="1100"/>
                <a:buChar char="●"/>
              </a:pPr>
              <a:r>
                <a:rPr lang="en-GB" sz="1100">
                  <a:solidFill>
                    <a:schemeClr val="dk1"/>
                  </a:solidFill>
                </a:rPr>
                <a:t>Sentence embeddings are grouped into </a:t>
              </a:r>
              <a:r>
                <a:rPr b="1" lang="en-GB" sz="1100">
                  <a:solidFill>
                    <a:schemeClr val="dk1"/>
                  </a:solidFill>
                </a:rPr>
                <a:t>K clusters (K=5)</a:t>
              </a:r>
              <a:r>
                <a:rPr lang="en-GB" sz="1100">
                  <a:solidFill>
                    <a:schemeClr val="dk1"/>
                  </a:solidFill>
                </a:rPr>
                <a:t>, each representing a distinct semantic pattern or narrative theme.</a:t>
              </a:r>
              <a:endParaRPr b="0" i="0" sz="1045" u="none" cap="none" strike="noStrike">
                <a:solidFill>
                  <a:srgbClr val="443728"/>
                </a:solidFill>
                <a:latin typeface="Open Sans"/>
                <a:ea typeface="Open Sans"/>
                <a:cs typeface="Open Sans"/>
                <a:sym typeface="Open Sans"/>
              </a:endParaRPr>
            </a:p>
          </p:txBody>
        </p:sp>
      </p:grpSp>
      <p:grpSp>
        <p:nvGrpSpPr>
          <p:cNvPr id="228" name="Google Shape;228;p33"/>
          <p:cNvGrpSpPr/>
          <p:nvPr/>
        </p:nvGrpSpPr>
        <p:grpSpPr>
          <a:xfrm>
            <a:off x="415650" y="2786350"/>
            <a:ext cx="8312700" cy="950100"/>
            <a:chOff x="388325" y="1782350"/>
            <a:chExt cx="8312700" cy="950100"/>
          </a:xfrm>
        </p:grpSpPr>
        <p:sp>
          <p:nvSpPr>
            <p:cNvPr id="229" name="Google Shape;229;p33"/>
            <p:cNvSpPr/>
            <p:nvPr/>
          </p:nvSpPr>
          <p:spPr>
            <a:xfrm>
              <a:off x="388325" y="1782350"/>
              <a:ext cx="8312700" cy="950100"/>
            </a:xfrm>
            <a:prstGeom prst="roundRect">
              <a:avLst>
                <a:gd fmla="val 5913" name="adj"/>
              </a:avLst>
            </a:prstGeom>
            <a:solidFill>
              <a:srgbClr val="EBE2E0"/>
            </a:solidFill>
            <a:ln cap="flat" cmpd="sng" w="9525">
              <a:solidFill>
                <a:srgbClr val="D1C8C6"/>
              </a:solidFill>
              <a:prstDash val="solid"/>
              <a:round/>
              <a:headEnd len="sm" w="sm" type="none"/>
              <a:tailEnd len="sm" w="sm" type="none"/>
            </a:ln>
          </p:spPr>
          <p:txBody>
            <a:bodyPr anchorCtr="0" anchor="ctr" bIns="63675" lIns="63675" spcFirstLastPara="1" rIns="63675" wrap="square" tIns="636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33"/>
            <p:cNvSpPr/>
            <p:nvPr/>
          </p:nvSpPr>
          <p:spPr>
            <a:xfrm>
              <a:off x="527362" y="1921393"/>
              <a:ext cx="1672500" cy="209100"/>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443728"/>
                </a:buClr>
                <a:buSzPts val="1288"/>
                <a:buFont typeface="Crimson Pro"/>
                <a:buNone/>
              </a:pPr>
              <a:r>
                <a:rPr b="1" i="0" lang="en-GB" sz="1288" u="none" cap="none" strike="noStrike">
                  <a:solidFill>
                    <a:srgbClr val="443728"/>
                  </a:solidFill>
                </a:rPr>
                <a:t>Cluster as Structure</a:t>
              </a:r>
              <a:endParaRPr i="0" sz="1288" u="none" cap="none" strike="noStrike">
                <a:solidFill>
                  <a:srgbClr val="000000"/>
                </a:solidFill>
              </a:endParaRPr>
            </a:p>
          </p:txBody>
        </p:sp>
        <p:sp>
          <p:nvSpPr>
            <p:cNvPr id="231" name="Google Shape;231;p33"/>
            <p:cNvSpPr/>
            <p:nvPr/>
          </p:nvSpPr>
          <p:spPr>
            <a:xfrm>
              <a:off x="496444" y="2290538"/>
              <a:ext cx="8013300" cy="395400"/>
            </a:xfrm>
            <a:prstGeom prst="rect">
              <a:avLst/>
            </a:prstGeom>
            <a:noFill/>
            <a:ln>
              <a:noFill/>
            </a:ln>
          </p:spPr>
          <p:txBody>
            <a:bodyPr anchorCtr="0" anchor="t" bIns="0" lIns="0" spcFirstLastPara="1" rIns="0" wrap="square" tIns="0">
              <a:noAutofit/>
            </a:bodyPr>
            <a:lstStyle/>
            <a:p>
              <a:pPr indent="-301308" lvl="0" marL="457200" marR="0" rtl="0" algn="l">
                <a:lnSpc>
                  <a:spcPct val="146666"/>
                </a:lnSpc>
                <a:spcBef>
                  <a:spcPts val="0"/>
                </a:spcBef>
                <a:spcAft>
                  <a:spcPts val="0"/>
                </a:spcAft>
                <a:buClr>
                  <a:srgbClr val="443728"/>
                </a:buClr>
                <a:buSzPts val="1145"/>
                <a:buChar char="●"/>
              </a:pPr>
              <a:r>
                <a:rPr lang="en-GB" sz="1145">
                  <a:solidFill>
                    <a:srgbClr val="443728"/>
                  </a:solidFill>
                </a:rPr>
                <a:t>Each cluster acts as a proxy for narrative structure, with time windows represented as distributions over clusters.</a:t>
              </a:r>
              <a:endParaRPr i="0" sz="1145" u="none" cap="none" strike="noStrike">
                <a:solidFill>
                  <a:srgbClr val="000000"/>
                </a:solidFill>
              </a:endParaRPr>
            </a:p>
          </p:txBody>
        </p:sp>
      </p:grpSp>
      <p:grpSp>
        <p:nvGrpSpPr>
          <p:cNvPr id="232" name="Google Shape;232;p33"/>
          <p:cNvGrpSpPr/>
          <p:nvPr/>
        </p:nvGrpSpPr>
        <p:grpSpPr>
          <a:xfrm>
            <a:off x="415650" y="3849975"/>
            <a:ext cx="8312700" cy="950100"/>
            <a:chOff x="388325" y="2845975"/>
            <a:chExt cx="8312700" cy="950100"/>
          </a:xfrm>
        </p:grpSpPr>
        <p:sp>
          <p:nvSpPr>
            <p:cNvPr id="233" name="Google Shape;233;p33"/>
            <p:cNvSpPr/>
            <p:nvPr/>
          </p:nvSpPr>
          <p:spPr>
            <a:xfrm>
              <a:off x="388325" y="2845975"/>
              <a:ext cx="8312700" cy="950100"/>
            </a:xfrm>
            <a:prstGeom prst="roundRect">
              <a:avLst>
                <a:gd fmla="val 5913" name="adj"/>
              </a:avLst>
            </a:prstGeom>
            <a:solidFill>
              <a:srgbClr val="EBE2E0"/>
            </a:solidFill>
            <a:ln cap="flat" cmpd="sng" w="9525">
              <a:solidFill>
                <a:srgbClr val="D1C8C6"/>
              </a:solidFill>
              <a:prstDash val="solid"/>
              <a:round/>
              <a:headEnd len="sm" w="sm" type="none"/>
              <a:tailEnd len="sm" w="sm" type="none"/>
            </a:ln>
          </p:spPr>
          <p:txBody>
            <a:bodyPr anchorCtr="0" anchor="ctr" bIns="63675" lIns="63675" spcFirstLastPara="1" rIns="63675" wrap="square" tIns="636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33"/>
            <p:cNvSpPr/>
            <p:nvPr/>
          </p:nvSpPr>
          <p:spPr>
            <a:xfrm>
              <a:off x="527362" y="2985018"/>
              <a:ext cx="1672500" cy="209100"/>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443728"/>
                </a:buClr>
                <a:buSzPts val="1288"/>
                <a:buFont typeface="Crimson Pro"/>
                <a:buNone/>
              </a:pPr>
              <a:r>
                <a:rPr b="1" i="0" lang="en-GB" sz="1288" u="none" cap="none" strike="noStrike">
                  <a:solidFill>
                    <a:srgbClr val="443728"/>
                  </a:solidFill>
                </a:rPr>
                <a:t>Distribution Shifts</a:t>
              </a:r>
              <a:endParaRPr i="0" sz="1288" u="none" cap="none" strike="noStrike">
                <a:solidFill>
                  <a:srgbClr val="000000"/>
                </a:solidFill>
              </a:endParaRPr>
            </a:p>
          </p:txBody>
        </p:sp>
        <p:sp>
          <p:nvSpPr>
            <p:cNvPr id="235" name="Google Shape;235;p33"/>
            <p:cNvSpPr/>
            <p:nvPr/>
          </p:nvSpPr>
          <p:spPr>
            <a:xfrm>
              <a:off x="527344" y="3354163"/>
              <a:ext cx="8013300" cy="395400"/>
            </a:xfrm>
            <a:prstGeom prst="rect">
              <a:avLst/>
            </a:prstGeom>
            <a:noFill/>
            <a:ln>
              <a:noFill/>
            </a:ln>
          </p:spPr>
          <p:txBody>
            <a:bodyPr anchorCtr="0" anchor="t" bIns="0" lIns="0" spcFirstLastPara="1" rIns="0" wrap="square" tIns="0">
              <a:noAutofit/>
            </a:bodyPr>
            <a:lstStyle/>
            <a:p>
              <a:pPr indent="-301308" lvl="0" marL="457200" marR="0" rtl="0" algn="l">
                <a:lnSpc>
                  <a:spcPct val="146666"/>
                </a:lnSpc>
                <a:spcBef>
                  <a:spcPts val="1200"/>
                </a:spcBef>
                <a:spcAft>
                  <a:spcPts val="0"/>
                </a:spcAft>
                <a:buClr>
                  <a:srgbClr val="443728"/>
                </a:buClr>
                <a:buSzPts val="1145"/>
                <a:buChar char="●"/>
              </a:pPr>
              <a:r>
                <a:rPr lang="en-GB" sz="1145">
                  <a:solidFill>
                    <a:srgbClr val="443728"/>
                  </a:solidFill>
                </a:rPr>
                <a:t>Narrative shifts are identified by changes in cluster membership over time, reflecting evolving narrative focus.</a:t>
              </a:r>
              <a:endParaRPr b="0" i="0" sz="1045" u="none" cap="none" strike="noStrike">
                <a:solidFill>
                  <a:srgbClr val="443728"/>
                </a:solidFill>
                <a:latin typeface="Open Sans"/>
                <a:ea typeface="Open Sans"/>
                <a:cs typeface="Open Sans"/>
                <a:sym typeface="Open Sans"/>
              </a:endParaRPr>
            </a:p>
          </p:txBody>
        </p:sp>
      </p:grpSp>
      <p:grpSp>
        <p:nvGrpSpPr>
          <p:cNvPr id="236" name="Google Shape;236;p33"/>
          <p:cNvGrpSpPr/>
          <p:nvPr/>
        </p:nvGrpSpPr>
        <p:grpSpPr>
          <a:xfrm>
            <a:off x="415650" y="660638"/>
            <a:ext cx="8312700" cy="950100"/>
            <a:chOff x="388325" y="3909600"/>
            <a:chExt cx="8312700" cy="950100"/>
          </a:xfrm>
        </p:grpSpPr>
        <p:sp>
          <p:nvSpPr>
            <p:cNvPr id="237" name="Google Shape;237;p33"/>
            <p:cNvSpPr/>
            <p:nvPr/>
          </p:nvSpPr>
          <p:spPr>
            <a:xfrm>
              <a:off x="388325" y="3909600"/>
              <a:ext cx="8312700" cy="950100"/>
            </a:xfrm>
            <a:prstGeom prst="roundRect">
              <a:avLst>
                <a:gd fmla="val 5913" name="adj"/>
              </a:avLst>
            </a:prstGeom>
            <a:solidFill>
              <a:srgbClr val="EBE2E0"/>
            </a:solidFill>
            <a:ln cap="flat" cmpd="sng" w="9525">
              <a:solidFill>
                <a:srgbClr val="D1C8C6"/>
              </a:solidFill>
              <a:prstDash val="solid"/>
              <a:round/>
              <a:headEnd len="sm" w="sm" type="none"/>
              <a:tailEnd len="sm" w="sm" type="none"/>
            </a:ln>
          </p:spPr>
          <p:txBody>
            <a:bodyPr anchorCtr="0" anchor="ctr" bIns="63675" lIns="63675" spcFirstLastPara="1" rIns="63675" wrap="square" tIns="636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33"/>
            <p:cNvSpPr/>
            <p:nvPr/>
          </p:nvSpPr>
          <p:spPr>
            <a:xfrm>
              <a:off x="527342" y="4048650"/>
              <a:ext cx="3342000" cy="209100"/>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443728"/>
                </a:buClr>
                <a:buSzPts val="1288"/>
                <a:buFont typeface="Crimson Pro"/>
                <a:buNone/>
              </a:pPr>
              <a:r>
                <a:rPr b="1" lang="en-GB" sz="1288">
                  <a:solidFill>
                    <a:srgbClr val="443728"/>
                  </a:solidFill>
                </a:rPr>
                <a:t>Topic Specific Analysis</a:t>
              </a:r>
              <a:endParaRPr i="0" sz="1288" u="none" cap="none" strike="noStrike">
                <a:solidFill>
                  <a:srgbClr val="000000"/>
                </a:solidFill>
              </a:endParaRPr>
            </a:p>
          </p:txBody>
        </p:sp>
        <p:sp>
          <p:nvSpPr>
            <p:cNvPr id="239" name="Google Shape;239;p33"/>
            <p:cNvSpPr/>
            <p:nvPr/>
          </p:nvSpPr>
          <p:spPr>
            <a:xfrm>
              <a:off x="527344" y="4325650"/>
              <a:ext cx="8013300" cy="395400"/>
            </a:xfrm>
            <a:prstGeom prst="rect">
              <a:avLst/>
            </a:prstGeom>
            <a:noFill/>
            <a:ln>
              <a:noFill/>
            </a:ln>
          </p:spPr>
          <p:txBody>
            <a:bodyPr anchorCtr="0" anchor="t" bIns="0" lIns="0" spcFirstLastPara="1" rIns="0" wrap="square" tIns="0">
              <a:noAutofit/>
            </a:bodyPr>
            <a:lstStyle/>
            <a:p>
              <a:pPr indent="-294958" lvl="0" marL="457200" marR="0" rtl="0" algn="l">
                <a:lnSpc>
                  <a:spcPct val="146666"/>
                </a:lnSpc>
                <a:spcBef>
                  <a:spcPts val="1200"/>
                </a:spcBef>
                <a:spcAft>
                  <a:spcPts val="0"/>
                </a:spcAft>
                <a:buClr>
                  <a:srgbClr val="443728"/>
                </a:buClr>
                <a:buSzPts val="1045"/>
                <a:buFont typeface="Open Sans"/>
                <a:buChar char="●"/>
              </a:pPr>
              <a:r>
                <a:rPr lang="en-GB" sz="1145">
                  <a:solidFill>
                    <a:srgbClr val="443728"/>
                  </a:solidFill>
                </a:rPr>
                <a:t>Each topic is analysed independently using filtered, topic-relevant sentences for precision drift detection.</a:t>
              </a:r>
              <a:endParaRPr b="0" i="0" sz="1045" u="none" cap="none" strike="noStrike">
                <a:solidFill>
                  <a:srgbClr val="443728"/>
                </a:solidFill>
                <a:latin typeface="Open Sans"/>
                <a:ea typeface="Open Sans"/>
                <a:cs typeface="Open Sans"/>
                <a:sym typeface="Open San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2">
                                  <p:stCondLst>
                                    <p:cond delay="0"/>
                                  </p:stCondLst>
                                  <p:childTnLst>
                                    <p:set>
                                      <p:cBhvr>
                                        <p:cTn dur="1" fill="hold">
                                          <p:stCondLst>
                                            <p:cond delay="0"/>
                                          </p:stCondLst>
                                        </p:cTn>
                                        <p:tgtEl>
                                          <p:spTgt spid="236"/>
                                        </p:tgtEl>
                                        <p:attrNameLst>
                                          <p:attrName>style.visibility</p:attrName>
                                        </p:attrNameLst>
                                      </p:cBhvr>
                                      <p:to>
                                        <p:strVal val="visible"/>
                                      </p:to>
                                    </p:set>
                                    <p:anim calcmode="lin" valueType="num">
                                      <p:cBhvr additive="base">
                                        <p:cTn dur="1000"/>
                                        <p:tgtEl>
                                          <p:spTgt spid="23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24"/>
                                        </p:tgtEl>
                                        <p:attrNameLst>
                                          <p:attrName>style.visibility</p:attrName>
                                        </p:attrNameLst>
                                      </p:cBhvr>
                                      <p:to>
                                        <p:strVal val="visible"/>
                                      </p:to>
                                    </p:set>
                                    <p:anim calcmode="lin" valueType="num">
                                      <p:cBhvr additive="base">
                                        <p:cTn dur="700"/>
                                        <p:tgtEl>
                                          <p:spTgt spid="22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28"/>
                                        </p:tgtEl>
                                        <p:attrNameLst>
                                          <p:attrName>style.visibility</p:attrName>
                                        </p:attrNameLst>
                                      </p:cBhvr>
                                      <p:to>
                                        <p:strVal val="visible"/>
                                      </p:to>
                                    </p:set>
                                    <p:anim calcmode="lin" valueType="num">
                                      <p:cBhvr additive="base">
                                        <p:cTn dur="1000"/>
                                        <p:tgtEl>
                                          <p:spTgt spid="22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2"/>
                                        </p:tgtEl>
                                        <p:attrNameLst>
                                          <p:attrName>style.visibility</p:attrName>
                                        </p:attrNameLst>
                                      </p:cBhvr>
                                      <p:to>
                                        <p:strVal val="visible"/>
                                      </p:to>
                                    </p:set>
                                    <p:anim calcmode="lin" valueType="num">
                                      <p:cBhvr additive="base">
                                        <p:cTn dur="1000"/>
                                        <p:tgtEl>
                                          <p:spTgt spid="232"/>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4"/>
          <p:cNvSpPr/>
          <p:nvPr/>
        </p:nvSpPr>
        <p:spPr>
          <a:xfrm>
            <a:off x="227450" y="167000"/>
            <a:ext cx="8638500" cy="3981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443728"/>
              </a:buClr>
              <a:buSzPts val="2495"/>
              <a:buFont typeface="Crimson Pro"/>
              <a:buNone/>
            </a:pPr>
            <a:r>
              <a:rPr b="1" i="0" lang="en-GB" sz="2495" u="none" cap="none" strike="noStrike">
                <a:solidFill>
                  <a:srgbClr val="443728"/>
                </a:solidFill>
              </a:rPr>
              <a:t>Limitations of </a:t>
            </a:r>
            <a:r>
              <a:rPr b="1" lang="en-GB" sz="2611">
                <a:solidFill>
                  <a:srgbClr val="443728"/>
                </a:solidFill>
              </a:rPr>
              <a:t>K-Means Clustering Approach</a:t>
            </a:r>
            <a:endParaRPr i="0" sz="2495" u="none" cap="none" strike="noStrike">
              <a:solidFill>
                <a:srgbClr val="000000"/>
              </a:solidFill>
            </a:endParaRPr>
          </a:p>
        </p:txBody>
      </p:sp>
      <p:grpSp>
        <p:nvGrpSpPr>
          <p:cNvPr id="245" name="Google Shape;245;p34"/>
          <p:cNvGrpSpPr/>
          <p:nvPr/>
        </p:nvGrpSpPr>
        <p:grpSpPr>
          <a:xfrm>
            <a:off x="576800" y="1079527"/>
            <a:ext cx="5519171" cy="2629140"/>
            <a:chOff x="576800" y="773700"/>
            <a:chExt cx="5516965" cy="3794400"/>
          </a:xfrm>
        </p:grpSpPr>
        <p:sp>
          <p:nvSpPr>
            <p:cNvPr id="246" name="Google Shape;246;p34"/>
            <p:cNvSpPr/>
            <p:nvPr/>
          </p:nvSpPr>
          <p:spPr>
            <a:xfrm>
              <a:off x="629265" y="773700"/>
              <a:ext cx="5464500" cy="3794400"/>
            </a:xfrm>
            <a:prstGeom prst="roundRect">
              <a:avLst>
                <a:gd fmla="val 4702" name="adj"/>
              </a:avLst>
            </a:prstGeom>
            <a:solidFill>
              <a:srgbClr val="EBE2E0"/>
            </a:solidFill>
            <a:ln cap="flat" cmpd="sng" w="11575">
              <a:solidFill>
                <a:srgbClr val="D1C8C6"/>
              </a:solidFill>
              <a:prstDash val="solid"/>
              <a:round/>
              <a:headEnd len="sm" w="sm" type="none"/>
              <a:tailEnd len="sm" w="sm" type="none"/>
            </a:ln>
          </p:spPr>
          <p:txBody>
            <a:bodyPr anchorCtr="0" anchor="ctr" bIns="72425" lIns="72425" spcFirstLastPara="1" rIns="72425" wrap="square" tIns="72425">
              <a:noAutofit/>
            </a:bodyPr>
            <a:lstStyle/>
            <a:p>
              <a:pPr indent="0" lvl="0" marL="0" marR="0" rtl="0" algn="l">
                <a:lnSpc>
                  <a:spcPct val="100000"/>
                </a:lnSpc>
                <a:spcBef>
                  <a:spcPts val="0"/>
                </a:spcBef>
                <a:spcAft>
                  <a:spcPts val="0"/>
                </a:spcAft>
                <a:buClr>
                  <a:srgbClr val="000000"/>
                </a:buClr>
                <a:buSzPts val="1701"/>
                <a:buFont typeface="Arial"/>
                <a:buNone/>
              </a:pPr>
              <a:r>
                <a:t/>
              </a:r>
              <a:endParaRPr b="0" i="0" sz="1701" u="none" cap="none" strike="noStrike">
                <a:solidFill>
                  <a:srgbClr val="000000"/>
                </a:solidFill>
                <a:latin typeface="Arial"/>
                <a:ea typeface="Arial"/>
                <a:cs typeface="Arial"/>
                <a:sym typeface="Arial"/>
              </a:endParaRPr>
            </a:p>
          </p:txBody>
        </p:sp>
        <p:sp>
          <p:nvSpPr>
            <p:cNvPr id="247" name="Google Shape;247;p34"/>
            <p:cNvSpPr/>
            <p:nvPr/>
          </p:nvSpPr>
          <p:spPr>
            <a:xfrm>
              <a:off x="576800" y="773700"/>
              <a:ext cx="107100" cy="3794400"/>
            </a:xfrm>
            <a:prstGeom prst="roundRect">
              <a:avLst>
                <a:gd fmla="val 0" name="adj"/>
              </a:avLst>
            </a:prstGeom>
            <a:solidFill>
              <a:srgbClr val="835E54"/>
            </a:solidFill>
            <a:ln>
              <a:noFill/>
            </a:ln>
          </p:spPr>
          <p:txBody>
            <a:bodyPr anchorCtr="0" anchor="ctr" bIns="77800" lIns="77800" spcFirstLastPara="1" rIns="77800" wrap="square" tIns="77800">
              <a:noAutofit/>
            </a:bodyPr>
            <a:lstStyle/>
            <a:p>
              <a:pPr indent="0" lvl="0" marL="0" marR="0" rtl="0" algn="l">
                <a:lnSpc>
                  <a:spcPct val="100000"/>
                </a:lnSpc>
                <a:spcBef>
                  <a:spcPts val="0"/>
                </a:spcBef>
                <a:spcAft>
                  <a:spcPts val="0"/>
                </a:spcAft>
                <a:buClr>
                  <a:srgbClr val="000000"/>
                </a:buClr>
                <a:buSzPts val="1701"/>
                <a:buFont typeface="Arial"/>
                <a:buNone/>
              </a:pPr>
              <a:r>
                <a:t/>
              </a:r>
              <a:endParaRPr b="0" i="0" sz="1701" u="none" cap="none" strike="noStrike">
                <a:solidFill>
                  <a:srgbClr val="000000"/>
                </a:solidFill>
                <a:latin typeface="Arial"/>
                <a:ea typeface="Arial"/>
                <a:cs typeface="Arial"/>
                <a:sym typeface="Arial"/>
              </a:endParaRPr>
            </a:p>
          </p:txBody>
        </p:sp>
      </p:grpSp>
      <p:grpSp>
        <p:nvGrpSpPr>
          <p:cNvPr id="248" name="Google Shape;248;p34"/>
          <p:cNvGrpSpPr/>
          <p:nvPr/>
        </p:nvGrpSpPr>
        <p:grpSpPr>
          <a:xfrm>
            <a:off x="821590" y="1304562"/>
            <a:ext cx="5245636" cy="2098652"/>
            <a:chOff x="821590" y="998698"/>
            <a:chExt cx="5245636" cy="2098652"/>
          </a:xfrm>
        </p:grpSpPr>
        <p:sp>
          <p:nvSpPr>
            <p:cNvPr id="249" name="Google Shape;249;p34"/>
            <p:cNvSpPr txBox="1"/>
            <p:nvPr/>
          </p:nvSpPr>
          <p:spPr>
            <a:xfrm>
              <a:off x="1043625" y="2131350"/>
              <a:ext cx="4873800" cy="966000"/>
            </a:xfrm>
            <a:prstGeom prst="rect">
              <a:avLst/>
            </a:prstGeom>
            <a:noFill/>
            <a:ln>
              <a:noFill/>
            </a:ln>
          </p:spPr>
          <p:txBody>
            <a:bodyPr anchorCtr="0" anchor="t" bIns="111000" lIns="111000" spcFirstLastPara="1" rIns="111000" wrap="square" tIns="111000">
              <a:spAutoFit/>
            </a:bodyPr>
            <a:lstStyle/>
            <a:p>
              <a:pPr indent="0" lvl="0" marL="0" rtl="0" algn="l">
                <a:lnSpc>
                  <a:spcPct val="124137"/>
                </a:lnSpc>
                <a:spcBef>
                  <a:spcPts val="0"/>
                </a:spcBef>
                <a:spcAft>
                  <a:spcPts val="0"/>
                </a:spcAft>
                <a:buNone/>
              </a:pPr>
              <a:r>
                <a:rPr b="1" lang="en-GB" sz="2150">
                  <a:solidFill>
                    <a:srgbClr val="443728"/>
                  </a:solidFill>
                </a:rPr>
                <a:t>Measures Topic Shift, Not Narrative shift</a:t>
              </a:r>
              <a:endParaRPr b="1" sz="2150">
                <a:solidFill>
                  <a:srgbClr val="443728"/>
                </a:solidFill>
              </a:endParaRPr>
            </a:p>
          </p:txBody>
        </p:sp>
        <p:pic>
          <p:nvPicPr>
            <p:cNvPr id="250" name="Google Shape;250;p34"/>
            <p:cNvPicPr preferRelativeResize="0"/>
            <p:nvPr/>
          </p:nvPicPr>
          <p:blipFill>
            <a:blip r:embed="rId3">
              <a:alphaModFix/>
            </a:blip>
            <a:stretch>
              <a:fillRect/>
            </a:stretch>
          </p:blipFill>
          <p:spPr>
            <a:xfrm>
              <a:off x="821590" y="2287408"/>
              <a:ext cx="255567" cy="219292"/>
            </a:xfrm>
            <a:prstGeom prst="rect">
              <a:avLst/>
            </a:prstGeom>
            <a:noFill/>
            <a:ln>
              <a:noFill/>
            </a:ln>
          </p:spPr>
        </p:pic>
        <p:grpSp>
          <p:nvGrpSpPr>
            <p:cNvPr id="251" name="Google Shape;251;p34"/>
            <p:cNvGrpSpPr/>
            <p:nvPr/>
          </p:nvGrpSpPr>
          <p:grpSpPr>
            <a:xfrm>
              <a:off x="821590" y="998698"/>
              <a:ext cx="4857623" cy="555300"/>
              <a:chOff x="821590" y="998698"/>
              <a:chExt cx="4857623" cy="555300"/>
            </a:xfrm>
          </p:grpSpPr>
          <p:pic>
            <p:nvPicPr>
              <p:cNvPr id="252" name="Google Shape;252;p34"/>
              <p:cNvPicPr preferRelativeResize="0"/>
              <p:nvPr/>
            </p:nvPicPr>
            <p:blipFill>
              <a:blip r:embed="rId3">
                <a:alphaModFix/>
              </a:blip>
              <a:stretch>
                <a:fillRect/>
              </a:stretch>
            </p:blipFill>
            <p:spPr>
              <a:xfrm>
                <a:off x="821590" y="1136393"/>
                <a:ext cx="255567" cy="219292"/>
              </a:xfrm>
              <a:prstGeom prst="rect">
                <a:avLst/>
              </a:prstGeom>
              <a:noFill/>
              <a:ln>
                <a:noFill/>
              </a:ln>
            </p:spPr>
          </p:pic>
          <p:sp>
            <p:nvSpPr>
              <p:cNvPr id="253" name="Google Shape;253;p34"/>
              <p:cNvSpPr txBox="1"/>
              <p:nvPr/>
            </p:nvSpPr>
            <p:spPr>
              <a:xfrm>
                <a:off x="1043614" y="998698"/>
                <a:ext cx="4635600" cy="555300"/>
              </a:xfrm>
              <a:prstGeom prst="rect">
                <a:avLst/>
              </a:prstGeom>
              <a:noFill/>
              <a:ln>
                <a:noFill/>
              </a:ln>
            </p:spPr>
            <p:txBody>
              <a:bodyPr anchorCtr="0" anchor="t" bIns="111000" lIns="111000" spcFirstLastPara="1" rIns="111000" wrap="square" tIns="111000">
                <a:spAutoFit/>
              </a:bodyPr>
              <a:lstStyle/>
              <a:p>
                <a:pPr indent="0" lvl="0" marL="0" rtl="0" algn="l">
                  <a:lnSpc>
                    <a:spcPct val="124137"/>
                  </a:lnSpc>
                  <a:spcBef>
                    <a:spcPts val="0"/>
                  </a:spcBef>
                  <a:spcAft>
                    <a:spcPts val="0"/>
                  </a:spcAft>
                  <a:buNone/>
                </a:pPr>
                <a:r>
                  <a:rPr b="1" lang="en-GB" sz="2150">
                    <a:solidFill>
                      <a:srgbClr val="443728"/>
                    </a:solidFill>
                  </a:rPr>
                  <a:t>Fixed Cluster Count</a:t>
                </a:r>
                <a:endParaRPr b="1" sz="2150">
                  <a:solidFill>
                    <a:srgbClr val="443728"/>
                  </a:solidFill>
                </a:endParaRPr>
              </a:p>
            </p:txBody>
          </p:sp>
        </p:grpSp>
        <p:grpSp>
          <p:nvGrpSpPr>
            <p:cNvPr id="254" name="Google Shape;254;p34"/>
            <p:cNvGrpSpPr/>
            <p:nvPr/>
          </p:nvGrpSpPr>
          <p:grpSpPr>
            <a:xfrm>
              <a:off x="821590" y="1561725"/>
              <a:ext cx="5245636" cy="555300"/>
              <a:chOff x="821590" y="1561725"/>
              <a:chExt cx="5245636" cy="555300"/>
            </a:xfrm>
          </p:grpSpPr>
          <p:sp>
            <p:nvSpPr>
              <p:cNvPr id="255" name="Google Shape;255;p34"/>
              <p:cNvSpPr txBox="1"/>
              <p:nvPr/>
            </p:nvSpPr>
            <p:spPr>
              <a:xfrm>
                <a:off x="1043726" y="1561725"/>
                <a:ext cx="5023500" cy="555300"/>
              </a:xfrm>
              <a:prstGeom prst="rect">
                <a:avLst/>
              </a:prstGeom>
              <a:noFill/>
              <a:ln>
                <a:noFill/>
              </a:ln>
            </p:spPr>
            <p:txBody>
              <a:bodyPr anchorCtr="0" anchor="t" bIns="111000" lIns="111000" spcFirstLastPara="1" rIns="111000" wrap="square" tIns="111000">
                <a:spAutoFit/>
              </a:bodyPr>
              <a:lstStyle/>
              <a:p>
                <a:pPr indent="0" lvl="0" marL="0" rtl="0" algn="l">
                  <a:lnSpc>
                    <a:spcPct val="124137"/>
                  </a:lnSpc>
                  <a:spcBef>
                    <a:spcPts val="0"/>
                  </a:spcBef>
                  <a:spcAft>
                    <a:spcPts val="0"/>
                  </a:spcAft>
                  <a:buClr>
                    <a:srgbClr val="443728"/>
                  </a:buClr>
                  <a:buSzPts val="1247"/>
                  <a:buFont typeface="Crimson Pro"/>
                  <a:buNone/>
                </a:pPr>
                <a:r>
                  <a:rPr b="1" lang="en-GB" sz="2150">
                    <a:solidFill>
                      <a:srgbClr val="443728"/>
                    </a:solidFill>
                  </a:rPr>
                  <a:t>Only Consecutive Date Comparison</a:t>
                </a:r>
                <a:endParaRPr sz="2150">
                  <a:solidFill>
                    <a:schemeClr val="dk2"/>
                  </a:solidFill>
                </a:endParaRPr>
              </a:p>
            </p:txBody>
          </p:sp>
          <p:pic>
            <p:nvPicPr>
              <p:cNvPr id="256" name="Google Shape;256;p34"/>
              <p:cNvPicPr preferRelativeResize="0"/>
              <p:nvPr/>
            </p:nvPicPr>
            <p:blipFill>
              <a:blip r:embed="rId3">
                <a:alphaModFix/>
              </a:blip>
              <a:stretch>
                <a:fillRect/>
              </a:stretch>
            </p:blipFill>
            <p:spPr>
              <a:xfrm>
                <a:off x="821590" y="1702713"/>
                <a:ext cx="255567" cy="219292"/>
              </a:xfrm>
              <a:prstGeom prst="rect">
                <a:avLst/>
              </a:prstGeom>
              <a:noFill/>
              <a:ln>
                <a:noFill/>
              </a:ln>
            </p:spPr>
          </p:pic>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1000"/>
                                        <p:tgtEl>
                                          <p:spTgt spid="24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48"/>
                                        </p:tgtEl>
                                        <p:attrNameLst>
                                          <p:attrName>style.visibility</p:attrName>
                                        </p:attrNameLst>
                                      </p:cBhvr>
                                      <p:to>
                                        <p:strVal val="visible"/>
                                      </p:to>
                                    </p:set>
                                    <p:animEffect filter="fade" transition="in">
                                      <p:cBhvr>
                                        <p:cTn dur="1000"/>
                                        <p:tgtEl>
                                          <p:spTgt spid="2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5"/>
          <p:cNvSpPr/>
          <p:nvPr/>
        </p:nvSpPr>
        <p:spPr>
          <a:xfrm>
            <a:off x="580619" y="240025"/>
            <a:ext cx="4216500" cy="484500"/>
          </a:xfrm>
          <a:prstGeom prst="rect">
            <a:avLst/>
          </a:prstGeom>
          <a:noFill/>
          <a:ln>
            <a:noFill/>
          </a:ln>
        </p:spPr>
        <p:txBody>
          <a:bodyPr anchorCtr="0" anchor="t" bIns="0" lIns="0" spcFirstLastPara="1" rIns="0" wrap="square" tIns="0">
            <a:noAutofit/>
          </a:bodyPr>
          <a:lstStyle/>
          <a:p>
            <a:pPr indent="0" lvl="0" marL="0" marR="0" rtl="0" algn="l">
              <a:lnSpc>
                <a:spcPct val="124657"/>
              </a:lnSpc>
              <a:spcBef>
                <a:spcPts val="0"/>
              </a:spcBef>
              <a:spcAft>
                <a:spcPts val="0"/>
              </a:spcAft>
              <a:buClr>
                <a:srgbClr val="443728"/>
              </a:buClr>
              <a:buSzPts val="3037"/>
              <a:buFont typeface="Crimson Pro"/>
              <a:buNone/>
            </a:pPr>
            <a:r>
              <a:rPr b="1" i="0" lang="en-GB" sz="2537" u="none" cap="none" strike="noStrike">
                <a:solidFill>
                  <a:srgbClr val="443728"/>
                </a:solidFill>
              </a:rPr>
              <a:t>SBERT Baseline Approach</a:t>
            </a:r>
            <a:endParaRPr i="0" sz="2537" u="none" cap="none" strike="noStrike">
              <a:solidFill>
                <a:srgbClr val="000000"/>
              </a:solidFill>
            </a:endParaRPr>
          </a:p>
        </p:txBody>
      </p:sp>
      <p:grpSp>
        <p:nvGrpSpPr>
          <p:cNvPr id="262" name="Google Shape;262;p35"/>
          <p:cNvGrpSpPr/>
          <p:nvPr/>
        </p:nvGrpSpPr>
        <p:grpSpPr>
          <a:xfrm>
            <a:off x="561600" y="1285325"/>
            <a:ext cx="8216825" cy="1119010"/>
            <a:chOff x="561600" y="1285325"/>
            <a:chExt cx="8216825" cy="1119010"/>
          </a:xfrm>
        </p:grpSpPr>
        <p:sp>
          <p:nvSpPr>
            <p:cNvPr id="263" name="Google Shape;263;p35"/>
            <p:cNvSpPr/>
            <p:nvPr/>
          </p:nvSpPr>
          <p:spPr>
            <a:xfrm>
              <a:off x="580625" y="1285325"/>
              <a:ext cx="8197800" cy="1119000"/>
            </a:xfrm>
            <a:prstGeom prst="roundRect">
              <a:avLst>
                <a:gd fmla="val 8159" name="adj"/>
              </a:avLst>
            </a:prstGeom>
            <a:solidFill>
              <a:srgbClr val="FFFCFA"/>
            </a:solidFill>
            <a:ln cap="flat" cmpd="sng" w="18975">
              <a:solidFill>
                <a:srgbClr val="D1C8C6"/>
              </a:solidFill>
              <a:prstDash val="solid"/>
              <a:round/>
              <a:headEnd len="sm" w="sm" type="none"/>
              <a:tailEnd len="sm" w="sm" type="none"/>
            </a:ln>
          </p:spPr>
          <p:txBody>
            <a:bodyPr anchorCtr="0" anchor="ctr" bIns="76075" lIns="76075" spcFirstLastPara="1" rIns="76075" wrap="square" tIns="760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35"/>
            <p:cNvSpPr/>
            <p:nvPr/>
          </p:nvSpPr>
          <p:spPr>
            <a:xfrm>
              <a:off x="561600" y="1285335"/>
              <a:ext cx="76500" cy="1119000"/>
            </a:xfrm>
            <a:prstGeom prst="roundRect">
              <a:avLst>
                <a:gd fmla="val 85632" name="adj"/>
              </a:avLst>
            </a:prstGeom>
            <a:solidFill>
              <a:srgbClr val="835E54"/>
            </a:solidFill>
            <a:ln>
              <a:noFill/>
            </a:ln>
          </p:spPr>
          <p:txBody>
            <a:bodyPr anchorCtr="0" anchor="ctr" bIns="76075" lIns="76075" spcFirstLastPara="1" rIns="76075" wrap="square" tIns="760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35"/>
            <p:cNvSpPr/>
            <p:nvPr/>
          </p:nvSpPr>
          <p:spPr>
            <a:xfrm>
              <a:off x="811722" y="1390550"/>
              <a:ext cx="2634900" cy="242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43728"/>
                </a:buClr>
                <a:buSzPts val="1498"/>
                <a:buFont typeface="Crimson Pro"/>
                <a:buNone/>
              </a:pPr>
              <a:r>
                <a:rPr b="1" i="0" lang="en-GB" sz="1498" u="none" cap="none" strike="noStrike">
                  <a:solidFill>
                    <a:srgbClr val="443728"/>
                  </a:solidFill>
                </a:rPr>
                <a:t>Semantic Embeddings</a:t>
              </a:r>
              <a:endParaRPr i="0" sz="1498" u="none" cap="none" strike="noStrike">
                <a:solidFill>
                  <a:srgbClr val="000000"/>
                </a:solidFill>
              </a:endParaRPr>
            </a:p>
          </p:txBody>
        </p:sp>
        <p:sp>
          <p:nvSpPr>
            <p:cNvPr id="266" name="Google Shape;266;p35"/>
            <p:cNvSpPr/>
            <p:nvPr/>
          </p:nvSpPr>
          <p:spPr>
            <a:xfrm>
              <a:off x="628800" y="1688488"/>
              <a:ext cx="7886400" cy="484500"/>
            </a:xfrm>
            <a:prstGeom prst="rect">
              <a:avLst/>
            </a:prstGeom>
            <a:noFill/>
            <a:ln>
              <a:noFill/>
            </a:ln>
          </p:spPr>
          <p:txBody>
            <a:bodyPr anchorCtr="0" anchor="t" bIns="0" lIns="0" spcFirstLastPara="1" rIns="0" wrap="square" tIns="0">
              <a:noAutofit/>
            </a:bodyPr>
            <a:lstStyle/>
            <a:p>
              <a:pPr indent="-298450" lvl="0" marL="457200" marR="0" rtl="0" algn="l">
                <a:lnSpc>
                  <a:spcPct val="144827"/>
                </a:lnSpc>
                <a:spcBef>
                  <a:spcPts val="0"/>
                </a:spcBef>
                <a:spcAft>
                  <a:spcPts val="0"/>
                </a:spcAft>
                <a:buClr>
                  <a:schemeClr val="dk1"/>
                </a:buClr>
                <a:buSzPts val="1100"/>
                <a:buChar char="●"/>
              </a:pPr>
              <a:r>
                <a:rPr lang="en-GB" sz="1100">
                  <a:solidFill>
                    <a:schemeClr val="dk1"/>
                  </a:solidFill>
                </a:rPr>
                <a:t>G</a:t>
              </a:r>
              <a:r>
                <a:rPr i="0" lang="en-GB" sz="1100" u="none" cap="none" strike="noStrike">
                  <a:solidFill>
                    <a:schemeClr val="dk1"/>
                  </a:solidFill>
                </a:rPr>
                <a:t>enerates </a:t>
              </a:r>
              <a:r>
                <a:rPr b="1" i="0" lang="en-GB" sz="1100" u="none" cap="none" strike="noStrike">
                  <a:solidFill>
                    <a:schemeClr val="dk1"/>
                  </a:solidFill>
                </a:rPr>
                <a:t>context-aware, dense vector representations (768-D)</a:t>
              </a:r>
              <a:r>
                <a:rPr i="0" lang="en-GB" sz="1100" u="none" cap="none" strike="noStrike">
                  <a:solidFill>
                    <a:schemeClr val="dk1"/>
                  </a:solidFill>
                </a:rPr>
                <a:t> for each sentence, capturing semantic. </a:t>
              </a:r>
              <a:endParaRPr i="0" sz="1100" u="none" cap="none" strike="noStrike">
                <a:solidFill>
                  <a:schemeClr val="dk1"/>
                </a:solidFill>
              </a:endParaRPr>
            </a:p>
            <a:p>
              <a:pPr indent="-298450" lvl="0" marL="457200" marR="0" rtl="0" algn="l">
                <a:lnSpc>
                  <a:spcPct val="144827"/>
                </a:lnSpc>
                <a:spcBef>
                  <a:spcPts val="0"/>
                </a:spcBef>
                <a:spcAft>
                  <a:spcPts val="0"/>
                </a:spcAft>
                <a:buClr>
                  <a:schemeClr val="dk1"/>
                </a:buClr>
                <a:buSzPts val="1100"/>
                <a:buChar char="●"/>
              </a:pPr>
              <a:r>
                <a:rPr lang="en-GB" sz="1100">
                  <a:solidFill>
                    <a:schemeClr val="dk1"/>
                  </a:solidFill>
                </a:rPr>
                <a:t>Contextual</a:t>
              </a:r>
              <a:r>
                <a:rPr i="0" lang="en-GB" sz="1100" u="none" cap="none" strike="noStrike">
                  <a:solidFill>
                    <a:schemeClr val="dk1"/>
                  </a:solidFill>
                </a:rPr>
                <a:t> windows (e.g., w1, w3, w5) </a:t>
              </a:r>
              <a:r>
                <a:rPr lang="en-GB" sz="1100">
                  <a:solidFill>
                    <a:schemeClr val="dk1"/>
                  </a:solidFill>
                </a:rPr>
                <a:t>u</a:t>
              </a:r>
              <a:r>
                <a:rPr i="0" lang="en-GB" sz="1100" u="none" cap="none" strike="noStrike">
                  <a:solidFill>
                    <a:schemeClr val="dk1"/>
                  </a:solidFill>
                </a:rPr>
                <a:t>sed to incorporate surrounding sentences, improving representation of narrative flow.</a:t>
              </a:r>
              <a:endParaRPr i="0" sz="1100" u="none" cap="none" strike="noStrike">
                <a:solidFill>
                  <a:srgbClr val="000000"/>
                </a:solidFill>
              </a:endParaRPr>
            </a:p>
          </p:txBody>
        </p:sp>
      </p:grpSp>
      <p:grpSp>
        <p:nvGrpSpPr>
          <p:cNvPr id="267" name="Google Shape;267;p35"/>
          <p:cNvGrpSpPr/>
          <p:nvPr/>
        </p:nvGrpSpPr>
        <p:grpSpPr>
          <a:xfrm>
            <a:off x="561600" y="2531749"/>
            <a:ext cx="8216827" cy="941406"/>
            <a:chOff x="561600" y="2531749"/>
            <a:chExt cx="8216827" cy="941406"/>
          </a:xfrm>
        </p:grpSpPr>
        <p:sp>
          <p:nvSpPr>
            <p:cNvPr id="268" name="Google Shape;268;p35"/>
            <p:cNvSpPr/>
            <p:nvPr/>
          </p:nvSpPr>
          <p:spPr>
            <a:xfrm>
              <a:off x="580627" y="2531755"/>
              <a:ext cx="8197800" cy="941400"/>
            </a:xfrm>
            <a:prstGeom prst="roundRect">
              <a:avLst>
                <a:gd fmla="val 8159" name="adj"/>
              </a:avLst>
            </a:prstGeom>
            <a:solidFill>
              <a:srgbClr val="FFFCFA"/>
            </a:solidFill>
            <a:ln cap="flat" cmpd="sng" w="18975">
              <a:solidFill>
                <a:srgbClr val="D1C8C6"/>
              </a:solidFill>
              <a:prstDash val="solid"/>
              <a:round/>
              <a:headEnd len="sm" w="sm" type="none"/>
              <a:tailEnd len="sm" w="sm" type="none"/>
            </a:ln>
          </p:spPr>
          <p:txBody>
            <a:bodyPr anchorCtr="0" anchor="ctr" bIns="76075" lIns="76075" spcFirstLastPara="1" rIns="76075" wrap="square" tIns="760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35"/>
            <p:cNvSpPr/>
            <p:nvPr/>
          </p:nvSpPr>
          <p:spPr>
            <a:xfrm>
              <a:off x="561600" y="2531749"/>
              <a:ext cx="76500" cy="941400"/>
            </a:xfrm>
            <a:prstGeom prst="roundRect">
              <a:avLst>
                <a:gd fmla="val 85632" name="adj"/>
              </a:avLst>
            </a:prstGeom>
            <a:solidFill>
              <a:srgbClr val="835E54"/>
            </a:solidFill>
            <a:ln>
              <a:noFill/>
            </a:ln>
          </p:spPr>
          <p:txBody>
            <a:bodyPr anchorCtr="0" anchor="ctr" bIns="76075" lIns="76075" spcFirstLastPara="1" rIns="76075" wrap="square" tIns="760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35"/>
            <p:cNvSpPr/>
            <p:nvPr/>
          </p:nvSpPr>
          <p:spPr>
            <a:xfrm>
              <a:off x="811722" y="2636950"/>
              <a:ext cx="2953200" cy="242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43728"/>
                </a:buClr>
                <a:buSzPts val="1498"/>
                <a:buFont typeface="Crimson Pro"/>
                <a:buNone/>
              </a:pPr>
              <a:r>
                <a:rPr b="1" i="0" lang="en-GB" sz="1498" u="none" cap="none" strike="noStrike">
                  <a:solidFill>
                    <a:srgbClr val="443728"/>
                  </a:solidFill>
                </a:rPr>
                <a:t>Similarity Measurement</a:t>
              </a:r>
              <a:endParaRPr i="0" sz="1498" u="none" cap="none" strike="noStrike">
                <a:solidFill>
                  <a:srgbClr val="000000"/>
                </a:solidFill>
              </a:endParaRPr>
            </a:p>
          </p:txBody>
        </p:sp>
        <p:sp>
          <p:nvSpPr>
            <p:cNvPr id="271" name="Google Shape;271;p35"/>
            <p:cNvSpPr/>
            <p:nvPr/>
          </p:nvSpPr>
          <p:spPr>
            <a:xfrm>
              <a:off x="628798" y="2921300"/>
              <a:ext cx="7817700" cy="452100"/>
            </a:xfrm>
            <a:prstGeom prst="rect">
              <a:avLst/>
            </a:prstGeom>
            <a:noFill/>
            <a:ln>
              <a:noFill/>
            </a:ln>
          </p:spPr>
          <p:txBody>
            <a:bodyPr anchorCtr="0" anchor="t" bIns="0" lIns="0" spcFirstLastPara="1" rIns="0" wrap="square" tIns="0">
              <a:noAutofit/>
            </a:bodyPr>
            <a:lstStyle/>
            <a:p>
              <a:pPr indent="-298450" lvl="0" marL="457200" marR="0" rtl="0" algn="l">
                <a:lnSpc>
                  <a:spcPct val="144827"/>
                </a:lnSpc>
                <a:spcBef>
                  <a:spcPts val="0"/>
                </a:spcBef>
                <a:spcAft>
                  <a:spcPts val="0"/>
                </a:spcAft>
                <a:buClr>
                  <a:schemeClr val="dk1"/>
                </a:buClr>
                <a:buSzPts val="1100"/>
                <a:buChar char="●"/>
              </a:pPr>
              <a:r>
                <a:rPr lang="en-GB" sz="1100">
                  <a:solidFill>
                    <a:schemeClr val="dk1"/>
                  </a:solidFill>
                </a:rPr>
                <a:t>C</a:t>
              </a:r>
              <a:r>
                <a:rPr b="0" i="0" lang="en-GB" sz="1100" u="none" cap="none" strike="noStrike">
                  <a:solidFill>
                    <a:schemeClr val="dk1"/>
                  </a:solidFill>
                  <a:latin typeface="Arial"/>
                  <a:ea typeface="Arial"/>
                  <a:cs typeface="Arial"/>
                  <a:sym typeface="Arial"/>
                </a:rPr>
                <a:t>omputed using </a:t>
              </a:r>
              <a:r>
                <a:rPr b="1" i="0" lang="en-GB" sz="1100" u="none" cap="none" strike="noStrike">
                  <a:solidFill>
                    <a:schemeClr val="dk1"/>
                  </a:solidFill>
                  <a:latin typeface="Arial"/>
                  <a:ea typeface="Arial"/>
                  <a:cs typeface="Arial"/>
                  <a:sym typeface="Arial"/>
                </a:rPr>
                <a:t>cosine similarity between sentence or window embeddings</a:t>
              </a:r>
              <a:r>
                <a:rPr b="0" i="0" lang="en-GB" sz="1100" u="none" cap="none" strike="noStrike">
                  <a:solidFill>
                    <a:schemeClr val="dk1"/>
                  </a:solidFill>
                  <a:latin typeface="Arial"/>
                  <a:ea typeface="Arial"/>
                  <a:cs typeface="Arial"/>
                  <a:sym typeface="Arial"/>
                </a:rPr>
                <a:t>, enabling comparison across time. </a:t>
              </a:r>
              <a:endParaRPr b="0" i="0" sz="1100" u="none" cap="none" strike="noStrike">
                <a:solidFill>
                  <a:schemeClr val="dk1"/>
                </a:solidFill>
                <a:latin typeface="Arial"/>
                <a:ea typeface="Arial"/>
                <a:cs typeface="Arial"/>
                <a:sym typeface="Arial"/>
              </a:endParaRPr>
            </a:p>
            <a:p>
              <a:pPr indent="-298450" lvl="0" marL="457200" marR="0" rtl="0" algn="l">
                <a:lnSpc>
                  <a:spcPct val="144827"/>
                </a:lnSpc>
                <a:spcBef>
                  <a:spcPts val="0"/>
                </a:spcBef>
                <a:spcAft>
                  <a:spcPts val="0"/>
                </a:spcAft>
                <a:buClr>
                  <a:schemeClr val="dk1"/>
                </a:buClr>
                <a:buSzPts val="1100"/>
                <a:buChar char="●"/>
              </a:pPr>
              <a:r>
                <a:rPr lang="en-GB" sz="1100">
                  <a:solidFill>
                    <a:schemeClr val="dk1"/>
                  </a:solidFill>
                </a:rPr>
                <a:t>Changes in similarity reflect semantic drift, indicating how narrative meaning and framing evolve in embedding space.</a:t>
              </a:r>
              <a:endParaRPr b="0" i="0" sz="1206" u="none" cap="none" strike="noStrike">
                <a:solidFill>
                  <a:srgbClr val="000000"/>
                </a:solidFill>
                <a:latin typeface="Arial"/>
                <a:ea typeface="Arial"/>
                <a:cs typeface="Arial"/>
                <a:sym typeface="Arial"/>
              </a:endParaRPr>
            </a:p>
          </p:txBody>
        </p:sp>
      </p:grpSp>
      <p:grpSp>
        <p:nvGrpSpPr>
          <p:cNvPr id="272" name="Google Shape;272;p35"/>
          <p:cNvGrpSpPr/>
          <p:nvPr/>
        </p:nvGrpSpPr>
        <p:grpSpPr>
          <a:xfrm>
            <a:off x="571112" y="3600568"/>
            <a:ext cx="8216827" cy="1119007"/>
            <a:chOff x="571112" y="3600568"/>
            <a:chExt cx="8216827" cy="1119007"/>
          </a:xfrm>
        </p:grpSpPr>
        <p:sp>
          <p:nvSpPr>
            <p:cNvPr id="273" name="Google Shape;273;p35"/>
            <p:cNvSpPr/>
            <p:nvPr/>
          </p:nvSpPr>
          <p:spPr>
            <a:xfrm>
              <a:off x="590139" y="3600575"/>
              <a:ext cx="8197800" cy="1119000"/>
            </a:xfrm>
            <a:prstGeom prst="roundRect">
              <a:avLst>
                <a:gd fmla="val 8159" name="adj"/>
              </a:avLst>
            </a:prstGeom>
            <a:solidFill>
              <a:srgbClr val="FFFCFA"/>
            </a:solidFill>
            <a:ln cap="flat" cmpd="sng" w="18975">
              <a:solidFill>
                <a:srgbClr val="D1C8C6"/>
              </a:solidFill>
              <a:prstDash val="solid"/>
              <a:round/>
              <a:headEnd len="sm" w="sm" type="none"/>
              <a:tailEnd len="sm" w="sm" type="none"/>
            </a:ln>
          </p:spPr>
          <p:txBody>
            <a:bodyPr anchorCtr="0" anchor="ctr" bIns="76075" lIns="76075" spcFirstLastPara="1" rIns="76075" wrap="square" tIns="760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35"/>
            <p:cNvSpPr/>
            <p:nvPr/>
          </p:nvSpPr>
          <p:spPr>
            <a:xfrm>
              <a:off x="571112" y="3600568"/>
              <a:ext cx="76500" cy="1119000"/>
            </a:xfrm>
            <a:prstGeom prst="roundRect">
              <a:avLst>
                <a:gd fmla="val 85632" name="adj"/>
              </a:avLst>
            </a:prstGeom>
            <a:solidFill>
              <a:srgbClr val="835E54"/>
            </a:solidFill>
            <a:ln>
              <a:noFill/>
            </a:ln>
          </p:spPr>
          <p:txBody>
            <a:bodyPr anchorCtr="0" anchor="ctr" bIns="76075" lIns="76075" spcFirstLastPara="1" rIns="76075" wrap="square" tIns="760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35"/>
            <p:cNvSpPr/>
            <p:nvPr/>
          </p:nvSpPr>
          <p:spPr>
            <a:xfrm>
              <a:off x="811732" y="3712778"/>
              <a:ext cx="1938900" cy="242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43728"/>
                </a:buClr>
                <a:buSzPts val="1498"/>
                <a:buFont typeface="Crimson Pro"/>
                <a:buNone/>
              </a:pPr>
              <a:r>
                <a:rPr b="1" i="0" lang="en-GB" sz="1498" u="none" cap="none" strike="noStrike">
                  <a:solidFill>
                    <a:srgbClr val="443728"/>
                  </a:solidFill>
                </a:rPr>
                <a:t>Shift Detection</a:t>
              </a:r>
              <a:endParaRPr i="0" sz="1498" u="none" cap="none" strike="noStrike">
                <a:solidFill>
                  <a:srgbClr val="000000"/>
                </a:solidFill>
              </a:endParaRPr>
            </a:p>
          </p:txBody>
        </p:sp>
        <p:sp>
          <p:nvSpPr>
            <p:cNvPr id="276" name="Google Shape;276;p35"/>
            <p:cNvSpPr/>
            <p:nvPr/>
          </p:nvSpPr>
          <p:spPr>
            <a:xfrm>
              <a:off x="628798" y="4053225"/>
              <a:ext cx="7817700" cy="452100"/>
            </a:xfrm>
            <a:prstGeom prst="rect">
              <a:avLst/>
            </a:prstGeom>
            <a:noFill/>
            <a:ln>
              <a:noFill/>
            </a:ln>
          </p:spPr>
          <p:txBody>
            <a:bodyPr anchorCtr="0" anchor="t" bIns="0" lIns="0" spcFirstLastPara="1" rIns="0" wrap="square" tIns="0">
              <a:noAutofit/>
            </a:bodyPr>
            <a:lstStyle/>
            <a:p>
              <a:pPr indent="-298450" lvl="0" marL="457200" marR="0" rtl="0" algn="l">
                <a:lnSpc>
                  <a:spcPct val="144827"/>
                </a:lnSpc>
                <a:spcBef>
                  <a:spcPts val="0"/>
                </a:spcBef>
                <a:spcAft>
                  <a:spcPts val="0"/>
                </a:spcAft>
                <a:buClr>
                  <a:schemeClr val="dk1"/>
                </a:buClr>
                <a:buSzPts val="1100"/>
                <a:buFont typeface="Arial"/>
                <a:buChar char="●"/>
              </a:pPr>
              <a:r>
                <a:rPr lang="en-GB" sz="1100">
                  <a:solidFill>
                    <a:schemeClr val="dk1"/>
                  </a:solidFill>
                </a:rPr>
                <a:t>D</a:t>
              </a:r>
              <a:r>
                <a:rPr b="0" i="0" lang="en-GB" sz="1100" u="none" cap="none" strike="noStrike">
                  <a:solidFill>
                    <a:schemeClr val="dk1"/>
                  </a:solidFill>
                  <a:latin typeface="Arial"/>
                  <a:ea typeface="Arial"/>
                  <a:cs typeface="Arial"/>
                  <a:sym typeface="Arial"/>
                </a:rPr>
                <a:t>etected by m</a:t>
              </a:r>
              <a:r>
                <a:rPr b="0" i="0" lang="en-GB" sz="1100" u="none" cap="none" strike="noStrike">
                  <a:solidFill>
                    <a:schemeClr val="dk1"/>
                  </a:solidFill>
                  <a:latin typeface="Arial"/>
                  <a:ea typeface="Arial"/>
                  <a:cs typeface="Arial"/>
                  <a:sym typeface="Arial"/>
                </a:rPr>
                <a:t>easur</a:t>
              </a:r>
              <a:r>
                <a:rPr b="0" i="0" lang="en-GB" sz="1100" u="none" cap="none" strike="noStrike">
                  <a:solidFill>
                    <a:schemeClr val="dk1"/>
                  </a:solidFill>
                  <a:latin typeface="Arial"/>
                  <a:ea typeface="Arial"/>
                  <a:cs typeface="Arial"/>
                  <a:sym typeface="Arial"/>
                </a:rPr>
                <a:t>ing</a:t>
              </a:r>
              <a:r>
                <a:rPr b="0" i="0" lang="en-GB" sz="1100" u="none" cap="none" strike="noStrike">
                  <a:solidFill>
                    <a:schemeClr val="dk1"/>
                  </a:solidFill>
                  <a:latin typeface="Arial"/>
                  <a:ea typeface="Arial"/>
                  <a:cs typeface="Arial"/>
                  <a:sym typeface="Arial"/>
                </a:rPr>
                <a:t> </a:t>
              </a:r>
              <a:r>
                <a:rPr b="1" i="0" lang="en-GB" sz="1100" u="none" cap="none" strike="noStrike">
                  <a:solidFill>
                    <a:schemeClr val="dk1"/>
                  </a:solidFill>
                  <a:latin typeface="Arial"/>
                  <a:ea typeface="Arial"/>
                  <a:cs typeface="Arial"/>
                  <a:sym typeface="Arial"/>
                </a:rPr>
                <a:t>embedding drift between consecutive time windows</a:t>
              </a:r>
              <a:r>
                <a:rPr b="0" i="0" lang="en-GB" sz="1100" u="none" cap="none" strike="noStrike">
                  <a:solidFill>
                    <a:schemeClr val="dk1"/>
                  </a:solidFill>
                  <a:latin typeface="Arial"/>
                  <a:ea typeface="Arial"/>
                  <a:cs typeface="Arial"/>
                  <a:sym typeface="Arial"/>
                </a:rPr>
                <a:t>. </a:t>
              </a:r>
              <a:endParaRPr b="0" i="0" sz="1100" u="none" cap="none" strike="noStrike">
                <a:solidFill>
                  <a:schemeClr val="dk1"/>
                </a:solidFill>
                <a:latin typeface="Arial"/>
                <a:ea typeface="Arial"/>
                <a:cs typeface="Arial"/>
                <a:sym typeface="Arial"/>
              </a:endParaRPr>
            </a:p>
            <a:p>
              <a:pPr indent="-298450" lvl="0" marL="457200" marR="0" rtl="0" algn="l">
                <a:lnSpc>
                  <a:spcPct val="144827"/>
                </a:lnSpc>
                <a:spcBef>
                  <a:spcPts val="0"/>
                </a:spcBef>
                <a:spcAft>
                  <a:spcPts val="0"/>
                </a:spcAft>
                <a:buClr>
                  <a:schemeClr val="dk1"/>
                </a:buClr>
                <a:buSzPts val="1100"/>
                <a:buFont typeface="Arial"/>
                <a:buChar char="●"/>
              </a:pPr>
              <a:r>
                <a:rPr b="0" i="0" lang="en-GB" sz="1100" u="none" cap="none" strike="noStrike">
                  <a:solidFill>
                    <a:schemeClr val="dk1"/>
                  </a:solidFill>
                  <a:latin typeface="Arial"/>
                  <a:ea typeface="Arial"/>
                  <a:cs typeface="Arial"/>
                  <a:sym typeface="Arial"/>
                </a:rPr>
                <a:t>Significant divergence (above calibrated thresholds) indicates a potential shift in narrative framing or interpretation.</a:t>
              </a:r>
              <a:endParaRPr b="0" i="0" sz="1206" u="none" cap="none" strike="noStrike">
                <a:solidFill>
                  <a:srgbClr val="443728"/>
                </a:solidFill>
                <a:latin typeface="Open Sans"/>
                <a:ea typeface="Open Sans"/>
                <a:cs typeface="Open Sans"/>
                <a:sym typeface="Open San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2">
                                  <p:stCondLst>
                                    <p:cond delay="0"/>
                                  </p:stCondLst>
                                  <p:childTnLst>
                                    <p:set>
                                      <p:cBhvr>
                                        <p:cTn dur="1" fill="hold">
                                          <p:stCondLst>
                                            <p:cond delay="0"/>
                                          </p:stCondLst>
                                        </p:cTn>
                                        <p:tgtEl>
                                          <p:spTgt spid="262"/>
                                        </p:tgtEl>
                                        <p:attrNameLst>
                                          <p:attrName>style.visibility</p:attrName>
                                        </p:attrNameLst>
                                      </p:cBhvr>
                                      <p:to>
                                        <p:strVal val="visible"/>
                                      </p:to>
                                    </p:set>
                                    <p:anim calcmode="lin" valueType="num">
                                      <p:cBhvr additive="base">
                                        <p:cTn dur="1000"/>
                                        <p:tgtEl>
                                          <p:spTgt spid="26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67"/>
                                        </p:tgtEl>
                                        <p:attrNameLst>
                                          <p:attrName>style.visibility</p:attrName>
                                        </p:attrNameLst>
                                      </p:cBhvr>
                                      <p:to>
                                        <p:strVal val="visible"/>
                                      </p:to>
                                    </p:set>
                                    <p:anim calcmode="lin" valueType="num">
                                      <p:cBhvr additive="base">
                                        <p:cTn dur="1000"/>
                                        <p:tgtEl>
                                          <p:spTgt spid="26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72"/>
                                        </p:tgtEl>
                                        <p:attrNameLst>
                                          <p:attrName>style.visibility</p:attrName>
                                        </p:attrNameLst>
                                      </p:cBhvr>
                                      <p:to>
                                        <p:strVal val="visible"/>
                                      </p:to>
                                    </p:set>
                                    <p:anim calcmode="lin" valueType="num">
                                      <p:cBhvr additive="base">
                                        <p:cTn dur="1000"/>
                                        <p:tgtEl>
                                          <p:spTgt spid="272"/>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6"/>
          <p:cNvSpPr/>
          <p:nvPr/>
        </p:nvSpPr>
        <p:spPr>
          <a:xfrm>
            <a:off x="498600" y="468275"/>
            <a:ext cx="5008800" cy="3981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443728"/>
              </a:buClr>
              <a:buSzPts val="2495"/>
              <a:buFont typeface="Crimson Pro"/>
              <a:buNone/>
            </a:pPr>
            <a:r>
              <a:rPr b="1" i="0" lang="en-GB" sz="2495" u="none" cap="none" strike="noStrike">
                <a:solidFill>
                  <a:srgbClr val="443728"/>
                </a:solidFill>
              </a:rPr>
              <a:t>Limitations of SBERT</a:t>
            </a:r>
            <a:endParaRPr i="0" sz="2495" u="none" cap="none" strike="noStrike">
              <a:solidFill>
                <a:srgbClr val="000000"/>
              </a:solidFill>
            </a:endParaRPr>
          </a:p>
        </p:txBody>
      </p:sp>
      <p:grpSp>
        <p:nvGrpSpPr>
          <p:cNvPr id="282" name="Google Shape;282;p36"/>
          <p:cNvGrpSpPr/>
          <p:nvPr/>
        </p:nvGrpSpPr>
        <p:grpSpPr>
          <a:xfrm>
            <a:off x="777175" y="1577871"/>
            <a:ext cx="6945175" cy="2218312"/>
            <a:chOff x="649113" y="1133425"/>
            <a:chExt cx="6945175" cy="2996100"/>
          </a:xfrm>
        </p:grpSpPr>
        <p:grpSp>
          <p:nvGrpSpPr>
            <p:cNvPr id="283" name="Google Shape;283;p36"/>
            <p:cNvGrpSpPr/>
            <p:nvPr/>
          </p:nvGrpSpPr>
          <p:grpSpPr>
            <a:xfrm>
              <a:off x="649113" y="1133425"/>
              <a:ext cx="6945175" cy="2996100"/>
              <a:chOff x="649113" y="1133425"/>
              <a:chExt cx="6945175" cy="2996100"/>
            </a:xfrm>
          </p:grpSpPr>
          <p:sp>
            <p:nvSpPr>
              <p:cNvPr id="284" name="Google Shape;284;p36"/>
              <p:cNvSpPr/>
              <p:nvPr/>
            </p:nvSpPr>
            <p:spPr>
              <a:xfrm>
                <a:off x="656788" y="1133425"/>
                <a:ext cx="6937500" cy="2996100"/>
              </a:xfrm>
              <a:prstGeom prst="roundRect">
                <a:avLst>
                  <a:gd fmla="val 4702" name="adj"/>
                </a:avLst>
              </a:prstGeom>
              <a:solidFill>
                <a:srgbClr val="EBE2E0"/>
              </a:solidFill>
              <a:ln cap="flat" cmpd="sng" w="14700">
                <a:solidFill>
                  <a:srgbClr val="D1C8C6"/>
                </a:solidFill>
                <a:prstDash val="solid"/>
                <a:round/>
                <a:headEnd len="sm" w="sm" type="none"/>
                <a:tailEnd len="sm" w="sm" type="none"/>
              </a:ln>
            </p:spPr>
            <p:txBody>
              <a:bodyPr anchorCtr="0" anchor="ctr" bIns="91925" lIns="91925" spcFirstLastPara="1" rIns="91925" wrap="square" tIns="91925">
                <a:noAutofit/>
              </a:bodyPr>
              <a:lstStyle/>
              <a:p>
                <a:pPr indent="0" lvl="0" marL="0" marR="0" rtl="0" algn="l">
                  <a:lnSpc>
                    <a:spcPct val="100000"/>
                  </a:lnSpc>
                  <a:spcBef>
                    <a:spcPts val="0"/>
                  </a:spcBef>
                  <a:spcAft>
                    <a:spcPts val="0"/>
                  </a:spcAft>
                  <a:buClr>
                    <a:srgbClr val="000000"/>
                  </a:buClr>
                  <a:buSzPts val="2158"/>
                  <a:buFont typeface="Arial"/>
                  <a:buNone/>
                </a:pPr>
                <a:r>
                  <a:t/>
                </a:r>
                <a:endParaRPr b="0" i="0" sz="2158" u="none" cap="none" strike="noStrike">
                  <a:solidFill>
                    <a:srgbClr val="000000"/>
                  </a:solidFill>
                  <a:latin typeface="Arial"/>
                  <a:ea typeface="Arial"/>
                  <a:cs typeface="Arial"/>
                  <a:sym typeface="Arial"/>
                </a:endParaRPr>
              </a:p>
            </p:txBody>
          </p:sp>
          <p:sp>
            <p:nvSpPr>
              <p:cNvPr id="285" name="Google Shape;285;p36"/>
              <p:cNvSpPr/>
              <p:nvPr/>
            </p:nvSpPr>
            <p:spPr>
              <a:xfrm>
                <a:off x="649113" y="1133425"/>
                <a:ext cx="69300" cy="2996100"/>
              </a:xfrm>
              <a:prstGeom prst="roundRect">
                <a:avLst>
                  <a:gd fmla="val 0" name="adj"/>
                </a:avLst>
              </a:prstGeom>
              <a:solidFill>
                <a:srgbClr val="835E54"/>
              </a:solidFill>
              <a:ln>
                <a:noFill/>
              </a:ln>
            </p:spPr>
            <p:txBody>
              <a:bodyPr anchorCtr="0" anchor="ctr" bIns="98750" lIns="98750" spcFirstLastPara="1" rIns="98750" wrap="square" tIns="98750">
                <a:noAutofit/>
              </a:bodyPr>
              <a:lstStyle/>
              <a:p>
                <a:pPr indent="0" lvl="0" marL="0" marR="0" rtl="0" algn="l">
                  <a:lnSpc>
                    <a:spcPct val="100000"/>
                  </a:lnSpc>
                  <a:spcBef>
                    <a:spcPts val="0"/>
                  </a:spcBef>
                  <a:spcAft>
                    <a:spcPts val="0"/>
                  </a:spcAft>
                  <a:buClr>
                    <a:srgbClr val="000000"/>
                  </a:buClr>
                  <a:buSzPts val="2158"/>
                  <a:buFont typeface="Arial"/>
                  <a:buNone/>
                </a:pPr>
                <a:r>
                  <a:t/>
                </a:r>
                <a:endParaRPr b="0" i="0" sz="2158" u="none" cap="none" strike="noStrike">
                  <a:solidFill>
                    <a:srgbClr val="000000"/>
                  </a:solidFill>
                  <a:latin typeface="Arial"/>
                  <a:ea typeface="Arial"/>
                  <a:cs typeface="Arial"/>
                  <a:sym typeface="Arial"/>
                </a:endParaRPr>
              </a:p>
            </p:txBody>
          </p:sp>
        </p:grpSp>
        <p:sp>
          <p:nvSpPr>
            <p:cNvPr id="286" name="Google Shape;286;p36"/>
            <p:cNvSpPr txBox="1"/>
            <p:nvPr/>
          </p:nvSpPr>
          <p:spPr>
            <a:xfrm>
              <a:off x="1128320" y="1248003"/>
              <a:ext cx="5987400" cy="874500"/>
            </a:xfrm>
            <a:prstGeom prst="rect">
              <a:avLst/>
            </a:prstGeom>
            <a:noFill/>
            <a:ln>
              <a:noFill/>
            </a:ln>
          </p:spPr>
          <p:txBody>
            <a:bodyPr anchorCtr="0" anchor="t" bIns="143375" lIns="143375" spcFirstLastPara="1" rIns="143375" wrap="square" tIns="143375">
              <a:spAutoFit/>
            </a:bodyPr>
            <a:lstStyle/>
            <a:p>
              <a:pPr indent="0" lvl="0" marL="0" rtl="0" algn="l">
                <a:lnSpc>
                  <a:spcPct val="124137"/>
                </a:lnSpc>
                <a:spcBef>
                  <a:spcPts val="0"/>
                </a:spcBef>
                <a:spcAft>
                  <a:spcPts val="0"/>
                </a:spcAft>
                <a:buClr>
                  <a:srgbClr val="443728"/>
                </a:buClr>
                <a:buSzPts val="1611"/>
                <a:buFont typeface="Crimson Pro"/>
                <a:buNone/>
              </a:pPr>
              <a:r>
                <a:rPr b="1" lang="en-GB" sz="2325">
                  <a:solidFill>
                    <a:srgbClr val="443728"/>
                  </a:solidFill>
                </a:rPr>
                <a:t>No Temporal Modeling</a:t>
              </a:r>
              <a:endParaRPr sz="2325">
                <a:solidFill>
                  <a:schemeClr val="dk2"/>
                </a:solidFill>
              </a:endParaRPr>
            </a:p>
          </p:txBody>
        </p:sp>
        <p:sp>
          <p:nvSpPr>
            <p:cNvPr id="287" name="Google Shape;287;p36"/>
            <p:cNvSpPr txBox="1"/>
            <p:nvPr/>
          </p:nvSpPr>
          <p:spPr>
            <a:xfrm>
              <a:off x="1128205" y="1973471"/>
              <a:ext cx="5987400" cy="862800"/>
            </a:xfrm>
            <a:prstGeom prst="rect">
              <a:avLst/>
            </a:prstGeom>
            <a:noFill/>
            <a:ln>
              <a:noFill/>
            </a:ln>
          </p:spPr>
          <p:txBody>
            <a:bodyPr anchorCtr="0" anchor="t" bIns="143375" lIns="143375" spcFirstLastPara="1" rIns="143375" wrap="square" tIns="143375">
              <a:spAutoFit/>
            </a:bodyPr>
            <a:lstStyle/>
            <a:p>
              <a:pPr indent="0" lvl="0" marL="0" rtl="0" algn="l">
                <a:lnSpc>
                  <a:spcPct val="124137"/>
                </a:lnSpc>
                <a:spcBef>
                  <a:spcPts val="0"/>
                </a:spcBef>
                <a:spcAft>
                  <a:spcPts val="0"/>
                </a:spcAft>
                <a:buClr>
                  <a:srgbClr val="443728"/>
                </a:buClr>
                <a:buSzPts val="1611"/>
                <a:buFont typeface="Crimson Pro"/>
                <a:buNone/>
              </a:pPr>
              <a:r>
                <a:rPr b="1" lang="en-GB" sz="2269">
                  <a:solidFill>
                    <a:srgbClr val="443728"/>
                  </a:solidFill>
                </a:rPr>
                <a:t>Limited Shift Detection Capability</a:t>
              </a:r>
              <a:endParaRPr b="1" sz="2269">
                <a:solidFill>
                  <a:srgbClr val="443728"/>
                </a:solidFill>
              </a:endParaRPr>
            </a:p>
          </p:txBody>
        </p:sp>
        <p:sp>
          <p:nvSpPr>
            <p:cNvPr id="288" name="Google Shape;288;p36"/>
            <p:cNvSpPr txBox="1"/>
            <p:nvPr/>
          </p:nvSpPr>
          <p:spPr>
            <a:xfrm>
              <a:off x="1128190" y="2690515"/>
              <a:ext cx="5987400" cy="862800"/>
            </a:xfrm>
            <a:prstGeom prst="rect">
              <a:avLst/>
            </a:prstGeom>
            <a:noFill/>
            <a:ln>
              <a:noFill/>
            </a:ln>
          </p:spPr>
          <p:txBody>
            <a:bodyPr anchorCtr="0" anchor="t" bIns="143375" lIns="143375" spcFirstLastPara="1" rIns="143375" wrap="square" tIns="143375">
              <a:spAutoFit/>
            </a:bodyPr>
            <a:lstStyle/>
            <a:p>
              <a:pPr indent="0" lvl="0" marL="0" rtl="0" algn="l">
                <a:lnSpc>
                  <a:spcPct val="124137"/>
                </a:lnSpc>
                <a:spcBef>
                  <a:spcPts val="0"/>
                </a:spcBef>
                <a:spcAft>
                  <a:spcPts val="0"/>
                </a:spcAft>
                <a:buClr>
                  <a:srgbClr val="443728"/>
                </a:buClr>
                <a:buSzPts val="1611"/>
                <a:buFont typeface="Crimson Pro"/>
                <a:buNone/>
              </a:pPr>
              <a:r>
                <a:t/>
              </a:r>
              <a:endParaRPr b="1" sz="2269">
                <a:solidFill>
                  <a:srgbClr val="443728"/>
                </a:solidFill>
              </a:endParaRPr>
            </a:p>
          </p:txBody>
        </p:sp>
        <p:pic>
          <p:nvPicPr>
            <p:cNvPr id="289" name="Google Shape;289;p36"/>
            <p:cNvPicPr preferRelativeResize="0"/>
            <p:nvPr/>
          </p:nvPicPr>
          <p:blipFill>
            <a:blip r:embed="rId3">
              <a:alphaModFix/>
            </a:blip>
            <a:stretch>
              <a:fillRect/>
            </a:stretch>
          </p:blipFill>
          <p:spPr>
            <a:xfrm>
              <a:off x="841428" y="2239855"/>
              <a:ext cx="330086" cy="283234"/>
            </a:xfrm>
            <a:prstGeom prst="rect">
              <a:avLst/>
            </a:prstGeom>
            <a:noFill/>
            <a:ln>
              <a:noFill/>
            </a:ln>
          </p:spPr>
        </p:pic>
        <p:sp>
          <p:nvSpPr>
            <p:cNvPr id="290" name="Google Shape;290;p36"/>
            <p:cNvSpPr txBox="1"/>
            <p:nvPr/>
          </p:nvSpPr>
          <p:spPr>
            <a:xfrm>
              <a:off x="1128190" y="2809757"/>
              <a:ext cx="5987400" cy="874500"/>
            </a:xfrm>
            <a:prstGeom prst="rect">
              <a:avLst/>
            </a:prstGeom>
            <a:noFill/>
            <a:ln>
              <a:noFill/>
            </a:ln>
          </p:spPr>
          <p:txBody>
            <a:bodyPr anchorCtr="0" anchor="t" bIns="143375" lIns="143375" spcFirstLastPara="1" rIns="143375" wrap="square" tIns="143375">
              <a:spAutoFit/>
            </a:bodyPr>
            <a:lstStyle/>
            <a:p>
              <a:pPr indent="0" lvl="0" marL="0" rtl="0" algn="l">
                <a:lnSpc>
                  <a:spcPct val="124137"/>
                </a:lnSpc>
                <a:spcBef>
                  <a:spcPts val="0"/>
                </a:spcBef>
                <a:spcAft>
                  <a:spcPts val="0"/>
                </a:spcAft>
                <a:buNone/>
              </a:pPr>
              <a:r>
                <a:rPr b="1" lang="en-GB" sz="2325">
                  <a:solidFill>
                    <a:srgbClr val="443728"/>
                  </a:solidFill>
                </a:rPr>
                <a:t>Fixed Window Limitation</a:t>
              </a:r>
              <a:endParaRPr sz="2325">
                <a:solidFill>
                  <a:schemeClr val="dk2"/>
                </a:solidFill>
              </a:endParaRPr>
            </a:p>
          </p:txBody>
        </p:sp>
        <p:pic>
          <p:nvPicPr>
            <p:cNvPr id="291" name="Google Shape;291;p36"/>
            <p:cNvPicPr preferRelativeResize="0"/>
            <p:nvPr/>
          </p:nvPicPr>
          <p:blipFill>
            <a:blip r:embed="rId3">
              <a:alphaModFix/>
            </a:blip>
            <a:stretch>
              <a:fillRect/>
            </a:stretch>
          </p:blipFill>
          <p:spPr>
            <a:xfrm>
              <a:off x="841428" y="1522854"/>
              <a:ext cx="330086" cy="283234"/>
            </a:xfrm>
            <a:prstGeom prst="rect">
              <a:avLst/>
            </a:prstGeom>
            <a:noFill/>
            <a:ln>
              <a:noFill/>
            </a:ln>
          </p:spPr>
        </p:pic>
        <p:pic>
          <p:nvPicPr>
            <p:cNvPr id="292" name="Google Shape;292;p36"/>
            <p:cNvPicPr preferRelativeResize="0"/>
            <p:nvPr/>
          </p:nvPicPr>
          <p:blipFill>
            <a:blip r:embed="rId3">
              <a:alphaModFix/>
            </a:blip>
            <a:stretch>
              <a:fillRect/>
            </a:stretch>
          </p:blipFill>
          <p:spPr>
            <a:xfrm>
              <a:off x="841428" y="3084666"/>
              <a:ext cx="330086" cy="283234"/>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1000"/>
                                        <p:tgtEl>
                                          <p:spTgt spid="28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1000"/>
                                        <p:tgtEl>
                                          <p:spTgt spid="2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7"/>
          <p:cNvSpPr/>
          <p:nvPr/>
        </p:nvSpPr>
        <p:spPr>
          <a:xfrm>
            <a:off x="174700" y="141275"/>
            <a:ext cx="975600" cy="267900"/>
          </a:xfrm>
          <a:prstGeom prst="roundRect">
            <a:avLst>
              <a:gd fmla="val 18635" name="adj"/>
            </a:avLst>
          </a:prstGeom>
          <a:solidFill>
            <a:srgbClr val="EBE2E0"/>
          </a:solidFill>
          <a:ln>
            <a:noFill/>
          </a:ln>
        </p:spPr>
        <p:txBody>
          <a:bodyPr anchorCtr="0" anchor="ctr" bIns="67950" lIns="67950" spcFirstLastPara="1" rIns="67950" wrap="square" tIns="679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37"/>
          <p:cNvSpPr/>
          <p:nvPr/>
        </p:nvSpPr>
        <p:spPr>
          <a:xfrm>
            <a:off x="263732" y="185791"/>
            <a:ext cx="797700" cy="178800"/>
          </a:xfrm>
          <a:prstGeom prst="rect">
            <a:avLst/>
          </a:prstGeom>
          <a:noFill/>
          <a:ln>
            <a:noFill/>
          </a:ln>
        </p:spPr>
        <p:txBody>
          <a:bodyPr anchorCtr="0" anchor="t" bIns="0" lIns="0" spcFirstLastPara="1" rIns="0" wrap="square" tIns="0">
            <a:noAutofit/>
          </a:bodyPr>
          <a:lstStyle/>
          <a:p>
            <a:pPr indent="0" lvl="0" marL="0" marR="0" rtl="0" algn="l">
              <a:lnSpc>
                <a:spcPct val="148000"/>
              </a:lnSpc>
              <a:spcBef>
                <a:spcPts val="0"/>
              </a:spcBef>
              <a:spcAft>
                <a:spcPts val="0"/>
              </a:spcAft>
              <a:buClr>
                <a:srgbClr val="443728"/>
              </a:buClr>
              <a:buSzPts val="929"/>
              <a:buFont typeface="Open Sans"/>
              <a:buNone/>
            </a:pPr>
            <a:r>
              <a:rPr b="0" i="0" lang="en-GB" sz="929" u="none" cap="none" strike="noStrike">
                <a:solidFill>
                  <a:srgbClr val="443728"/>
                </a:solidFill>
                <a:latin typeface="Open Sans"/>
                <a:ea typeface="Open Sans"/>
                <a:cs typeface="Open Sans"/>
                <a:sym typeface="Open Sans"/>
              </a:rPr>
              <a:t>CORE INSIGHT</a:t>
            </a:r>
            <a:endParaRPr b="0" i="0" sz="929" u="none" cap="none" strike="noStrike">
              <a:solidFill>
                <a:srgbClr val="000000"/>
              </a:solidFill>
              <a:latin typeface="Arial"/>
              <a:ea typeface="Arial"/>
              <a:cs typeface="Arial"/>
              <a:sym typeface="Arial"/>
            </a:endParaRPr>
          </a:p>
        </p:txBody>
      </p:sp>
      <p:sp>
        <p:nvSpPr>
          <p:cNvPr id="299" name="Google Shape;299;p37"/>
          <p:cNvSpPr/>
          <p:nvPr/>
        </p:nvSpPr>
        <p:spPr>
          <a:xfrm>
            <a:off x="174700" y="543258"/>
            <a:ext cx="8169600" cy="6402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43728"/>
              </a:buClr>
              <a:buSzPts val="4014"/>
              <a:buFont typeface="Crimson Pro"/>
              <a:buNone/>
            </a:pPr>
            <a:r>
              <a:rPr b="1" i="0" lang="en-GB" sz="2714" u="none" cap="none" strike="noStrike">
                <a:solidFill>
                  <a:srgbClr val="443728"/>
                </a:solidFill>
              </a:rPr>
              <a:t>Narrative Shift Is a Temporal Problem</a:t>
            </a:r>
            <a:endParaRPr i="0" sz="2714" u="none" cap="none" strike="noStrike">
              <a:solidFill>
                <a:srgbClr val="000000"/>
              </a:solidFill>
            </a:endParaRPr>
          </a:p>
        </p:txBody>
      </p:sp>
      <p:sp>
        <p:nvSpPr>
          <p:cNvPr id="300" name="Google Shape;300;p37"/>
          <p:cNvSpPr/>
          <p:nvPr/>
        </p:nvSpPr>
        <p:spPr>
          <a:xfrm>
            <a:off x="182388" y="1317525"/>
            <a:ext cx="3841200" cy="1116900"/>
          </a:xfrm>
          <a:prstGeom prst="rect">
            <a:avLst/>
          </a:prstGeom>
          <a:noFill/>
          <a:ln>
            <a:noFill/>
          </a:ln>
        </p:spPr>
        <p:txBody>
          <a:bodyPr anchorCtr="0" anchor="t" bIns="0" lIns="0" spcFirstLastPara="1" rIns="0" wrap="square" tIns="0">
            <a:noAutofit/>
          </a:bodyPr>
          <a:lstStyle/>
          <a:p>
            <a:pPr indent="-301752" lvl="0" marL="457200" marR="0" rtl="0" algn="l">
              <a:lnSpc>
                <a:spcPct val="151612"/>
              </a:lnSpc>
              <a:spcBef>
                <a:spcPts val="0"/>
              </a:spcBef>
              <a:spcAft>
                <a:spcPts val="0"/>
              </a:spcAft>
              <a:buClr>
                <a:srgbClr val="443728"/>
              </a:buClr>
              <a:buSzPts val="1152"/>
              <a:buChar char="●"/>
            </a:pPr>
            <a:r>
              <a:rPr lang="en-GB" sz="1152">
                <a:solidFill>
                  <a:srgbClr val="443728"/>
                </a:solidFill>
              </a:rPr>
              <a:t>Static models fail at narrative shift detection as they treat language as a frozen snapshot, ignoring that meaning evolves over time.</a:t>
            </a:r>
            <a:endParaRPr i="0" sz="1152" u="none" cap="none" strike="noStrike">
              <a:solidFill>
                <a:srgbClr val="000000"/>
              </a:solidFill>
            </a:endParaRPr>
          </a:p>
        </p:txBody>
      </p:sp>
      <p:sp>
        <p:nvSpPr>
          <p:cNvPr id="301" name="Google Shape;301;p37"/>
          <p:cNvSpPr/>
          <p:nvPr/>
        </p:nvSpPr>
        <p:spPr>
          <a:xfrm>
            <a:off x="174700" y="2650375"/>
            <a:ext cx="3841200" cy="1116900"/>
          </a:xfrm>
          <a:prstGeom prst="rect">
            <a:avLst/>
          </a:prstGeom>
          <a:noFill/>
          <a:ln>
            <a:noFill/>
          </a:ln>
        </p:spPr>
        <p:txBody>
          <a:bodyPr anchorCtr="0" anchor="t" bIns="0" lIns="0" spcFirstLastPara="1" rIns="0" wrap="square" tIns="0">
            <a:noAutofit/>
          </a:bodyPr>
          <a:lstStyle/>
          <a:p>
            <a:pPr indent="-301752" lvl="0" marL="457200" marR="0" rtl="0" algn="l">
              <a:lnSpc>
                <a:spcPct val="151612"/>
              </a:lnSpc>
              <a:spcBef>
                <a:spcPts val="0"/>
              </a:spcBef>
              <a:spcAft>
                <a:spcPts val="0"/>
              </a:spcAft>
              <a:buClr>
                <a:srgbClr val="443728"/>
              </a:buClr>
              <a:buSzPts val="1152"/>
              <a:buChar char="●"/>
            </a:pPr>
            <a:r>
              <a:rPr lang="en-GB" sz="1152">
                <a:solidFill>
                  <a:srgbClr val="443728"/>
                </a:solidFill>
              </a:rPr>
              <a:t>Accurate shift detection requires modeling temporal relationships between segments—understanding not just what is said, but when and in relation to past context.</a:t>
            </a:r>
            <a:endParaRPr i="0" sz="1152" u="none" cap="none" strike="noStrike">
              <a:solidFill>
                <a:srgbClr val="000000"/>
              </a:solidFill>
            </a:endParaRPr>
          </a:p>
        </p:txBody>
      </p:sp>
      <p:sp>
        <p:nvSpPr>
          <p:cNvPr id="302" name="Google Shape;302;p37"/>
          <p:cNvSpPr/>
          <p:nvPr/>
        </p:nvSpPr>
        <p:spPr>
          <a:xfrm>
            <a:off x="174700" y="4121150"/>
            <a:ext cx="3841200" cy="670200"/>
          </a:xfrm>
          <a:prstGeom prst="rect">
            <a:avLst/>
          </a:prstGeom>
          <a:noFill/>
          <a:ln>
            <a:noFill/>
          </a:ln>
        </p:spPr>
        <p:txBody>
          <a:bodyPr anchorCtr="0" anchor="t" bIns="0" lIns="0" spcFirstLastPara="1" rIns="0" wrap="square" tIns="0">
            <a:noAutofit/>
          </a:bodyPr>
          <a:lstStyle/>
          <a:p>
            <a:pPr indent="-301752" lvl="0" marL="457200" marR="0" rtl="0" algn="l">
              <a:lnSpc>
                <a:spcPct val="151612"/>
              </a:lnSpc>
              <a:spcBef>
                <a:spcPts val="0"/>
              </a:spcBef>
              <a:spcAft>
                <a:spcPts val="0"/>
              </a:spcAft>
              <a:buClr>
                <a:srgbClr val="443728"/>
              </a:buClr>
              <a:buSzPts val="1152"/>
              <a:buChar char="●"/>
            </a:pPr>
            <a:r>
              <a:rPr i="0" lang="en-GB" sz="1152" u="none" cap="none" strike="noStrike">
                <a:solidFill>
                  <a:srgbClr val="443728"/>
                </a:solidFill>
              </a:rPr>
              <a:t>This critical gap motivates the adoption of </a:t>
            </a:r>
            <a:r>
              <a:rPr b="1" i="0" lang="en-GB" sz="1152" u="none" cap="none" strike="noStrike">
                <a:solidFill>
                  <a:srgbClr val="443728"/>
                </a:solidFill>
              </a:rPr>
              <a:t>Temporal Contrastive Learning</a:t>
            </a:r>
            <a:r>
              <a:rPr i="0" lang="en-GB" sz="1152" u="none" cap="none" strike="noStrike">
                <a:solidFill>
                  <a:srgbClr val="443728"/>
                </a:solidFill>
              </a:rPr>
              <a:t> as a more principled, time-aware framework.</a:t>
            </a:r>
            <a:endParaRPr i="0" sz="1152" u="none" cap="none" strike="noStrike">
              <a:solidFill>
                <a:srgbClr val="000000"/>
              </a:solidFill>
            </a:endParaRPr>
          </a:p>
        </p:txBody>
      </p:sp>
      <p:grpSp>
        <p:nvGrpSpPr>
          <p:cNvPr id="303" name="Google Shape;303;p37"/>
          <p:cNvGrpSpPr/>
          <p:nvPr/>
        </p:nvGrpSpPr>
        <p:grpSpPr>
          <a:xfrm>
            <a:off x="4250822" y="1568083"/>
            <a:ext cx="4711378" cy="2776004"/>
            <a:chOff x="4250822" y="1568083"/>
            <a:chExt cx="4711378" cy="2776004"/>
          </a:xfrm>
        </p:grpSpPr>
        <p:pic>
          <p:nvPicPr>
            <p:cNvPr descr="preencoded.png" id="304" name="Google Shape;304;p37"/>
            <p:cNvPicPr preferRelativeResize="0"/>
            <p:nvPr/>
          </p:nvPicPr>
          <p:blipFill rotWithShape="1">
            <a:blip r:embed="rId3">
              <a:alphaModFix/>
            </a:blip>
            <a:srcRect b="0" l="0" r="0" t="0"/>
            <a:stretch/>
          </p:blipFill>
          <p:spPr>
            <a:xfrm>
              <a:off x="4250822" y="1568083"/>
              <a:ext cx="4677353" cy="2776004"/>
            </a:xfrm>
            <a:prstGeom prst="rect">
              <a:avLst/>
            </a:prstGeom>
            <a:noFill/>
            <a:ln>
              <a:noFill/>
            </a:ln>
          </p:spPr>
        </p:pic>
        <p:sp>
          <p:nvSpPr>
            <p:cNvPr id="305" name="Google Shape;305;p37"/>
            <p:cNvSpPr/>
            <p:nvPr/>
          </p:nvSpPr>
          <p:spPr>
            <a:xfrm>
              <a:off x="7799400" y="3729484"/>
              <a:ext cx="1162800" cy="224100"/>
            </a:xfrm>
            <a:prstGeom prst="rect">
              <a:avLst/>
            </a:prstGeom>
            <a:noFill/>
            <a:ln>
              <a:noFill/>
            </a:ln>
          </p:spPr>
          <p:txBody>
            <a:bodyPr anchorCtr="0" anchor="t" bIns="0" lIns="0" spcFirstLastPara="1" rIns="0" wrap="square" tIns="0">
              <a:noAutofit/>
            </a:bodyPr>
            <a:lstStyle/>
            <a:p>
              <a:pPr indent="0" lvl="0" marL="0" marR="0" rtl="0" algn="ctr">
                <a:lnSpc>
                  <a:spcPct val="127027"/>
                </a:lnSpc>
                <a:spcBef>
                  <a:spcPts val="0"/>
                </a:spcBef>
                <a:spcAft>
                  <a:spcPts val="0"/>
                </a:spcAft>
                <a:buClr>
                  <a:srgbClr val="443728"/>
                </a:buClr>
                <a:buSzPts val="1375"/>
                <a:buFont typeface="Crimson Pro"/>
                <a:buNone/>
              </a:pPr>
              <a:r>
                <a:rPr b="1" i="0" lang="en-GB" sz="1375" u="none" cap="none" strike="noStrike">
                  <a:solidFill>
                    <a:srgbClr val="443728"/>
                  </a:solidFill>
                  <a:latin typeface="Crimson Pro"/>
                  <a:ea typeface="Crimson Pro"/>
                  <a:cs typeface="Crimson Pro"/>
                  <a:sym typeface="Crimson Pro"/>
                </a:rPr>
                <a:t>TCL Solves It</a:t>
              </a:r>
              <a:endParaRPr b="0" i="0" sz="1375" u="none" cap="none" strike="noStrike">
                <a:solidFill>
                  <a:srgbClr val="000000"/>
                </a:solidFill>
                <a:latin typeface="Arial"/>
                <a:ea typeface="Arial"/>
                <a:cs typeface="Arial"/>
                <a:sym typeface="Arial"/>
              </a:endParaRPr>
            </a:p>
          </p:txBody>
        </p:sp>
        <p:sp>
          <p:nvSpPr>
            <p:cNvPr id="306" name="Google Shape;306;p37"/>
            <p:cNvSpPr/>
            <p:nvPr/>
          </p:nvSpPr>
          <p:spPr>
            <a:xfrm>
              <a:off x="6334110" y="3505509"/>
              <a:ext cx="1162800" cy="672000"/>
            </a:xfrm>
            <a:prstGeom prst="rect">
              <a:avLst/>
            </a:prstGeom>
            <a:noFill/>
            <a:ln>
              <a:noFill/>
            </a:ln>
          </p:spPr>
          <p:txBody>
            <a:bodyPr anchorCtr="0" anchor="t" bIns="0" lIns="0" spcFirstLastPara="1" rIns="0" wrap="square" tIns="0">
              <a:noAutofit/>
            </a:bodyPr>
            <a:lstStyle/>
            <a:p>
              <a:pPr indent="0" lvl="0" marL="0" marR="0" rtl="0" algn="ctr">
                <a:lnSpc>
                  <a:spcPct val="127027"/>
                </a:lnSpc>
                <a:spcBef>
                  <a:spcPts val="0"/>
                </a:spcBef>
                <a:spcAft>
                  <a:spcPts val="0"/>
                </a:spcAft>
                <a:buClr>
                  <a:srgbClr val="443728"/>
                </a:buClr>
                <a:buSzPts val="1375"/>
                <a:buFont typeface="Crimson Pro"/>
                <a:buNone/>
              </a:pPr>
              <a:r>
                <a:rPr b="1" i="0" lang="en-GB" sz="1375" u="none" cap="none" strike="noStrike">
                  <a:solidFill>
                    <a:srgbClr val="443728"/>
                  </a:solidFill>
                  <a:latin typeface="Crimson Pro"/>
                  <a:ea typeface="Crimson Pro"/>
                  <a:cs typeface="Crimson Pro"/>
                  <a:sym typeface="Crimson Pro"/>
                </a:rPr>
                <a:t>Temporal Relationships Matter</a:t>
              </a:r>
              <a:endParaRPr b="0" i="0" sz="1375" u="none" cap="none" strike="noStrike">
                <a:solidFill>
                  <a:srgbClr val="000000"/>
                </a:solidFill>
                <a:latin typeface="Arial"/>
                <a:ea typeface="Arial"/>
                <a:cs typeface="Arial"/>
                <a:sym typeface="Arial"/>
              </a:endParaRPr>
            </a:p>
          </p:txBody>
        </p:sp>
        <p:sp>
          <p:nvSpPr>
            <p:cNvPr id="307" name="Google Shape;307;p37"/>
            <p:cNvSpPr/>
            <p:nvPr/>
          </p:nvSpPr>
          <p:spPr>
            <a:xfrm>
              <a:off x="4844930" y="3617497"/>
              <a:ext cx="1162800" cy="447900"/>
            </a:xfrm>
            <a:prstGeom prst="rect">
              <a:avLst/>
            </a:prstGeom>
            <a:noFill/>
            <a:ln>
              <a:noFill/>
            </a:ln>
          </p:spPr>
          <p:txBody>
            <a:bodyPr anchorCtr="0" anchor="t" bIns="0" lIns="0" spcFirstLastPara="1" rIns="0" wrap="square" tIns="0">
              <a:noAutofit/>
            </a:bodyPr>
            <a:lstStyle/>
            <a:p>
              <a:pPr indent="0" lvl="0" marL="0" marR="0" rtl="0" algn="ctr">
                <a:lnSpc>
                  <a:spcPct val="127027"/>
                </a:lnSpc>
                <a:spcBef>
                  <a:spcPts val="0"/>
                </a:spcBef>
                <a:spcAft>
                  <a:spcPts val="0"/>
                </a:spcAft>
                <a:buClr>
                  <a:srgbClr val="443728"/>
                </a:buClr>
                <a:buSzPts val="1375"/>
                <a:buFont typeface="Crimson Pro"/>
                <a:buNone/>
              </a:pPr>
              <a:r>
                <a:rPr b="1" i="0" lang="en-GB" sz="1375" u="none" cap="none" strike="noStrike">
                  <a:solidFill>
                    <a:srgbClr val="443728"/>
                  </a:solidFill>
                  <a:latin typeface="Crimson Pro"/>
                  <a:ea typeface="Crimson Pro"/>
                  <a:cs typeface="Crimson Pro"/>
                  <a:sym typeface="Crimson Pro"/>
                </a:rPr>
                <a:t>Static Models Fail</a:t>
              </a:r>
              <a:endParaRPr b="0" i="0" sz="1375"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1000"/>
                                        <p:tgtEl>
                                          <p:spTgt spid="303"/>
                                        </p:tgtEl>
                                      </p:cBhvr>
                                    </p:animEffect>
                                  </p:childTnLst>
                                </p:cTn>
                              </p:par>
                            </p:childTnLst>
                          </p:cTn>
                        </p:par>
                        <p:par>
                          <p:cTn fill="hold">
                            <p:stCondLst>
                              <p:cond delay="1000"/>
                            </p:stCondLst>
                            <p:childTnLst>
                              <p:par>
                                <p:cTn fill="hold" nodeType="afterEffect" presetClass="entr" presetID="2" presetSubtype="8">
                                  <p:stCondLst>
                                    <p:cond delay="0"/>
                                  </p:stCondLst>
                                  <p:childTnLst>
                                    <p:set>
                                      <p:cBhvr>
                                        <p:cTn dur="1" fill="hold">
                                          <p:stCondLst>
                                            <p:cond delay="0"/>
                                          </p:stCondLst>
                                        </p:cTn>
                                        <p:tgtEl>
                                          <p:spTgt spid="300"/>
                                        </p:tgtEl>
                                        <p:attrNameLst>
                                          <p:attrName>style.visibility</p:attrName>
                                        </p:attrNameLst>
                                      </p:cBhvr>
                                      <p:to>
                                        <p:strVal val="visible"/>
                                      </p:to>
                                    </p:set>
                                    <p:anim calcmode="lin" valueType="num">
                                      <p:cBhvr additive="base">
                                        <p:cTn dur="1000"/>
                                        <p:tgtEl>
                                          <p:spTgt spid="30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01"/>
                                        </p:tgtEl>
                                        <p:attrNameLst>
                                          <p:attrName>style.visibility</p:attrName>
                                        </p:attrNameLst>
                                      </p:cBhvr>
                                      <p:to>
                                        <p:strVal val="visible"/>
                                      </p:to>
                                    </p:set>
                                    <p:anim calcmode="lin" valueType="num">
                                      <p:cBhvr additive="base">
                                        <p:cTn dur="1000"/>
                                        <p:tgtEl>
                                          <p:spTgt spid="30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02"/>
                                        </p:tgtEl>
                                        <p:attrNameLst>
                                          <p:attrName>style.visibility</p:attrName>
                                        </p:attrNameLst>
                                      </p:cBhvr>
                                      <p:to>
                                        <p:strVal val="visible"/>
                                      </p:to>
                                    </p:set>
                                    <p:anim calcmode="lin" valueType="num">
                                      <p:cBhvr additive="base">
                                        <p:cTn dur="1000"/>
                                        <p:tgtEl>
                                          <p:spTgt spid="302"/>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8"/>
          <p:cNvSpPr/>
          <p:nvPr/>
        </p:nvSpPr>
        <p:spPr>
          <a:xfrm>
            <a:off x="86448" y="87175"/>
            <a:ext cx="4292400" cy="386700"/>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443728"/>
              </a:buClr>
              <a:buSzPts val="2408"/>
              <a:buFont typeface="Crimson Pro"/>
              <a:buNone/>
            </a:pPr>
            <a:r>
              <a:rPr b="1" i="0" lang="en-GB" sz="2208" u="none" cap="none" strike="noStrike">
                <a:solidFill>
                  <a:srgbClr val="443728"/>
                </a:solidFill>
              </a:rPr>
              <a:t>Temporal Loss Concept</a:t>
            </a:r>
            <a:endParaRPr i="0" sz="2208" u="none" cap="none" strike="noStrike">
              <a:solidFill>
                <a:srgbClr val="000000"/>
              </a:solidFill>
            </a:endParaRPr>
          </a:p>
        </p:txBody>
      </p:sp>
      <p:sp>
        <p:nvSpPr>
          <p:cNvPr id="313" name="Google Shape;313;p38"/>
          <p:cNvSpPr/>
          <p:nvPr/>
        </p:nvSpPr>
        <p:spPr>
          <a:xfrm>
            <a:off x="871775" y="1588470"/>
            <a:ext cx="3404100" cy="942000"/>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443728"/>
              </a:buClr>
              <a:buSzPts val="793"/>
              <a:buFont typeface="Open Sans"/>
              <a:buNone/>
            </a:pPr>
            <a:r>
              <a:rPr b="1" i="0" lang="en-GB" sz="1210" u="none" cap="none" strike="noStrike">
                <a:solidFill>
                  <a:srgbClr val="443728"/>
                </a:solidFill>
              </a:rPr>
              <a:t>Adjacent segments</a:t>
            </a:r>
            <a:r>
              <a:rPr i="0" lang="en-GB" sz="1210" u="none" cap="none" strike="noStrike">
                <a:solidFill>
                  <a:srgbClr val="443728"/>
                </a:solidFill>
              </a:rPr>
              <a:t> are penalized for drifting apart, ensuring the model learns smooth, meaningful continuity.</a:t>
            </a:r>
            <a:endParaRPr i="0" sz="1210" u="none" cap="none" strike="noStrike">
              <a:solidFill>
                <a:srgbClr val="443728"/>
              </a:solidFill>
            </a:endParaRPr>
          </a:p>
          <a:p>
            <a:pPr indent="0" lvl="0" marL="0" marR="0" rtl="0" algn="l">
              <a:lnSpc>
                <a:spcPct val="146428"/>
              </a:lnSpc>
              <a:spcBef>
                <a:spcPts val="0"/>
              </a:spcBef>
              <a:spcAft>
                <a:spcPts val="0"/>
              </a:spcAft>
              <a:buClr>
                <a:srgbClr val="443728"/>
              </a:buClr>
              <a:buSzPts val="793"/>
              <a:buFont typeface="Open Sans"/>
              <a:buNone/>
            </a:pPr>
            <a:r>
              <a:t/>
            </a:r>
            <a:endParaRPr i="0" sz="1210" u="none" cap="none" strike="noStrike">
              <a:solidFill>
                <a:srgbClr val="000000"/>
              </a:solidFill>
            </a:endParaRPr>
          </a:p>
        </p:txBody>
      </p:sp>
      <p:pic>
        <p:nvPicPr>
          <p:cNvPr descr="preencoded.png" id="314" name="Google Shape;314;p38"/>
          <p:cNvPicPr preferRelativeResize="0"/>
          <p:nvPr/>
        </p:nvPicPr>
        <p:blipFill rotWithShape="1">
          <a:blip r:embed="rId3">
            <a:alphaModFix/>
          </a:blip>
          <a:srcRect b="0" l="0" r="0" t="0"/>
          <a:stretch/>
        </p:blipFill>
        <p:spPr>
          <a:xfrm>
            <a:off x="4565150" y="1504350"/>
            <a:ext cx="3437074" cy="3437074"/>
          </a:xfrm>
          <a:prstGeom prst="rect">
            <a:avLst/>
          </a:prstGeom>
          <a:noFill/>
          <a:ln>
            <a:noFill/>
          </a:ln>
        </p:spPr>
      </p:pic>
      <p:pic>
        <p:nvPicPr>
          <p:cNvPr descr="preencoded.png" id="315" name="Google Shape;315;p38"/>
          <p:cNvPicPr preferRelativeResize="0"/>
          <p:nvPr/>
        </p:nvPicPr>
        <p:blipFill rotWithShape="1">
          <a:blip r:embed="rId4">
            <a:alphaModFix/>
          </a:blip>
          <a:srcRect b="0" l="0" r="0" t="0"/>
          <a:stretch/>
        </p:blipFill>
        <p:spPr>
          <a:xfrm>
            <a:off x="4565150" y="1504350"/>
            <a:ext cx="3437074" cy="3437074"/>
          </a:xfrm>
          <a:prstGeom prst="rect">
            <a:avLst/>
          </a:prstGeom>
          <a:noFill/>
          <a:ln>
            <a:noFill/>
          </a:ln>
        </p:spPr>
      </p:pic>
      <p:sp>
        <p:nvSpPr>
          <p:cNvPr id="316" name="Google Shape;316;p38"/>
          <p:cNvSpPr txBox="1"/>
          <p:nvPr/>
        </p:nvSpPr>
        <p:spPr>
          <a:xfrm>
            <a:off x="871775" y="2806074"/>
            <a:ext cx="3694800" cy="885600"/>
          </a:xfrm>
          <a:prstGeom prst="rect">
            <a:avLst/>
          </a:prstGeom>
          <a:noFill/>
          <a:ln>
            <a:noFill/>
          </a:ln>
        </p:spPr>
        <p:txBody>
          <a:bodyPr anchorCtr="0" anchor="t" bIns="76275" lIns="76275" spcFirstLastPara="1" rIns="76275" wrap="square" tIns="76275">
            <a:spAutoFit/>
          </a:bodyPr>
          <a:lstStyle/>
          <a:p>
            <a:pPr indent="0" lvl="0" marL="0" rtl="0" algn="l">
              <a:lnSpc>
                <a:spcPct val="146428"/>
              </a:lnSpc>
              <a:spcBef>
                <a:spcPts val="0"/>
              </a:spcBef>
              <a:spcAft>
                <a:spcPts val="0"/>
              </a:spcAft>
              <a:buNone/>
            </a:pPr>
            <a:r>
              <a:rPr b="1" lang="en-GB" sz="1210">
                <a:solidFill>
                  <a:srgbClr val="443728"/>
                </a:solidFill>
              </a:rPr>
              <a:t>Non-adjacent segments</a:t>
            </a:r>
            <a:r>
              <a:rPr lang="en-GB" sz="1210">
                <a:solidFill>
                  <a:srgbClr val="443728"/>
                </a:solidFill>
              </a:rPr>
              <a:t> are penalized for being too similar, preserving discriminative structure across the sequence.</a:t>
            </a:r>
            <a:endParaRPr sz="1502">
              <a:solidFill>
                <a:schemeClr val="dk2"/>
              </a:solidFill>
            </a:endParaRPr>
          </a:p>
        </p:txBody>
      </p:sp>
      <p:sp>
        <p:nvSpPr>
          <p:cNvPr id="317" name="Google Shape;317;p38"/>
          <p:cNvSpPr txBox="1"/>
          <p:nvPr/>
        </p:nvSpPr>
        <p:spPr>
          <a:xfrm>
            <a:off x="871775" y="3967360"/>
            <a:ext cx="3284100" cy="1032600"/>
          </a:xfrm>
          <a:prstGeom prst="rect">
            <a:avLst/>
          </a:prstGeom>
          <a:noFill/>
          <a:ln>
            <a:noFill/>
          </a:ln>
        </p:spPr>
        <p:txBody>
          <a:bodyPr anchorCtr="0" anchor="t" bIns="76275" lIns="76275" spcFirstLastPara="1" rIns="76275" wrap="square" tIns="76275">
            <a:noAutofit/>
          </a:bodyPr>
          <a:lstStyle/>
          <a:p>
            <a:pPr indent="0" lvl="0" marL="0" rtl="0" algn="l">
              <a:lnSpc>
                <a:spcPct val="146428"/>
              </a:lnSpc>
              <a:spcBef>
                <a:spcPts val="0"/>
              </a:spcBef>
              <a:spcAft>
                <a:spcPts val="0"/>
              </a:spcAft>
              <a:buClr>
                <a:schemeClr val="dk1"/>
              </a:buClr>
              <a:buSzPts val="918"/>
              <a:buFont typeface="Arial"/>
              <a:buNone/>
            </a:pPr>
            <a:r>
              <a:rPr lang="en-GB" sz="1210">
                <a:solidFill>
                  <a:srgbClr val="443728"/>
                </a:solidFill>
              </a:rPr>
              <a:t>A </a:t>
            </a:r>
            <a:r>
              <a:rPr b="1" lang="en-GB" sz="1210">
                <a:solidFill>
                  <a:srgbClr val="443728"/>
                </a:solidFill>
              </a:rPr>
              <a:t>sudden drop in similarity</a:t>
            </a:r>
            <a:r>
              <a:rPr lang="en-GB" sz="1210">
                <a:solidFill>
                  <a:srgbClr val="443728"/>
                </a:solidFill>
              </a:rPr>
              <a:t> between consecutive segments serves as the primary signal for narrative shift detection.</a:t>
            </a:r>
            <a:endParaRPr sz="1502">
              <a:solidFill>
                <a:schemeClr val="dk2"/>
              </a:solidFill>
            </a:endParaRPr>
          </a:p>
        </p:txBody>
      </p:sp>
      <p:grpSp>
        <p:nvGrpSpPr>
          <p:cNvPr id="318" name="Google Shape;318;p38"/>
          <p:cNvGrpSpPr/>
          <p:nvPr/>
        </p:nvGrpSpPr>
        <p:grpSpPr>
          <a:xfrm>
            <a:off x="469975" y="514917"/>
            <a:ext cx="7184170" cy="885630"/>
            <a:chOff x="521750" y="620699"/>
            <a:chExt cx="7881701" cy="1132809"/>
          </a:xfrm>
        </p:grpSpPr>
        <p:sp>
          <p:nvSpPr>
            <p:cNvPr id="319" name="Google Shape;319;p38"/>
            <p:cNvSpPr/>
            <p:nvPr/>
          </p:nvSpPr>
          <p:spPr>
            <a:xfrm>
              <a:off x="537751" y="620708"/>
              <a:ext cx="7865700" cy="1132800"/>
            </a:xfrm>
            <a:prstGeom prst="roundRect">
              <a:avLst>
                <a:gd fmla="val 5954" name="adj"/>
              </a:avLst>
            </a:prstGeom>
            <a:solidFill>
              <a:srgbClr val="FFFCFA"/>
            </a:solidFill>
            <a:ln cap="flat" cmpd="sng" w="14575">
              <a:solidFill>
                <a:srgbClr val="D1C8C6"/>
              </a:solidFill>
              <a:prstDash val="solid"/>
              <a:round/>
              <a:headEnd len="sm" w="sm" type="none"/>
              <a:tailEnd len="sm" w="sm" type="none"/>
            </a:ln>
          </p:spPr>
          <p:txBody>
            <a:bodyPr anchorCtr="0" anchor="ctr" bIns="58375" lIns="58375" spcFirstLastPara="1" rIns="58375" wrap="square" tIns="58375">
              <a:noAutofit/>
            </a:bodyPr>
            <a:lstStyle/>
            <a:p>
              <a:pPr indent="0" lvl="0" marL="0" marR="0" rtl="0" algn="l">
                <a:lnSpc>
                  <a:spcPct val="100000"/>
                </a:lnSpc>
                <a:spcBef>
                  <a:spcPts val="0"/>
                </a:spcBef>
                <a:spcAft>
                  <a:spcPts val="0"/>
                </a:spcAft>
                <a:buClr>
                  <a:srgbClr val="000000"/>
                </a:buClr>
                <a:buSzPts val="1276"/>
                <a:buFont typeface="Arial"/>
                <a:buNone/>
              </a:pPr>
              <a:r>
                <a:t/>
              </a:r>
              <a:endParaRPr b="0" i="0" sz="1276" u="none" cap="none" strike="noStrike">
                <a:solidFill>
                  <a:srgbClr val="000000"/>
                </a:solidFill>
                <a:latin typeface="Arial"/>
                <a:ea typeface="Arial"/>
                <a:cs typeface="Arial"/>
                <a:sym typeface="Arial"/>
              </a:endParaRPr>
            </a:p>
          </p:txBody>
        </p:sp>
        <p:sp>
          <p:nvSpPr>
            <p:cNvPr id="320" name="Google Shape;320;p38"/>
            <p:cNvSpPr/>
            <p:nvPr/>
          </p:nvSpPr>
          <p:spPr>
            <a:xfrm>
              <a:off x="521750" y="620699"/>
              <a:ext cx="64200" cy="1132800"/>
            </a:xfrm>
            <a:prstGeom prst="roundRect">
              <a:avLst>
                <a:gd fmla="val 94954" name="adj"/>
              </a:avLst>
            </a:prstGeom>
            <a:solidFill>
              <a:srgbClr val="835E54"/>
            </a:solidFill>
            <a:ln>
              <a:noFill/>
            </a:ln>
          </p:spPr>
          <p:txBody>
            <a:bodyPr anchorCtr="0" anchor="ctr" bIns="58375" lIns="58375" spcFirstLastPara="1" rIns="58375" wrap="square" tIns="58375">
              <a:noAutofit/>
            </a:bodyPr>
            <a:lstStyle/>
            <a:p>
              <a:pPr indent="0" lvl="0" marL="0" marR="0" rtl="0" algn="l">
                <a:lnSpc>
                  <a:spcPct val="100000"/>
                </a:lnSpc>
                <a:spcBef>
                  <a:spcPts val="0"/>
                </a:spcBef>
                <a:spcAft>
                  <a:spcPts val="0"/>
                </a:spcAft>
                <a:buClr>
                  <a:srgbClr val="000000"/>
                </a:buClr>
                <a:buSzPts val="1276"/>
                <a:buFont typeface="Arial"/>
                <a:buNone/>
              </a:pPr>
              <a:r>
                <a:t/>
              </a:r>
              <a:endParaRPr b="0" i="0" sz="1276" u="none" cap="none" strike="noStrike">
                <a:solidFill>
                  <a:srgbClr val="000000"/>
                </a:solidFill>
                <a:latin typeface="Arial"/>
                <a:ea typeface="Arial"/>
                <a:cs typeface="Arial"/>
                <a:sym typeface="Arial"/>
              </a:endParaRPr>
            </a:p>
          </p:txBody>
        </p:sp>
      </p:grpSp>
      <p:sp>
        <p:nvSpPr>
          <p:cNvPr id="321" name="Google Shape;321;p38"/>
          <p:cNvSpPr/>
          <p:nvPr/>
        </p:nvSpPr>
        <p:spPr>
          <a:xfrm>
            <a:off x="674953" y="643456"/>
            <a:ext cx="6555600" cy="801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43728"/>
              </a:buClr>
              <a:buSzPts val="1641"/>
              <a:buFont typeface="Crimson Pro"/>
              <a:buNone/>
            </a:pPr>
            <a:r>
              <a:rPr b="1" i="0" lang="en-GB" sz="1367" u="none" cap="none" strike="noStrike">
                <a:solidFill>
                  <a:srgbClr val="443728"/>
                </a:solidFill>
              </a:rPr>
              <a:t>How the Embedding Space Is Shaped?</a:t>
            </a:r>
            <a:endParaRPr b="1" i="0" sz="1367" u="none" cap="none" strike="noStrike">
              <a:solidFill>
                <a:srgbClr val="443728"/>
              </a:solidFill>
            </a:endParaRPr>
          </a:p>
          <a:p>
            <a:pPr indent="0" lvl="0" marL="0" marR="0" rtl="0" algn="l">
              <a:lnSpc>
                <a:spcPct val="146428"/>
              </a:lnSpc>
              <a:spcBef>
                <a:spcPts val="0"/>
              </a:spcBef>
              <a:spcAft>
                <a:spcPts val="0"/>
              </a:spcAft>
              <a:buClr>
                <a:srgbClr val="443728"/>
              </a:buClr>
              <a:buSzPts val="1276"/>
              <a:buFont typeface="Open Sans"/>
              <a:buNone/>
            </a:pPr>
            <a:r>
              <a:rPr i="0" lang="en-GB" sz="1185" u="none" cap="none" strike="noStrike">
                <a:solidFill>
                  <a:srgbClr val="443728"/>
                </a:solidFill>
              </a:rPr>
              <a:t>The contrastive learning objective directly sculpts the geometry of the embedding space to reflect narrative structure.</a:t>
            </a:r>
            <a:endParaRPr i="0" sz="1185" u="none" cap="none" strike="noStrike">
              <a:solidFill>
                <a:srgbClr val="443728"/>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15"/>
                                        </p:tgtEl>
                                        <p:attrNameLst>
                                          <p:attrName>style.visibility</p:attrName>
                                        </p:attrNameLst>
                                      </p:cBhvr>
                                      <p:to>
                                        <p:strVal val="visible"/>
                                      </p:to>
                                    </p:set>
                                    <p:animEffect filter="fade" transition="in">
                                      <p:cBhvr>
                                        <p:cTn dur="1000"/>
                                        <p:tgtEl>
                                          <p:spTgt spid="315"/>
                                        </p:tgtEl>
                                      </p:cBhvr>
                                    </p:animEffect>
                                  </p:childTnLst>
                                </p:cTn>
                              </p:par>
                            </p:childTnLst>
                          </p:cTn>
                        </p:par>
                        <p:par>
                          <p:cTn fill="hold">
                            <p:stCondLst>
                              <p:cond delay="1000"/>
                            </p:stCondLst>
                            <p:childTnLst>
                              <p:par>
                                <p:cTn fill="hold" nodeType="afterEffect" presetClass="entr" presetID="2" presetSubtype="4">
                                  <p:stCondLst>
                                    <p:cond delay="0"/>
                                  </p:stCondLst>
                                  <p:childTnLst>
                                    <p:set>
                                      <p:cBhvr>
                                        <p:cTn dur="1" fill="hold">
                                          <p:stCondLst>
                                            <p:cond delay="0"/>
                                          </p:stCondLst>
                                        </p:cTn>
                                        <p:tgtEl>
                                          <p:spTgt spid="313"/>
                                        </p:tgtEl>
                                        <p:attrNameLst>
                                          <p:attrName>style.visibility</p:attrName>
                                        </p:attrNameLst>
                                      </p:cBhvr>
                                      <p:to>
                                        <p:strVal val="visible"/>
                                      </p:to>
                                    </p:set>
                                    <p:anim calcmode="lin" valueType="num">
                                      <p:cBhvr additive="base">
                                        <p:cTn dur="1000"/>
                                        <p:tgtEl>
                                          <p:spTgt spid="31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6"/>
                                        </p:tgtEl>
                                        <p:attrNameLst>
                                          <p:attrName>style.visibility</p:attrName>
                                        </p:attrNameLst>
                                      </p:cBhvr>
                                      <p:to>
                                        <p:strVal val="visible"/>
                                      </p:to>
                                    </p:set>
                                    <p:anim calcmode="lin" valueType="num">
                                      <p:cBhvr additive="base">
                                        <p:cTn dur="1000"/>
                                        <p:tgtEl>
                                          <p:spTgt spid="31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7"/>
                                        </p:tgtEl>
                                        <p:attrNameLst>
                                          <p:attrName>style.visibility</p:attrName>
                                        </p:attrNameLst>
                                      </p:cBhvr>
                                      <p:to>
                                        <p:strVal val="visible"/>
                                      </p:to>
                                    </p:set>
                                    <p:anim calcmode="lin" valueType="num">
                                      <p:cBhvr additive="base">
                                        <p:cTn dur="1000"/>
                                        <p:tgtEl>
                                          <p:spTgt spid="31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39"/>
          <p:cNvSpPr/>
          <p:nvPr/>
        </p:nvSpPr>
        <p:spPr>
          <a:xfrm>
            <a:off x="860322" y="26786"/>
            <a:ext cx="2732400" cy="341400"/>
          </a:xfrm>
          <a:prstGeom prst="rect">
            <a:avLst/>
          </a:prstGeom>
          <a:noFill/>
          <a:ln>
            <a:noFill/>
          </a:ln>
        </p:spPr>
        <p:txBody>
          <a:bodyPr anchorCtr="0" anchor="t" bIns="0" lIns="0" spcFirstLastPara="1" rIns="0" wrap="square" tIns="0">
            <a:noAutofit/>
          </a:bodyPr>
          <a:lstStyle/>
          <a:p>
            <a:pPr indent="0" lvl="0" marL="0" marR="0" rtl="0" algn="l">
              <a:lnSpc>
                <a:spcPct val="124590"/>
              </a:lnSpc>
              <a:spcBef>
                <a:spcPts val="0"/>
              </a:spcBef>
              <a:spcAft>
                <a:spcPts val="0"/>
              </a:spcAft>
              <a:buClr>
                <a:srgbClr val="443728"/>
              </a:buClr>
              <a:buSzPts val="2139"/>
              <a:buFont typeface="Crimson Pro"/>
              <a:buNone/>
            </a:pPr>
            <a:r>
              <a:rPr b="1" i="0" lang="en-GB" sz="2039" u="none" cap="none" strike="noStrike">
                <a:solidFill>
                  <a:srgbClr val="443728"/>
                </a:solidFill>
              </a:rPr>
              <a:t>TCL Pipeline</a:t>
            </a:r>
            <a:endParaRPr i="0" sz="2039" u="none" cap="none" strike="noStrike">
              <a:solidFill>
                <a:srgbClr val="000000"/>
              </a:solidFill>
            </a:endParaRPr>
          </a:p>
        </p:txBody>
      </p:sp>
      <p:sp>
        <p:nvSpPr>
          <p:cNvPr id="327" name="Google Shape;327;p39"/>
          <p:cNvSpPr/>
          <p:nvPr/>
        </p:nvSpPr>
        <p:spPr>
          <a:xfrm>
            <a:off x="860322" y="518486"/>
            <a:ext cx="7541700" cy="147600"/>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Clr>
                <a:srgbClr val="443728"/>
              </a:buClr>
              <a:buSzPts val="842"/>
              <a:buFont typeface="Open Sans"/>
              <a:buNone/>
            </a:pPr>
            <a:r>
              <a:rPr i="0" lang="en-GB" sz="842" u="none" cap="none" strike="noStrike">
                <a:solidFill>
                  <a:srgbClr val="443728"/>
                </a:solidFill>
              </a:rPr>
              <a:t>A four-stage architecture that transforms raw sentences into temporally structured, shift-aware representations.</a:t>
            </a:r>
            <a:endParaRPr i="0" sz="842" u="none" cap="none" strike="noStrike">
              <a:solidFill>
                <a:srgbClr val="000000"/>
              </a:solidFill>
            </a:endParaRPr>
          </a:p>
        </p:txBody>
      </p:sp>
      <p:grpSp>
        <p:nvGrpSpPr>
          <p:cNvPr id="328" name="Google Shape;328;p39"/>
          <p:cNvGrpSpPr/>
          <p:nvPr/>
        </p:nvGrpSpPr>
        <p:grpSpPr>
          <a:xfrm>
            <a:off x="1698749" y="750391"/>
            <a:ext cx="5864820" cy="2684139"/>
            <a:chOff x="1698749" y="750391"/>
            <a:chExt cx="5864820" cy="2684139"/>
          </a:xfrm>
        </p:grpSpPr>
        <p:pic>
          <p:nvPicPr>
            <p:cNvPr descr="preencoded.png" id="329" name="Google Shape;329;p39"/>
            <p:cNvPicPr preferRelativeResize="0"/>
            <p:nvPr/>
          </p:nvPicPr>
          <p:blipFill rotWithShape="1">
            <a:blip r:embed="rId3">
              <a:alphaModFix/>
            </a:blip>
            <a:srcRect b="0" l="0" r="0" t="0"/>
            <a:stretch/>
          </p:blipFill>
          <p:spPr>
            <a:xfrm>
              <a:off x="1698749" y="750391"/>
              <a:ext cx="5864820" cy="2684139"/>
            </a:xfrm>
            <a:prstGeom prst="rect">
              <a:avLst/>
            </a:prstGeom>
            <a:noFill/>
            <a:ln>
              <a:noFill/>
            </a:ln>
          </p:spPr>
        </p:pic>
        <p:sp>
          <p:nvSpPr>
            <p:cNvPr id="330" name="Google Shape;330;p39"/>
            <p:cNvSpPr/>
            <p:nvPr/>
          </p:nvSpPr>
          <p:spPr>
            <a:xfrm>
              <a:off x="6189472" y="2691079"/>
              <a:ext cx="1101000" cy="424200"/>
            </a:xfrm>
            <a:prstGeom prst="rect">
              <a:avLst/>
            </a:prstGeom>
            <a:noFill/>
            <a:ln>
              <a:noFill/>
            </a:ln>
          </p:spPr>
          <p:txBody>
            <a:bodyPr anchorCtr="0" anchor="t" bIns="0" lIns="0" spcFirstLastPara="1" rIns="0" wrap="square" tIns="0">
              <a:noAutofit/>
            </a:bodyPr>
            <a:lstStyle/>
            <a:p>
              <a:pPr indent="0" lvl="0" marL="0" marR="0" rtl="0" algn="ctr">
                <a:lnSpc>
                  <a:spcPct val="123684"/>
                </a:lnSpc>
                <a:spcBef>
                  <a:spcPts val="0"/>
                </a:spcBef>
                <a:spcAft>
                  <a:spcPts val="0"/>
                </a:spcAft>
                <a:buClr>
                  <a:srgbClr val="443728"/>
                </a:buClr>
                <a:buSzPts val="1333"/>
                <a:buFont typeface="Crimson Pro"/>
                <a:buNone/>
              </a:pPr>
              <a:r>
                <a:rPr b="1" i="0" lang="en-GB" sz="1333" u="none" cap="none" strike="noStrike">
                  <a:solidFill>
                    <a:srgbClr val="443728"/>
                  </a:solidFill>
                  <a:latin typeface="Crimson Pro"/>
                  <a:ea typeface="Crimson Pro"/>
                  <a:cs typeface="Crimson Pro"/>
                  <a:sym typeface="Crimson Pro"/>
                </a:rPr>
                <a:t>Contrastive Loss</a:t>
              </a:r>
              <a:endParaRPr b="0" i="0" sz="1333" u="none" cap="none" strike="noStrike">
                <a:solidFill>
                  <a:srgbClr val="000000"/>
                </a:solidFill>
                <a:latin typeface="Arial"/>
                <a:ea typeface="Arial"/>
                <a:cs typeface="Arial"/>
                <a:sym typeface="Arial"/>
              </a:endParaRPr>
            </a:p>
          </p:txBody>
        </p:sp>
        <p:sp>
          <p:nvSpPr>
            <p:cNvPr id="331" name="Google Shape;331;p39"/>
            <p:cNvSpPr/>
            <p:nvPr/>
          </p:nvSpPr>
          <p:spPr>
            <a:xfrm>
              <a:off x="4801812" y="2691079"/>
              <a:ext cx="1101000" cy="424200"/>
            </a:xfrm>
            <a:prstGeom prst="rect">
              <a:avLst/>
            </a:prstGeom>
            <a:noFill/>
            <a:ln>
              <a:noFill/>
            </a:ln>
          </p:spPr>
          <p:txBody>
            <a:bodyPr anchorCtr="0" anchor="t" bIns="0" lIns="0" spcFirstLastPara="1" rIns="0" wrap="square" tIns="0">
              <a:noAutofit/>
            </a:bodyPr>
            <a:lstStyle/>
            <a:p>
              <a:pPr indent="0" lvl="0" marL="0" marR="0" rtl="0" algn="ctr">
                <a:lnSpc>
                  <a:spcPct val="123684"/>
                </a:lnSpc>
                <a:spcBef>
                  <a:spcPts val="0"/>
                </a:spcBef>
                <a:spcAft>
                  <a:spcPts val="0"/>
                </a:spcAft>
                <a:buClr>
                  <a:srgbClr val="443728"/>
                </a:buClr>
                <a:buSzPts val="1333"/>
                <a:buFont typeface="Crimson Pro"/>
                <a:buNone/>
              </a:pPr>
              <a:r>
                <a:rPr b="1" i="0" lang="en-GB" sz="1333" u="none" cap="none" strike="noStrike">
                  <a:solidFill>
                    <a:srgbClr val="443728"/>
                  </a:solidFill>
                  <a:latin typeface="Crimson Pro"/>
                  <a:ea typeface="Crimson Pro"/>
                  <a:cs typeface="Crimson Pro"/>
                  <a:sym typeface="Crimson Pro"/>
                </a:rPr>
                <a:t>Transformer Proc</a:t>
              </a:r>
              <a:endParaRPr b="0" i="0" sz="1333" u="none" cap="none" strike="noStrike">
                <a:solidFill>
                  <a:srgbClr val="000000"/>
                </a:solidFill>
                <a:latin typeface="Arial"/>
                <a:ea typeface="Arial"/>
                <a:cs typeface="Arial"/>
                <a:sym typeface="Arial"/>
              </a:endParaRPr>
            </a:p>
          </p:txBody>
        </p:sp>
        <p:sp>
          <p:nvSpPr>
            <p:cNvPr id="332" name="Google Shape;332;p39"/>
            <p:cNvSpPr/>
            <p:nvPr/>
          </p:nvSpPr>
          <p:spPr>
            <a:xfrm>
              <a:off x="3421694" y="2797133"/>
              <a:ext cx="1101000" cy="212100"/>
            </a:xfrm>
            <a:prstGeom prst="rect">
              <a:avLst/>
            </a:prstGeom>
            <a:noFill/>
            <a:ln>
              <a:noFill/>
            </a:ln>
          </p:spPr>
          <p:txBody>
            <a:bodyPr anchorCtr="0" anchor="t" bIns="0" lIns="0" spcFirstLastPara="1" rIns="0" wrap="square" tIns="0">
              <a:noAutofit/>
            </a:bodyPr>
            <a:lstStyle/>
            <a:p>
              <a:pPr indent="0" lvl="0" marL="0" marR="0" rtl="0" algn="ctr">
                <a:lnSpc>
                  <a:spcPct val="123684"/>
                </a:lnSpc>
                <a:spcBef>
                  <a:spcPts val="0"/>
                </a:spcBef>
                <a:spcAft>
                  <a:spcPts val="0"/>
                </a:spcAft>
                <a:buClr>
                  <a:srgbClr val="443728"/>
                </a:buClr>
                <a:buSzPts val="1333"/>
                <a:buFont typeface="Crimson Pro"/>
                <a:buNone/>
              </a:pPr>
              <a:r>
                <a:rPr b="1" i="0" lang="en-GB" sz="1333" u="none" cap="none" strike="noStrike">
                  <a:solidFill>
                    <a:srgbClr val="443728"/>
                  </a:solidFill>
                  <a:latin typeface="Crimson Pro"/>
                  <a:ea typeface="Crimson Pro"/>
                  <a:cs typeface="Crimson Pro"/>
                  <a:sym typeface="Crimson Pro"/>
                </a:rPr>
                <a:t>Temporal Seg</a:t>
              </a:r>
              <a:endParaRPr b="0" i="0" sz="1333" u="none" cap="none" strike="noStrike">
                <a:solidFill>
                  <a:srgbClr val="000000"/>
                </a:solidFill>
                <a:latin typeface="Arial"/>
                <a:ea typeface="Arial"/>
                <a:cs typeface="Arial"/>
                <a:sym typeface="Arial"/>
              </a:endParaRPr>
            </a:p>
          </p:txBody>
        </p:sp>
        <p:sp>
          <p:nvSpPr>
            <p:cNvPr id="333" name="Google Shape;333;p39"/>
            <p:cNvSpPr/>
            <p:nvPr/>
          </p:nvSpPr>
          <p:spPr>
            <a:xfrm>
              <a:off x="2011410" y="2797133"/>
              <a:ext cx="1101000" cy="212100"/>
            </a:xfrm>
            <a:prstGeom prst="rect">
              <a:avLst/>
            </a:prstGeom>
            <a:noFill/>
            <a:ln>
              <a:noFill/>
            </a:ln>
          </p:spPr>
          <p:txBody>
            <a:bodyPr anchorCtr="0" anchor="t" bIns="0" lIns="0" spcFirstLastPara="1" rIns="0" wrap="square" tIns="0">
              <a:noAutofit/>
            </a:bodyPr>
            <a:lstStyle/>
            <a:p>
              <a:pPr indent="0" lvl="0" marL="0" marR="0" rtl="0" algn="ctr">
                <a:lnSpc>
                  <a:spcPct val="123684"/>
                </a:lnSpc>
                <a:spcBef>
                  <a:spcPts val="0"/>
                </a:spcBef>
                <a:spcAft>
                  <a:spcPts val="0"/>
                </a:spcAft>
                <a:buClr>
                  <a:srgbClr val="443728"/>
                </a:buClr>
                <a:buSzPts val="1333"/>
                <a:buFont typeface="Crimson Pro"/>
                <a:buNone/>
              </a:pPr>
              <a:r>
                <a:rPr b="1" i="0" lang="en-GB" sz="1333" u="none" cap="none" strike="noStrike">
                  <a:solidFill>
                    <a:srgbClr val="443728"/>
                  </a:solidFill>
                  <a:latin typeface="Crimson Pro"/>
                  <a:ea typeface="Crimson Pro"/>
                  <a:cs typeface="Crimson Pro"/>
                  <a:sym typeface="Crimson Pro"/>
                </a:rPr>
                <a:t>SBERT Encode</a:t>
              </a:r>
              <a:endParaRPr b="0" i="0" sz="1333" u="none" cap="none" strike="noStrike">
                <a:solidFill>
                  <a:srgbClr val="000000"/>
                </a:solidFill>
                <a:latin typeface="Arial"/>
                <a:ea typeface="Arial"/>
                <a:cs typeface="Arial"/>
                <a:sym typeface="Arial"/>
              </a:endParaRPr>
            </a:p>
          </p:txBody>
        </p:sp>
      </p:grpSp>
      <p:grpSp>
        <p:nvGrpSpPr>
          <p:cNvPr id="334" name="Google Shape;334;p39"/>
          <p:cNvGrpSpPr/>
          <p:nvPr/>
        </p:nvGrpSpPr>
        <p:grpSpPr>
          <a:xfrm>
            <a:off x="860209" y="3283410"/>
            <a:ext cx="3733500" cy="761400"/>
            <a:chOff x="860209" y="3283410"/>
            <a:chExt cx="3733500" cy="761400"/>
          </a:xfrm>
        </p:grpSpPr>
        <p:sp>
          <p:nvSpPr>
            <p:cNvPr id="335" name="Google Shape;335;p39"/>
            <p:cNvSpPr/>
            <p:nvPr/>
          </p:nvSpPr>
          <p:spPr>
            <a:xfrm>
              <a:off x="860209" y="3283410"/>
              <a:ext cx="3733500" cy="761400"/>
            </a:xfrm>
            <a:prstGeom prst="roundRect">
              <a:avLst>
                <a:gd fmla="val 6030" name="adj"/>
              </a:avLst>
            </a:prstGeom>
            <a:solidFill>
              <a:srgbClr val="FFFCFA"/>
            </a:solidFill>
            <a:ln cap="flat" cmpd="sng" w="16025">
              <a:solidFill>
                <a:srgbClr val="D1C8C6"/>
              </a:solidFill>
              <a:prstDash val="solid"/>
              <a:round/>
              <a:headEnd len="sm" w="sm" type="none"/>
              <a:tailEnd len="sm" w="sm" type="none"/>
            </a:ln>
          </p:spPr>
          <p:txBody>
            <a:bodyPr anchorCtr="0" anchor="ctr" bIns="64125" lIns="64125" spcFirstLastPara="1" rIns="64125" wrap="square" tIns="641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39"/>
            <p:cNvSpPr/>
            <p:nvPr/>
          </p:nvSpPr>
          <p:spPr>
            <a:xfrm>
              <a:off x="985473" y="3408673"/>
              <a:ext cx="1366200" cy="171000"/>
            </a:xfrm>
            <a:prstGeom prst="rect">
              <a:avLst/>
            </a:prstGeom>
            <a:noFill/>
            <a:ln>
              <a:noFill/>
            </a:ln>
          </p:spPr>
          <p:txBody>
            <a:bodyPr anchorCtr="0" anchor="t" bIns="0" lIns="0" spcFirstLastPara="1" rIns="0" wrap="square" tIns="0">
              <a:noAutofit/>
            </a:bodyPr>
            <a:lstStyle/>
            <a:p>
              <a:pPr indent="0" lvl="0" marL="0" marR="0" rtl="0" algn="l">
                <a:lnSpc>
                  <a:spcPct val="126666"/>
                </a:lnSpc>
                <a:spcBef>
                  <a:spcPts val="0"/>
                </a:spcBef>
                <a:spcAft>
                  <a:spcPts val="0"/>
                </a:spcAft>
                <a:buClr>
                  <a:srgbClr val="443728"/>
                </a:buClr>
                <a:buSzPts val="1052"/>
                <a:buFont typeface="Crimson Pro"/>
                <a:buNone/>
              </a:pPr>
              <a:r>
                <a:rPr b="1" i="0" lang="en-GB" sz="1052" u="none" cap="none" strike="noStrike">
                  <a:solidFill>
                    <a:srgbClr val="443728"/>
                  </a:solidFill>
                  <a:latin typeface="Crimson Pro"/>
                  <a:ea typeface="Crimson Pro"/>
                  <a:cs typeface="Crimson Pro"/>
                  <a:sym typeface="Crimson Pro"/>
                </a:rPr>
                <a:t>Stage 1 — Encode</a:t>
              </a:r>
              <a:endParaRPr b="0" i="0" sz="1052" u="none" cap="none" strike="noStrike">
                <a:solidFill>
                  <a:srgbClr val="000000"/>
                </a:solidFill>
                <a:latin typeface="Arial"/>
                <a:ea typeface="Arial"/>
                <a:cs typeface="Arial"/>
                <a:sym typeface="Arial"/>
              </a:endParaRPr>
            </a:p>
          </p:txBody>
        </p:sp>
        <p:sp>
          <p:nvSpPr>
            <p:cNvPr id="337" name="Google Shape;337;p39"/>
            <p:cNvSpPr/>
            <p:nvPr/>
          </p:nvSpPr>
          <p:spPr>
            <a:xfrm>
              <a:off x="985473" y="3624460"/>
              <a:ext cx="3482700" cy="294900"/>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Clr>
                  <a:srgbClr val="443728"/>
                </a:buClr>
                <a:buSzPts val="842"/>
                <a:buFont typeface="Open Sans"/>
                <a:buNone/>
              </a:pPr>
              <a:r>
                <a:rPr i="0" lang="en-GB" sz="942" u="none" cap="none" strike="noStrike">
                  <a:solidFill>
                    <a:srgbClr val="443728"/>
                  </a:solidFill>
                </a:rPr>
                <a:t>Raw sentences are converted into </a:t>
              </a:r>
              <a:r>
                <a:rPr b="1" i="0" lang="en-GB" sz="942" u="none" cap="none" strike="noStrike">
                  <a:solidFill>
                    <a:srgbClr val="443728"/>
                  </a:solidFill>
                </a:rPr>
                <a:t>dense embeddings</a:t>
              </a:r>
              <a:r>
                <a:rPr i="0" lang="en-GB" sz="942" u="none" cap="none" strike="noStrike">
                  <a:solidFill>
                    <a:srgbClr val="443728"/>
                  </a:solidFill>
                </a:rPr>
                <a:t> using SBERT as the foundational encoder.</a:t>
              </a:r>
              <a:endParaRPr i="0" sz="942" u="none" cap="none" strike="noStrike">
                <a:solidFill>
                  <a:srgbClr val="000000"/>
                </a:solidFill>
              </a:endParaRPr>
            </a:p>
          </p:txBody>
        </p:sp>
      </p:grpSp>
      <p:grpSp>
        <p:nvGrpSpPr>
          <p:cNvPr id="338" name="Google Shape;338;p39"/>
          <p:cNvGrpSpPr/>
          <p:nvPr/>
        </p:nvGrpSpPr>
        <p:grpSpPr>
          <a:xfrm>
            <a:off x="4668627" y="3283410"/>
            <a:ext cx="3733500" cy="761400"/>
            <a:chOff x="4668627" y="3283410"/>
            <a:chExt cx="3733500" cy="761400"/>
          </a:xfrm>
        </p:grpSpPr>
        <p:sp>
          <p:nvSpPr>
            <p:cNvPr id="339" name="Google Shape;339;p39"/>
            <p:cNvSpPr/>
            <p:nvPr/>
          </p:nvSpPr>
          <p:spPr>
            <a:xfrm>
              <a:off x="4668627" y="3283410"/>
              <a:ext cx="3733500" cy="761400"/>
            </a:xfrm>
            <a:prstGeom prst="roundRect">
              <a:avLst>
                <a:gd fmla="val 6030" name="adj"/>
              </a:avLst>
            </a:prstGeom>
            <a:solidFill>
              <a:srgbClr val="FFFCFA"/>
            </a:solidFill>
            <a:ln cap="flat" cmpd="sng" w="16025">
              <a:solidFill>
                <a:srgbClr val="D1C8C6"/>
              </a:solidFill>
              <a:prstDash val="solid"/>
              <a:round/>
              <a:headEnd len="sm" w="sm" type="none"/>
              <a:tailEnd len="sm" w="sm" type="none"/>
            </a:ln>
          </p:spPr>
          <p:txBody>
            <a:bodyPr anchorCtr="0" anchor="ctr" bIns="64125" lIns="64125" spcFirstLastPara="1" rIns="64125" wrap="square" tIns="641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39"/>
            <p:cNvSpPr/>
            <p:nvPr/>
          </p:nvSpPr>
          <p:spPr>
            <a:xfrm>
              <a:off x="4793890" y="3408673"/>
              <a:ext cx="1366200" cy="171000"/>
            </a:xfrm>
            <a:prstGeom prst="rect">
              <a:avLst/>
            </a:prstGeom>
            <a:noFill/>
            <a:ln>
              <a:noFill/>
            </a:ln>
          </p:spPr>
          <p:txBody>
            <a:bodyPr anchorCtr="0" anchor="t" bIns="0" lIns="0" spcFirstLastPara="1" rIns="0" wrap="square" tIns="0">
              <a:noAutofit/>
            </a:bodyPr>
            <a:lstStyle/>
            <a:p>
              <a:pPr indent="0" lvl="0" marL="0" marR="0" rtl="0" algn="l">
                <a:lnSpc>
                  <a:spcPct val="126666"/>
                </a:lnSpc>
                <a:spcBef>
                  <a:spcPts val="0"/>
                </a:spcBef>
                <a:spcAft>
                  <a:spcPts val="0"/>
                </a:spcAft>
                <a:buClr>
                  <a:srgbClr val="443728"/>
                </a:buClr>
                <a:buSzPts val="1052"/>
                <a:buFont typeface="Crimson Pro"/>
                <a:buNone/>
              </a:pPr>
              <a:r>
                <a:rPr b="1" i="0" lang="en-GB" sz="1052" u="none" cap="none" strike="noStrike">
                  <a:solidFill>
                    <a:srgbClr val="443728"/>
                  </a:solidFill>
                  <a:latin typeface="Crimson Pro"/>
                  <a:ea typeface="Crimson Pro"/>
                  <a:cs typeface="Crimson Pro"/>
                  <a:sym typeface="Crimson Pro"/>
                </a:rPr>
                <a:t>Stage 2 — Segment</a:t>
              </a:r>
              <a:endParaRPr b="0" i="0" sz="1052" u="none" cap="none" strike="noStrike">
                <a:solidFill>
                  <a:srgbClr val="000000"/>
                </a:solidFill>
                <a:latin typeface="Arial"/>
                <a:ea typeface="Arial"/>
                <a:cs typeface="Arial"/>
                <a:sym typeface="Arial"/>
              </a:endParaRPr>
            </a:p>
          </p:txBody>
        </p:sp>
        <p:sp>
          <p:nvSpPr>
            <p:cNvPr id="341" name="Google Shape;341;p39"/>
            <p:cNvSpPr/>
            <p:nvPr/>
          </p:nvSpPr>
          <p:spPr>
            <a:xfrm>
              <a:off x="4793890" y="3624460"/>
              <a:ext cx="3482700" cy="294900"/>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Clr>
                  <a:srgbClr val="443728"/>
                </a:buClr>
                <a:buSzPts val="842"/>
                <a:buFont typeface="Open Sans"/>
                <a:buNone/>
              </a:pPr>
              <a:r>
                <a:rPr i="0" lang="en-GB" sz="942" u="none" cap="none" strike="noStrike">
                  <a:solidFill>
                    <a:srgbClr val="443728"/>
                  </a:solidFill>
                </a:rPr>
                <a:t>Embeddings are organized into </a:t>
              </a:r>
              <a:r>
                <a:rPr b="1" i="0" lang="en-GB" sz="942" u="none" cap="none" strike="noStrike">
                  <a:solidFill>
                    <a:srgbClr val="443728"/>
                  </a:solidFill>
                </a:rPr>
                <a:t>ordered temporal windows</a:t>
              </a:r>
              <a:r>
                <a:rPr i="0" lang="en-GB" sz="942" u="none" cap="none" strike="noStrike">
                  <a:solidFill>
                    <a:srgbClr val="443728"/>
                  </a:solidFill>
                </a:rPr>
                <a:t> that preserve sequential structure.</a:t>
              </a:r>
              <a:endParaRPr i="0" sz="942" u="none" cap="none" strike="noStrike">
                <a:solidFill>
                  <a:srgbClr val="000000"/>
                </a:solidFill>
              </a:endParaRPr>
            </a:p>
          </p:txBody>
        </p:sp>
      </p:grpSp>
      <p:grpSp>
        <p:nvGrpSpPr>
          <p:cNvPr id="342" name="Google Shape;342;p39"/>
          <p:cNvGrpSpPr/>
          <p:nvPr/>
        </p:nvGrpSpPr>
        <p:grpSpPr>
          <a:xfrm>
            <a:off x="860209" y="4119751"/>
            <a:ext cx="3733500" cy="761400"/>
            <a:chOff x="860209" y="4119751"/>
            <a:chExt cx="3733500" cy="761400"/>
          </a:xfrm>
        </p:grpSpPr>
        <p:sp>
          <p:nvSpPr>
            <p:cNvPr id="343" name="Google Shape;343;p39"/>
            <p:cNvSpPr/>
            <p:nvPr/>
          </p:nvSpPr>
          <p:spPr>
            <a:xfrm>
              <a:off x="860209" y="4119751"/>
              <a:ext cx="3733500" cy="761400"/>
            </a:xfrm>
            <a:prstGeom prst="roundRect">
              <a:avLst>
                <a:gd fmla="val 6030" name="adj"/>
              </a:avLst>
            </a:prstGeom>
            <a:solidFill>
              <a:srgbClr val="FFFCFA"/>
            </a:solidFill>
            <a:ln cap="flat" cmpd="sng" w="16025">
              <a:solidFill>
                <a:srgbClr val="D1C8C6"/>
              </a:solidFill>
              <a:prstDash val="solid"/>
              <a:round/>
              <a:headEnd len="sm" w="sm" type="none"/>
              <a:tailEnd len="sm" w="sm" type="none"/>
            </a:ln>
          </p:spPr>
          <p:txBody>
            <a:bodyPr anchorCtr="0" anchor="ctr" bIns="64125" lIns="64125" spcFirstLastPara="1" rIns="64125" wrap="square" tIns="641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39"/>
            <p:cNvSpPr/>
            <p:nvPr/>
          </p:nvSpPr>
          <p:spPr>
            <a:xfrm>
              <a:off x="985473" y="4245014"/>
              <a:ext cx="1366200" cy="171000"/>
            </a:xfrm>
            <a:prstGeom prst="rect">
              <a:avLst/>
            </a:prstGeom>
            <a:noFill/>
            <a:ln>
              <a:noFill/>
            </a:ln>
          </p:spPr>
          <p:txBody>
            <a:bodyPr anchorCtr="0" anchor="t" bIns="0" lIns="0" spcFirstLastPara="1" rIns="0" wrap="square" tIns="0">
              <a:noAutofit/>
            </a:bodyPr>
            <a:lstStyle/>
            <a:p>
              <a:pPr indent="0" lvl="0" marL="0" marR="0" rtl="0" algn="l">
                <a:lnSpc>
                  <a:spcPct val="126666"/>
                </a:lnSpc>
                <a:spcBef>
                  <a:spcPts val="0"/>
                </a:spcBef>
                <a:spcAft>
                  <a:spcPts val="0"/>
                </a:spcAft>
                <a:buClr>
                  <a:srgbClr val="443728"/>
                </a:buClr>
                <a:buSzPts val="1052"/>
                <a:buFont typeface="Crimson Pro"/>
                <a:buNone/>
              </a:pPr>
              <a:r>
                <a:rPr b="1" i="0" lang="en-GB" sz="1052" u="none" cap="none" strike="noStrike">
                  <a:solidFill>
                    <a:srgbClr val="443728"/>
                  </a:solidFill>
                  <a:latin typeface="Crimson Pro"/>
                  <a:ea typeface="Crimson Pro"/>
                  <a:cs typeface="Crimson Pro"/>
                  <a:sym typeface="Crimson Pro"/>
                </a:rPr>
                <a:t>Stage 3 — Transform</a:t>
              </a:r>
              <a:endParaRPr b="0" i="0" sz="1052" u="none" cap="none" strike="noStrike">
                <a:solidFill>
                  <a:srgbClr val="000000"/>
                </a:solidFill>
                <a:latin typeface="Arial"/>
                <a:ea typeface="Arial"/>
                <a:cs typeface="Arial"/>
                <a:sym typeface="Arial"/>
              </a:endParaRPr>
            </a:p>
          </p:txBody>
        </p:sp>
        <p:sp>
          <p:nvSpPr>
            <p:cNvPr id="345" name="Google Shape;345;p39"/>
            <p:cNvSpPr/>
            <p:nvPr/>
          </p:nvSpPr>
          <p:spPr>
            <a:xfrm>
              <a:off x="985473" y="4460801"/>
              <a:ext cx="3482700" cy="294900"/>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Clr>
                  <a:srgbClr val="443728"/>
                </a:buClr>
                <a:buSzPts val="842"/>
                <a:buFont typeface="Open Sans"/>
                <a:buNone/>
              </a:pPr>
              <a:r>
                <a:rPr i="0" lang="en-GB" sz="942" u="none" cap="none" strike="noStrike">
                  <a:solidFill>
                    <a:srgbClr val="443728"/>
                  </a:solidFill>
                </a:rPr>
                <a:t>A </a:t>
              </a:r>
              <a:r>
                <a:rPr b="1" i="0" lang="en-GB" sz="942" u="none" cap="none" strike="noStrike">
                  <a:solidFill>
                    <a:srgbClr val="443728"/>
                  </a:solidFill>
                </a:rPr>
                <a:t>transformer encoder</a:t>
              </a:r>
              <a:r>
                <a:rPr i="0" lang="en-GB" sz="942" u="none" cap="none" strike="noStrike">
                  <a:solidFill>
                    <a:srgbClr val="443728"/>
                  </a:solidFill>
                </a:rPr>
                <a:t> processes each segment, integrating contextual information across the sequence.</a:t>
              </a:r>
              <a:endParaRPr i="0" sz="942" u="none" cap="none" strike="noStrike">
                <a:solidFill>
                  <a:srgbClr val="000000"/>
                </a:solidFill>
              </a:endParaRPr>
            </a:p>
          </p:txBody>
        </p:sp>
      </p:grpSp>
      <p:grpSp>
        <p:nvGrpSpPr>
          <p:cNvPr id="346" name="Google Shape;346;p39"/>
          <p:cNvGrpSpPr/>
          <p:nvPr/>
        </p:nvGrpSpPr>
        <p:grpSpPr>
          <a:xfrm>
            <a:off x="4668627" y="4119751"/>
            <a:ext cx="3733500" cy="761400"/>
            <a:chOff x="4668627" y="4119751"/>
            <a:chExt cx="3733500" cy="761400"/>
          </a:xfrm>
        </p:grpSpPr>
        <p:sp>
          <p:nvSpPr>
            <p:cNvPr id="347" name="Google Shape;347;p39"/>
            <p:cNvSpPr/>
            <p:nvPr/>
          </p:nvSpPr>
          <p:spPr>
            <a:xfrm>
              <a:off x="4668627" y="4119751"/>
              <a:ext cx="3733500" cy="761400"/>
            </a:xfrm>
            <a:prstGeom prst="roundRect">
              <a:avLst>
                <a:gd fmla="val 6030" name="adj"/>
              </a:avLst>
            </a:prstGeom>
            <a:solidFill>
              <a:srgbClr val="FFFCFA"/>
            </a:solidFill>
            <a:ln cap="flat" cmpd="sng" w="16025">
              <a:solidFill>
                <a:srgbClr val="D1C8C6"/>
              </a:solidFill>
              <a:prstDash val="solid"/>
              <a:round/>
              <a:headEnd len="sm" w="sm" type="none"/>
              <a:tailEnd len="sm" w="sm" type="none"/>
            </a:ln>
          </p:spPr>
          <p:txBody>
            <a:bodyPr anchorCtr="0" anchor="ctr" bIns="64125" lIns="64125" spcFirstLastPara="1" rIns="64125" wrap="square" tIns="641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39"/>
            <p:cNvSpPr/>
            <p:nvPr/>
          </p:nvSpPr>
          <p:spPr>
            <a:xfrm>
              <a:off x="4793890" y="4245014"/>
              <a:ext cx="1366200" cy="171000"/>
            </a:xfrm>
            <a:prstGeom prst="rect">
              <a:avLst/>
            </a:prstGeom>
            <a:noFill/>
            <a:ln>
              <a:noFill/>
            </a:ln>
          </p:spPr>
          <p:txBody>
            <a:bodyPr anchorCtr="0" anchor="t" bIns="0" lIns="0" spcFirstLastPara="1" rIns="0" wrap="square" tIns="0">
              <a:noAutofit/>
            </a:bodyPr>
            <a:lstStyle/>
            <a:p>
              <a:pPr indent="0" lvl="0" marL="0" marR="0" rtl="0" algn="l">
                <a:lnSpc>
                  <a:spcPct val="126666"/>
                </a:lnSpc>
                <a:spcBef>
                  <a:spcPts val="0"/>
                </a:spcBef>
                <a:spcAft>
                  <a:spcPts val="0"/>
                </a:spcAft>
                <a:buClr>
                  <a:srgbClr val="443728"/>
                </a:buClr>
                <a:buSzPts val="1052"/>
                <a:buFont typeface="Crimson Pro"/>
                <a:buNone/>
              </a:pPr>
              <a:r>
                <a:rPr b="1" i="0" lang="en-GB" sz="1052" u="none" cap="none" strike="noStrike">
                  <a:solidFill>
                    <a:srgbClr val="443728"/>
                  </a:solidFill>
                  <a:latin typeface="Crimson Pro"/>
                  <a:ea typeface="Crimson Pro"/>
                  <a:cs typeface="Crimson Pro"/>
                  <a:sym typeface="Crimson Pro"/>
                </a:rPr>
                <a:t>Stage 4 — Learn</a:t>
              </a:r>
              <a:endParaRPr b="0" i="0" sz="1052" u="none" cap="none" strike="noStrike">
                <a:solidFill>
                  <a:srgbClr val="000000"/>
                </a:solidFill>
                <a:latin typeface="Arial"/>
                <a:ea typeface="Arial"/>
                <a:cs typeface="Arial"/>
                <a:sym typeface="Arial"/>
              </a:endParaRPr>
            </a:p>
          </p:txBody>
        </p:sp>
        <p:sp>
          <p:nvSpPr>
            <p:cNvPr id="349" name="Google Shape;349;p39"/>
            <p:cNvSpPr/>
            <p:nvPr/>
          </p:nvSpPr>
          <p:spPr>
            <a:xfrm>
              <a:off x="4793890" y="4460801"/>
              <a:ext cx="3482700" cy="294900"/>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Clr>
                  <a:srgbClr val="443728"/>
                </a:buClr>
                <a:buSzPts val="842"/>
                <a:buFont typeface="Open Sans"/>
                <a:buNone/>
              </a:pPr>
              <a:r>
                <a:rPr b="1" i="0" lang="en-GB" sz="942" u="none" cap="none" strike="noStrike">
                  <a:solidFill>
                    <a:srgbClr val="443728"/>
                  </a:solidFill>
                </a:rPr>
                <a:t>Contrastive loss</a:t>
              </a:r>
              <a:r>
                <a:rPr i="0" lang="en-GB" sz="942" u="none" cap="none" strike="noStrike">
                  <a:solidFill>
                    <a:srgbClr val="443728"/>
                  </a:solidFill>
                </a:rPr>
                <a:t> is applied to enforce temporal proximity and separation across the representation space.</a:t>
              </a:r>
              <a:endParaRPr i="0" sz="942" u="none" cap="none" strike="noStrike">
                <a:solidFill>
                  <a:srgbClr val="000000"/>
                </a:solidFil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28"/>
                                        </p:tgtEl>
                                        <p:attrNameLst>
                                          <p:attrName>style.visibility</p:attrName>
                                        </p:attrNameLst>
                                      </p:cBhvr>
                                      <p:to>
                                        <p:strVal val="visible"/>
                                      </p:to>
                                    </p:set>
                                    <p:animEffect filter="fade" transition="in">
                                      <p:cBhvr>
                                        <p:cTn dur="1000"/>
                                        <p:tgtEl>
                                          <p:spTgt spid="328"/>
                                        </p:tgtEl>
                                      </p:cBhvr>
                                    </p:animEffect>
                                  </p:childTnLst>
                                </p:cTn>
                              </p:par>
                            </p:childTnLst>
                          </p:cTn>
                        </p:par>
                        <p:par>
                          <p:cTn fill="hold">
                            <p:stCondLst>
                              <p:cond delay="1000"/>
                            </p:stCondLst>
                            <p:childTnLst>
                              <p:par>
                                <p:cTn fill="hold" nodeType="afterEffect" presetClass="entr" presetID="2" presetSubtype="4">
                                  <p:stCondLst>
                                    <p:cond delay="0"/>
                                  </p:stCondLst>
                                  <p:childTnLst>
                                    <p:set>
                                      <p:cBhvr>
                                        <p:cTn dur="1" fill="hold">
                                          <p:stCondLst>
                                            <p:cond delay="0"/>
                                          </p:stCondLst>
                                        </p:cTn>
                                        <p:tgtEl>
                                          <p:spTgt spid="334"/>
                                        </p:tgtEl>
                                        <p:attrNameLst>
                                          <p:attrName>style.visibility</p:attrName>
                                        </p:attrNameLst>
                                      </p:cBhvr>
                                      <p:to>
                                        <p:strVal val="visible"/>
                                      </p:to>
                                    </p:set>
                                    <p:anim calcmode="lin" valueType="num">
                                      <p:cBhvr additive="base">
                                        <p:cTn dur="1000"/>
                                        <p:tgtEl>
                                          <p:spTgt spid="33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8"/>
                                        </p:tgtEl>
                                        <p:attrNameLst>
                                          <p:attrName>style.visibility</p:attrName>
                                        </p:attrNameLst>
                                      </p:cBhvr>
                                      <p:to>
                                        <p:strVal val="visible"/>
                                      </p:to>
                                    </p:set>
                                    <p:anim calcmode="lin" valueType="num">
                                      <p:cBhvr additive="base">
                                        <p:cTn dur="1000"/>
                                        <p:tgtEl>
                                          <p:spTgt spid="33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2"/>
                                        </p:tgtEl>
                                        <p:attrNameLst>
                                          <p:attrName>style.visibility</p:attrName>
                                        </p:attrNameLst>
                                      </p:cBhvr>
                                      <p:to>
                                        <p:strVal val="visible"/>
                                      </p:to>
                                    </p:set>
                                    <p:anim calcmode="lin" valueType="num">
                                      <p:cBhvr additive="base">
                                        <p:cTn dur="1000"/>
                                        <p:tgtEl>
                                          <p:spTgt spid="34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6"/>
                                        </p:tgtEl>
                                        <p:attrNameLst>
                                          <p:attrName>style.visibility</p:attrName>
                                        </p:attrNameLst>
                                      </p:cBhvr>
                                      <p:to>
                                        <p:strVal val="visible"/>
                                      </p:to>
                                    </p:set>
                                    <p:anim calcmode="lin" valueType="num">
                                      <p:cBhvr additive="base">
                                        <p:cTn dur="1000"/>
                                        <p:tgtEl>
                                          <p:spTgt spid="34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0"/>
          <p:cNvSpPr/>
          <p:nvPr/>
        </p:nvSpPr>
        <p:spPr>
          <a:xfrm>
            <a:off x="201349" y="187350"/>
            <a:ext cx="7686000" cy="351900"/>
          </a:xfrm>
          <a:prstGeom prst="rect">
            <a:avLst/>
          </a:prstGeom>
          <a:noFill/>
          <a:ln>
            <a:noFill/>
          </a:ln>
        </p:spPr>
        <p:txBody>
          <a:bodyPr anchorCtr="0" anchor="t" bIns="0" lIns="0" spcFirstLastPara="1" rIns="0" wrap="square" tIns="0">
            <a:noAutofit/>
          </a:bodyPr>
          <a:lstStyle/>
          <a:p>
            <a:pPr indent="0" lvl="0" marL="0" marR="0" rtl="0" algn="l">
              <a:lnSpc>
                <a:spcPct val="126530"/>
              </a:lnSpc>
              <a:spcBef>
                <a:spcPts val="0"/>
              </a:spcBef>
              <a:spcAft>
                <a:spcPts val="0"/>
              </a:spcAft>
              <a:buClr>
                <a:srgbClr val="443728"/>
              </a:buClr>
              <a:buSzPts val="2185"/>
              <a:buFont typeface="Crimson Pro"/>
              <a:buNone/>
            </a:pPr>
            <a:r>
              <a:rPr b="1" i="0" lang="en-GB" sz="2085" u="none" cap="none" strike="noStrike">
                <a:solidFill>
                  <a:srgbClr val="443728"/>
                </a:solidFill>
              </a:rPr>
              <a:t>Advantages of Temporal Contrastive Learning</a:t>
            </a:r>
            <a:endParaRPr i="0" sz="2085" u="none" cap="none" strike="noStrike">
              <a:solidFill>
                <a:srgbClr val="000000"/>
              </a:solidFill>
            </a:endParaRPr>
          </a:p>
        </p:txBody>
      </p:sp>
      <p:grpSp>
        <p:nvGrpSpPr>
          <p:cNvPr id="355" name="Google Shape;355;p40"/>
          <p:cNvGrpSpPr/>
          <p:nvPr/>
        </p:nvGrpSpPr>
        <p:grpSpPr>
          <a:xfrm>
            <a:off x="133226" y="633175"/>
            <a:ext cx="8394924" cy="993300"/>
            <a:chOff x="133226" y="633175"/>
            <a:chExt cx="8394924" cy="993300"/>
          </a:xfrm>
        </p:grpSpPr>
        <p:sp>
          <p:nvSpPr>
            <p:cNvPr id="356" name="Google Shape;356;p40"/>
            <p:cNvSpPr/>
            <p:nvPr/>
          </p:nvSpPr>
          <p:spPr>
            <a:xfrm>
              <a:off x="201350" y="633175"/>
              <a:ext cx="8326800" cy="993300"/>
            </a:xfrm>
            <a:prstGeom prst="roundRect">
              <a:avLst>
                <a:gd fmla="val 4764" name="adj"/>
              </a:avLst>
            </a:prstGeom>
            <a:solidFill>
              <a:srgbClr val="EBE2E0"/>
            </a:solidFill>
            <a:ln cap="flat" cmpd="sng" w="9525">
              <a:solidFill>
                <a:srgbClr val="D1C8C6"/>
              </a:solidFill>
              <a:prstDash val="solid"/>
              <a:round/>
              <a:headEnd len="sm" w="sm" type="none"/>
              <a:tailEnd len="sm" w="sm" type="none"/>
            </a:ln>
          </p:spPr>
          <p:txBody>
            <a:bodyPr anchorCtr="0" anchor="ctr" bIns="81525" lIns="81525" spcFirstLastPara="1" rIns="81525" wrap="square" tIns="815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40"/>
            <p:cNvSpPr/>
            <p:nvPr/>
          </p:nvSpPr>
          <p:spPr>
            <a:xfrm>
              <a:off x="320729" y="833700"/>
              <a:ext cx="2889900" cy="175500"/>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443728"/>
                </a:buClr>
                <a:buSzPts val="1070"/>
                <a:buFont typeface="Crimson Pro"/>
                <a:buNone/>
              </a:pPr>
              <a:r>
                <a:rPr b="1" i="0" lang="en-GB" sz="1270" u="none" cap="none" strike="noStrike">
                  <a:solidFill>
                    <a:srgbClr val="443728"/>
                  </a:solidFill>
                </a:rPr>
                <a:t>Temporal Awareness</a:t>
              </a:r>
              <a:endParaRPr i="0" sz="1270" u="none" cap="none" strike="noStrike">
                <a:solidFill>
                  <a:srgbClr val="000000"/>
                </a:solidFill>
              </a:endParaRPr>
            </a:p>
          </p:txBody>
        </p:sp>
        <p:sp>
          <p:nvSpPr>
            <p:cNvPr id="358" name="Google Shape;358;p40"/>
            <p:cNvSpPr/>
            <p:nvPr/>
          </p:nvSpPr>
          <p:spPr>
            <a:xfrm>
              <a:off x="133226" y="1164325"/>
              <a:ext cx="8124900" cy="140100"/>
            </a:xfrm>
            <a:prstGeom prst="rect">
              <a:avLst/>
            </a:prstGeom>
            <a:noFill/>
            <a:ln>
              <a:noFill/>
            </a:ln>
          </p:spPr>
          <p:txBody>
            <a:bodyPr anchorCtr="0" anchor="t" bIns="0" lIns="0" spcFirstLastPara="1" rIns="0" wrap="square" tIns="0">
              <a:noAutofit/>
            </a:bodyPr>
            <a:lstStyle/>
            <a:p>
              <a:pPr indent="-288735" lvl="0" marL="457200" marR="0" rtl="0" algn="l">
                <a:lnSpc>
                  <a:spcPct val="126315"/>
                </a:lnSpc>
                <a:spcBef>
                  <a:spcPts val="0"/>
                </a:spcBef>
                <a:spcAft>
                  <a:spcPts val="0"/>
                </a:spcAft>
                <a:buClr>
                  <a:srgbClr val="443728"/>
                </a:buClr>
                <a:buSzPts val="947"/>
                <a:buChar char="●"/>
              </a:pPr>
              <a:r>
                <a:rPr lang="en-GB" sz="947">
                  <a:solidFill>
                    <a:srgbClr val="443728"/>
                  </a:solidFill>
                </a:rPr>
                <a:t>TCL models temporal relationships by learning from sequential segments, capturing both gradual evolution and abrupt narrative shifts instead of treating text as independent points.</a:t>
              </a:r>
              <a:endParaRPr i="0" sz="947" u="none" cap="none" strike="noStrike">
                <a:solidFill>
                  <a:srgbClr val="000000"/>
                </a:solidFill>
              </a:endParaRPr>
            </a:p>
          </p:txBody>
        </p:sp>
      </p:grpSp>
      <p:grpSp>
        <p:nvGrpSpPr>
          <p:cNvPr id="359" name="Google Shape;359;p40"/>
          <p:cNvGrpSpPr/>
          <p:nvPr/>
        </p:nvGrpSpPr>
        <p:grpSpPr>
          <a:xfrm>
            <a:off x="185725" y="1688900"/>
            <a:ext cx="8342425" cy="769500"/>
            <a:chOff x="185725" y="1688900"/>
            <a:chExt cx="8342425" cy="769500"/>
          </a:xfrm>
        </p:grpSpPr>
        <p:sp>
          <p:nvSpPr>
            <p:cNvPr id="360" name="Google Shape;360;p40"/>
            <p:cNvSpPr/>
            <p:nvPr/>
          </p:nvSpPr>
          <p:spPr>
            <a:xfrm>
              <a:off x="201350" y="1688900"/>
              <a:ext cx="8326800" cy="769500"/>
            </a:xfrm>
            <a:prstGeom prst="roundRect">
              <a:avLst>
                <a:gd fmla="val 4764" name="adj"/>
              </a:avLst>
            </a:prstGeom>
            <a:solidFill>
              <a:srgbClr val="EBE2E0"/>
            </a:solidFill>
            <a:ln cap="flat" cmpd="sng" w="9525">
              <a:solidFill>
                <a:srgbClr val="D1C8C6"/>
              </a:solidFill>
              <a:prstDash val="solid"/>
              <a:round/>
              <a:headEnd len="sm" w="sm" type="none"/>
              <a:tailEnd len="sm" w="sm" type="none"/>
            </a:ln>
          </p:spPr>
          <p:txBody>
            <a:bodyPr anchorCtr="0" anchor="ctr" bIns="81525" lIns="81525" spcFirstLastPara="1" rIns="81525" wrap="square" tIns="815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40"/>
            <p:cNvSpPr/>
            <p:nvPr/>
          </p:nvSpPr>
          <p:spPr>
            <a:xfrm>
              <a:off x="320727" y="1848850"/>
              <a:ext cx="2184900" cy="175500"/>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443728"/>
                </a:buClr>
                <a:buSzPts val="1070"/>
                <a:buFont typeface="Crimson Pro"/>
                <a:buNone/>
              </a:pPr>
              <a:r>
                <a:rPr b="1" i="0" lang="en-GB" sz="1270" u="none" cap="none" strike="noStrike">
                  <a:solidFill>
                    <a:srgbClr val="443728"/>
                  </a:solidFill>
                </a:rPr>
                <a:t>Unsupervised by Design</a:t>
              </a:r>
              <a:endParaRPr i="0" sz="1270" u="none" cap="none" strike="noStrike">
                <a:solidFill>
                  <a:srgbClr val="000000"/>
                </a:solidFill>
              </a:endParaRPr>
            </a:p>
          </p:txBody>
        </p:sp>
        <p:sp>
          <p:nvSpPr>
            <p:cNvPr id="362" name="Google Shape;362;p40"/>
            <p:cNvSpPr/>
            <p:nvPr/>
          </p:nvSpPr>
          <p:spPr>
            <a:xfrm>
              <a:off x="185725" y="2169900"/>
              <a:ext cx="8019900" cy="140100"/>
            </a:xfrm>
            <a:prstGeom prst="rect">
              <a:avLst/>
            </a:prstGeom>
            <a:noFill/>
            <a:ln>
              <a:noFill/>
            </a:ln>
          </p:spPr>
          <p:txBody>
            <a:bodyPr anchorCtr="0" anchor="t" bIns="0" lIns="0" spcFirstLastPara="1" rIns="0" wrap="square" tIns="0">
              <a:noAutofit/>
            </a:bodyPr>
            <a:lstStyle/>
            <a:p>
              <a:pPr indent="-288735" lvl="0" marL="457200" marR="0" rtl="0" algn="l">
                <a:lnSpc>
                  <a:spcPct val="126315"/>
                </a:lnSpc>
                <a:spcBef>
                  <a:spcPts val="1200"/>
                </a:spcBef>
                <a:spcAft>
                  <a:spcPts val="0"/>
                </a:spcAft>
                <a:buClr>
                  <a:srgbClr val="443728"/>
                </a:buClr>
                <a:buSzPts val="947"/>
                <a:buChar char="●"/>
              </a:pPr>
              <a:r>
                <a:rPr lang="en-GB" sz="947">
                  <a:solidFill>
                    <a:srgbClr val="443728"/>
                  </a:solidFill>
                </a:rPr>
                <a:t>The framework operates without labeled data using contrastive objectives, making it scalable and adaptable to large real-world news corpora.</a:t>
              </a:r>
              <a:endParaRPr i="0" sz="947" u="none" cap="none" strike="noStrike">
                <a:solidFill>
                  <a:srgbClr val="443728"/>
                </a:solidFill>
              </a:endParaRPr>
            </a:p>
          </p:txBody>
        </p:sp>
      </p:grpSp>
      <p:grpSp>
        <p:nvGrpSpPr>
          <p:cNvPr id="363" name="Google Shape;363;p40"/>
          <p:cNvGrpSpPr/>
          <p:nvPr/>
        </p:nvGrpSpPr>
        <p:grpSpPr>
          <a:xfrm>
            <a:off x="201038" y="2568775"/>
            <a:ext cx="8342425" cy="932700"/>
            <a:chOff x="201038" y="2568775"/>
            <a:chExt cx="8342425" cy="932700"/>
          </a:xfrm>
        </p:grpSpPr>
        <p:sp>
          <p:nvSpPr>
            <p:cNvPr id="364" name="Google Shape;364;p40"/>
            <p:cNvSpPr/>
            <p:nvPr/>
          </p:nvSpPr>
          <p:spPr>
            <a:xfrm>
              <a:off x="216663" y="2568775"/>
              <a:ext cx="8326800" cy="932700"/>
            </a:xfrm>
            <a:prstGeom prst="roundRect">
              <a:avLst>
                <a:gd fmla="val 4174" name="adj"/>
              </a:avLst>
            </a:prstGeom>
            <a:solidFill>
              <a:srgbClr val="EBE2E0"/>
            </a:solidFill>
            <a:ln cap="flat" cmpd="sng" w="9525">
              <a:solidFill>
                <a:srgbClr val="D1C8C6"/>
              </a:solidFill>
              <a:prstDash val="solid"/>
              <a:round/>
              <a:headEnd len="sm" w="sm" type="none"/>
              <a:tailEnd len="sm" w="sm" type="none"/>
            </a:ln>
          </p:spPr>
          <p:txBody>
            <a:bodyPr anchorCtr="0" anchor="ctr" bIns="81525" lIns="81525" spcFirstLastPara="1" rIns="81525" wrap="square" tIns="815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40"/>
            <p:cNvSpPr/>
            <p:nvPr/>
          </p:nvSpPr>
          <p:spPr>
            <a:xfrm>
              <a:off x="336033" y="2718908"/>
              <a:ext cx="1408200" cy="175500"/>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443728"/>
                </a:buClr>
                <a:buSzPts val="1070"/>
                <a:buFont typeface="Crimson Pro"/>
                <a:buNone/>
              </a:pPr>
              <a:r>
                <a:rPr b="1" i="0" lang="en-GB" sz="1270" u="none" cap="none" strike="noStrike">
                  <a:solidFill>
                    <a:srgbClr val="443728"/>
                  </a:solidFill>
                </a:rPr>
                <a:t>Richer Structure</a:t>
              </a:r>
              <a:endParaRPr i="0" sz="1270" u="none" cap="none" strike="noStrike">
                <a:solidFill>
                  <a:srgbClr val="000000"/>
                </a:solidFill>
              </a:endParaRPr>
            </a:p>
          </p:txBody>
        </p:sp>
        <p:sp>
          <p:nvSpPr>
            <p:cNvPr id="366" name="Google Shape;366;p40"/>
            <p:cNvSpPr/>
            <p:nvPr/>
          </p:nvSpPr>
          <p:spPr>
            <a:xfrm>
              <a:off x="201038" y="3071500"/>
              <a:ext cx="7937400" cy="280500"/>
            </a:xfrm>
            <a:prstGeom prst="rect">
              <a:avLst/>
            </a:prstGeom>
            <a:noFill/>
            <a:ln>
              <a:noFill/>
            </a:ln>
          </p:spPr>
          <p:txBody>
            <a:bodyPr anchorCtr="0" anchor="t" bIns="0" lIns="0" spcFirstLastPara="1" rIns="0" wrap="square" tIns="0">
              <a:noAutofit/>
            </a:bodyPr>
            <a:lstStyle/>
            <a:p>
              <a:pPr indent="-288735" lvl="0" marL="457200" marR="0" rtl="0" algn="l">
                <a:lnSpc>
                  <a:spcPct val="126315"/>
                </a:lnSpc>
                <a:spcBef>
                  <a:spcPts val="1200"/>
                </a:spcBef>
                <a:spcAft>
                  <a:spcPts val="0"/>
                </a:spcAft>
                <a:buClr>
                  <a:srgbClr val="443728"/>
                </a:buClr>
                <a:buSzPts val="947"/>
                <a:buChar char="●"/>
              </a:pPr>
              <a:r>
                <a:rPr lang="en-GB" sz="947">
                  <a:solidFill>
                    <a:srgbClr val="443728"/>
                  </a:solidFill>
                </a:rPr>
                <a:t>TCL learns a structured embedding space where related segments group together while distinct narratives are separated, producing more meaningful representations than SBERT or K-Means.</a:t>
              </a:r>
              <a:endParaRPr i="0" sz="847" u="none" cap="none" strike="noStrike">
                <a:solidFill>
                  <a:srgbClr val="443728"/>
                </a:solidFill>
              </a:endParaRPr>
            </a:p>
          </p:txBody>
        </p:sp>
      </p:grpSp>
      <p:grpSp>
        <p:nvGrpSpPr>
          <p:cNvPr id="367" name="Google Shape;367;p40"/>
          <p:cNvGrpSpPr/>
          <p:nvPr/>
        </p:nvGrpSpPr>
        <p:grpSpPr>
          <a:xfrm>
            <a:off x="186025" y="3611850"/>
            <a:ext cx="8357425" cy="993300"/>
            <a:chOff x="186025" y="3611850"/>
            <a:chExt cx="8357425" cy="993300"/>
          </a:xfrm>
        </p:grpSpPr>
        <p:sp>
          <p:nvSpPr>
            <p:cNvPr id="368" name="Google Shape;368;p40"/>
            <p:cNvSpPr/>
            <p:nvPr/>
          </p:nvSpPr>
          <p:spPr>
            <a:xfrm>
              <a:off x="216650" y="3611850"/>
              <a:ext cx="8326800" cy="993300"/>
            </a:xfrm>
            <a:prstGeom prst="roundRect">
              <a:avLst>
                <a:gd fmla="val 4174" name="adj"/>
              </a:avLst>
            </a:prstGeom>
            <a:solidFill>
              <a:srgbClr val="EBE2E0"/>
            </a:solidFill>
            <a:ln cap="flat" cmpd="sng" w="9525">
              <a:solidFill>
                <a:srgbClr val="D1C8C6"/>
              </a:solidFill>
              <a:prstDash val="solid"/>
              <a:round/>
              <a:headEnd len="sm" w="sm" type="none"/>
              <a:tailEnd len="sm" w="sm" type="none"/>
            </a:ln>
          </p:spPr>
          <p:txBody>
            <a:bodyPr anchorCtr="0" anchor="ctr" bIns="81525" lIns="81525" spcFirstLastPara="1" rIns="81525" wrap="square" tIns="815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40"/>
            <p:cNvSpPr/>
            <p:nvPr/>
          </p:nvSpPr>
          <p:spPr>
            <a:xfrm>
              <a:off x="336030" y="3764200"/>
              <a:ext cx="3752400" cy="175500"/>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443728"/>
                </a:buClr>
                <a:buSzPts val="1070"/>
                <a:buFont typeface="Crimson Pro"/>
                <a:buNone/>
              </a:pPr>
              <a:r>
                <a:rPr b="1" i="0" lang="en-GB" sz="1270" u="none" cap="none" strike="noStrike">
                  <a:solidFill>
                    <a:srgbClr val="443728"/>
                  </a:solidFill>
                </a:rPr>
                <a:t>Accuracy &amp; Interpretability</a:t>
              </a:r>
              <a:endParaRPr i="0" sz="1270" u="none" cap="none" strike="noStrike">
                <a:solidFill>
                  <a:srgbClr val="000000"/>
                </a:solidFill>
              </a:endParaRPr>
            </a:p>
          </p:txBody>
        </p:sp>
        <p:sp>
          <p:nvSpPr>
            <p:cNvPr id="370" name="Google Shape;370;p40"/>
            <p:cNvSpPr/>
            <p:nvPr/>
          </p:nvSpPr>
          <p:spPr>
            <a:xfrm>
              <a:off x="186025" y="4155275"/>
              <a:ext cx="7967400" cy="280500"/>
            </a:xfrm>
            <a:prstGeom prst="rect">
              <a:avLst/>
            </a:prstGeom>
            <a:noFill/>
            <a:ln>
              <a:noFill/>
            </a:ln>
          </p:spPr>
          <p:txBody>
            <a:bodyPr anchorCtr="0" anchor="t" bIns="0" lIns="0" spcFirstLastPara="1" rIns="0" wrap="square" tIns="0">
              <a:noAutofit/>
            </a:bodyPr>
            <a:lstStyle/>
            <a:p>
              <a:pPr indent="-288735" lvl="0" marL="457200" marR="0" rtl="0" algn="l">
                <a:lnSpc>
                  <a:spcPct val="126315"/>
                </a:lnSpc>
                <a:spcBef>
                  <a:spcPts val="0"/>
                </a:spcBef>
                <a:spcAft>
                  <a:spcPts val="0"/>
                </a:spcAft>
                <a:buClr>
                  <a:srgbClr val="443728"/>
                </a:buClr>
                <a:buSzPts val="947"/>
                <a:buChar char="●"/>
              </a:pPr>
              <a:r>
                <a:rPr lang="en-GB" sz="947">
                  <a:solidFill>
                    <a:srgbClr val="443728"/>
                  </a:solidFill>
                </a:rPr>
                <a:t>By combining temporal modeling with contrastive learning, TCL improves shift detection accuracy and provides interpretable outputs by identifying when shifts occur and key sentences.</a:t>
              </a:r>
              <a:endParaRPr i="0" sz="947" u="none" cap="none" strike="noStrike">
                <a:solidFill>
                  <a:srgbClr val="000000"/>
                </a:solidFil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2">
                                  <p:stCondLst>
                                    <p:cond delay="0"/>
                                  </p:stCondLst>
                                  <p:childTnLst>
                                    <p:set>
                                      <p:cBhvr>
                                        <p:cTn dur="1" fill="hold">
                                          <p:stCondLst>
                                            <p:cond delay="0"/>
                                          </p:stCondLst>
                                        </p:cTn>
                                        <p:tgtEl>
                                          <p:spTgt spid="355"/>
                                        </p:tgtEl>
                                        <p:attrNameLst>
                                          <p:attrName>style.visibility</p:attrName>
                                        </p:attrNameLst>
                                      </p:cBhvr>
                                      <p:to>
                                        <p:strVal val="visible"/>
                                      </p:to>
                                    </p:set>
                                    <p:anim calcmode="lin" valueType="num">
                                      <p:cBhvr additive="base">
                                        <p:cTn dur="700"/>
                                        <p:tgtEl>
                                          <p:spTgt spid="35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59"/>
                                        </p:tgtEl>
                                        <p:attrNameLst>
                                          <p:attrName>style.visibility</p:attrName>
                                        </p:attrNameLst>
                                      </p:cBhvr>
                                      <p:to>
                                        <p:strVal val="visible"/>
                                      </p:to>
                                    </p:set>
                                    <p:anim calcmode="lin" valueType="num">
                                      <p:cBhvr additive="base">
                                        <p:cTn dur="1000"/>
                                        <p:tgtEl>
                                          <p:spTgt spid="35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63"/>
                                        </p:tgtEl>
                                        <p:attrNameLst>
                                          <p:attrName>style.visibility</p:attrName>
                                        </p:attrNameLst>
                                      </p:cBhvr>
                                      <p:to>
                                        <p:strVal val="visible"/>
                                      </p:to>
                                    </p:set>
                                    <p:anim calcmode="lin" valueType="num">
                                      <p:cBhvr additive="base">
                                        <p:cTn dur="1000"/>
                                        <p:tgtEl>
                                          <p:spTgt spid="36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67"/>
                                        </p:tgtEl>
                                        <p:attrNameLst>
                                          <p:attrName>style.visibility</p:attrName>
                                        </p:attrNameLst>
                                      </p:cBhvr>
                                      <p:to>
                                        <p:strVal val="visible"/>
                                      </p:to>
                                    </p:set>
                                    <p:anim calcmode="lin" valueType="num">
                                      <p:cBhvr additive="base">
                                        <p:cTn dur="1000"/>
                                        <p:tgtEl>
                                          <p:spTgt spid="36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41"/>
          <p:cNvSpPr/>
          <p:nvPr/>
        </p:nvSpPr>
        <p:spPr>
          <a:xfrm>
            <a:off x="318525" y="1135100"/>
            <a:ext cx="8640600" cy="2836800"/>
          </a:xfrm>
          <a:prstGeom prst="roundRect">
            <a:avLst>
              <a:gd fmla="val 4702" name="adj"/>
            </a:avLst>
          </a:prstGeom>
          <a:solidFill>
            <a:srgbClr val="EBE2E0"/>
          </a:solidFill>
          <a:ln cap="flat" cmpd="sng" w="9525">
            <a:solidFill>
              <a:srgbClr val="D1C8C6"/>
            </a:solidFill>
            <a:prstDash val="solid"/>
            <a:round/>
            <a:headEnd len="sm" w="sm" type="none"/>
            <a:tailEnd len="sm" w="sm" type="none"/>
          </a:ln>
        </p:spPr>
        <p:txBody>
          <a:bodyPr anchorCtr="0" anchor="ctr" bIns="59625" lIns="59625" spcFirstLastPara="1" rIns="59625" wrap="square" tIns="596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300" u="none" cap="none" strike="noStrike">
              <a:solidFill>
                <a:srgbClr val="000000"/>
              </a:solidFill>
              <a:latin typeface="Arial"/>
              <a:ea typeface="Arial"/>
              <a:cs typeface="Arial"/>
              <a:sym typeface="Arial"/>
            </a:endParaRPr>
          </a:p>
        </p:txBody>
      </p:sp>
      <p:sp>
        <p:nvSpPr>
          <p:cNvPr id="376" name="Google Shape;376;p41"/>
          <p:cNvSpPr/>
          <p:nvPr/>
        </p:nvSpPr>
        <p:spPr>
          <a:xfrm>
            <a:off x="677625" y="523789"/>
            <a:ext cx="3183600" cy="398100"/>
          </a:xfrm>
          <a:prstGeom prst="rect">
            <a:avLst/>
          </a:prstGeom>
          <a:noFill/>
          <a:ln>
            <a:noFill/>
          </a:ln>
        </p:spPr>
        <p:txBody>
          <a:bodyPr anchorCtr="0" anchor="t" bIns="0" lIns="0" spcFirstLastPara="1" rIns="0" wrap="square" tIns="0">
            <a:noAutofit/>
          </a:bodyPr>
          <a:lstStyle/>
          <a:p>
            <a:pPr indent="0" lvl="0" marL="0" marR="0" rtl="0" algn="l">
              <a:lnSpc>
                <a:spcPct val="125333"/>
              </a:lnSpc>
              <a:spcBef>
                <a:spcPts val="0"/>
              </a:spcBef>
              <a:spcAft>
                <a:spcPts val="0"/>
              </a:spcAft>
              <a:buClr>
                <a:srgbClr val="443728"/>
              </a:buClr>
              <a:buSzPts val="3750"/>
              <a:buFont typeface="Crimson Pro"/>
              <a:buNone/>
            </a:pPr>
            <a:r>
              <a:rPr b="1" i="0" lang="en-GB" sz="2300" u="none" cap="none" strike="noStrike">
                <a:solidFill>
                  <a:srgbClr val="443728"/>
                </a:solidFill>
              </a:rPr>
              <a:t>Fixed Windows</a:t>
            </a:r>
            <a:endParaRPr b="1" i="0" sz="2300" u="none" cap="none" strike="noStrike">
              <a:solidFill>
                <a:srgbClr val="443728"/>
              </a:solidFill>
            </a:endParaRPr>
          </a:p>
        </p:txBody>
      </p:sp>
      <p:sp>
        <p:nvSpPr>
          <p:cNvPr id="377" name="Google Shape;377;p41"/>
          <p:cNvSpPr/>
          <p:nvPr/>
        </p:nvSpPr>
        <p:spPr>
          <a:xfrm>
            <a:off x="478127" y="1202792"/>
            <a:ext cx="1591500" cy="1989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443728"/>
              </a:buClr>
              <a:buSzPts val="1247"/>
              <a:buFont typeface="Crimson Pro"/>
              <a:buNone/>
            </a:pPr>
            <a:r>
              <a:rPr b="1" i="0" lang="en-GB" sz="1300" u="none" cap="none" strike="noStrike">
                <a:solidFill>
                  <a:srgbClr val="443728"/>
                </a:solidFill>
              </a:rPr>
              <a:t>Temporal Grouping</a:t>
            </a:r>
            <a:endParaRPr i="0" sz="1300" u="none" cap="none" strike="noStrike">
              <a:solidFill>
                <a:srgbClr val="000000"/>
              </a:solidFill>
            </a:endParaRPr>
          </a:p>
        </p:txBody>
      </p:sp>
      <p:sp>
        <p:nvSpPr>
          <p:cNvPr id="378" name="Google Shape;378;p41"/>
          <p:cNvSpPr/>
          <p:nvPr/>
        </p:nvSpPr>
        <p:spPr>
          <a:xfrm>
            <a:off x="478125" y="1484775"/>
            <a:ext cx="3888000" cy="504900"/>
          </a:xfrm>
          <a:prstGeom prst="rect">
            <a:avLst/>
          </a:prstGeom>
          <a:noFill/>
          <a:ln>
            <a:noFill/>
          </a:ln>
        </p:spPr>
        <p:txBody>
          <a:bodyPr anchorCtr="0" anchor="t" bIns="0" lIns="0" spcFirstLastPara="1" rIns="0" wrap="square" tIns="0">
            <a:noAutofit/>
          </a:bodyPr>
          <a:lstStyle/>
          <a:p>
            <a:pPr indent="-311150" lvl="0" marL="457200" rtl="0" algn="l">
              <a:lnSpc>
                <a:spcPct val="115000"/>
              </a:lnSpc>
              <a:spcBef>
                <a:spcPts val="1200"/>
              </a:spcBef>
              <a:spcAft>
                <a:spcPts val="0"/>
              </a:spcAft>
              <a:buClr>
                <a:schemeClr val="dk1"/>
              </a:buClr>
              <a:buSzPts val="1300"/>
              <a:buChar char="●"/>
            </a:pPr>
            <a:r>
              <a:rPr lang="en-GB" sz="1300">
                <a:solidFill>
                  <a:schemeClr val="dk1"/>
                </a:solidFill>
              </a:rPr>
              <a:t>Sentences are grouped into fixed-size (overlapping/non-overlapping) windows to model temporal flow.</a:t>
            </a:r>
            <a:endParaRPr sz="1300">
              <a:solidFill>
                <a:schemeClr val="dk1"/>
              </a:solidFill>
            </a:endParaRPr>
          </a:p>
        </p:txBody>
      </p:sp>
      <p:sp>
        <p:nvSpPr>
          <p:cNvPr id="379" name="Google Shape;379;p41"/>
          <p:cNvSpPr/>
          <p:nvPr/>
        </p:nvSpPr>
        <p:spPr>
          <a:xfrm>
            <a:off x="4755526" y="1243125"/>
            <a:ext cx="2730476" cy="1989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443728"/>
              </a:buClr>
              <a:buSzPts val="1247"/>
              <a:buFont typeface="Crimson Pro"/>
              <a:buNone/>
            </a:pPr>
            <a:r>
              <a:rPr b="1" i="0" lang="en-GB" sz="1300" u="none" cap="none" strike="noStrike">
                <a:solidFill>
                  <a:srgbClr val="443728"/>
                </a:solidFill>
              </a:rPr>
              <a:t>Shift Detection Mechanism</a:t>
            </a:r>
            <a:endParaRPr i="0" sz="1300" u="none" cap="none" strike="noStrike">
              <a:solidFill>
                <a:srgbClr val="000000"/>
              </a:solidFill>
            </a:endParaRPr>
          </a:p>
        </p:txBody>
      </p:sp>
      <p:sp>
        <p:nvSpPr>
          <p:cNvPr id="380" name="Google Shape;380;p41"/>
          <p:cNvSpPr/>
          <p:nvPr/>
        </p:nvSpPr>
        <p:spPr>
          <a:xfrm>
            <a:off x="4755537" y="1525096"/>
            <a:ext cx="4016068" cy="504900"/>
          </a:xfrm>
          <a:prstGeom prst="rect">
            <a:avLst/>
          </a:prstGeom>
          <a:noFill/>
          <a:ln>
            <a:noFill/>
          </a:ln>
        </p:spPr>
        <p:txBody>
          <a:bodyPr anchorCtr="0" anchor="t" bIns="0" lIns="0" spcFirstLastPara="1" rIns="0" wrap="square" tIns="0">
            <a:noAutofit/>
          </a:bodyPr>
          <a:lstStyle/>
          <a:p>
            <a:pPr indent="-311150" lvl="0" marL="457200" marR="0" rtl="0" algn="l">
              <a:lnSpc>
                <a:spcPct val="130434"/>
              </a:lnSpc>
              <a:spcBef>
                <a:spcPts val="0"/>
              </a:spcBef>
              <a:spcAft>
                <a:spcPts val="0"/>
              </a:spcAft>
              <a:buClr>
                <a:schemeClr val="dk1"/>
              </a:buClr>
              <a:buSzPts val="1300"/>
              <a:buFont typeface="Arial"/>
              <a:buChar char="●"/>
            </a:pPr>
            <a:r>
              <a:rPr lang="en-GB" sz="1300">
                <a:solidFill>
                  <a:schemeClr val="dk1"/>
                </a:solidFill>
              </a:rPr>
              <a:t>Narrative shifts are detected through similarity drops between consecutive windows, capturing continuity vs discontinuity.</a:t>
            </a:r>
            <a:endParaRPr b="0" i="0" sz="1300" u="none" cap="none" strike="noStrike">
              <a:solidFill>
                <a:schemeClr val="dk1"/>
              </a:solidFill>
              <a:latin typeface="Arial"/>
              <a:ea typeface="Arial"/>
              <a:cs typeface="Arial"/>
              <a:sym typeface="Arial"/>
            </a:endParaRPr>
          </a:p>
        </p:txBody>
      </p:sp>
      <p:sp>
        <p:nvSpPr>
          <p:cNvPr id="381" name="Google Shape;381;p41"/>
          <p:cNvSpPr/>
          <p:nvPr/>
        </p:nvSpPr>
        <p:spPr>
          <a:xfrm>
            <a:off x="478163" y="2667775"/>
            <a:ext cx="3284100" cy="1989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443728"/>
              </a:buClr>
              <a:buSzPts val="1247"/>
              <a:buFont typeface="Crimson Pro"/>
              <a:buNone/>
            </a:pPr>
            <a:r>
              <a:rPr b="1" i="0" lang="en-GB" sz="1300" u="none" cap="none" strike="noStrike">
                <a:solidFill>
                  <a:srgbClr val="443728"/>
                </a:solidFill>
              </a:rPr>
              <a:t>Contrastive Learning (TCL)</a:t>
            </a:r>
            <a:endParaRPr i="0" sz="1300" u="none" cap="none" strike="noStrike">
              <a:solidFill>
                <a:srgbClr val="000000"/>
              </a:solidFill>
            </a:endParaRPr>
          </a:p>
        </p:txBody>
      </p:sp>
      <p:sp>
        <p:nvSpPr>
          <p:cNvPr id="382" name="Google Shape;382;p41"/>
          <p:cNvSpPr/>
          <p:nvPr/>
        </p:nvSpPr>
        <p:spPr>
          <a:xfrm>
            <a:off x="478125" y="2949775"/>
            <a:ext cx="3934200" cy="504900"/>
          </a:xfrm>
          <a:prstGeom prst="rect">
            <a:avLst/>
          </a:prstGeom>
          <a:noFill/>
          <a:ln>
            <a:noFill/>
          </a:ln>
        </p:spPr>
        <p:txBody>
          <a:bodyPr anchorCtr="0" anchor="t" bIns="0" lIns="0" spcFirstLastPara="1" rIns="0" wrap="square" tIns="0">
            <a:noAutofit/>
          </a:bodyPr>
          <a:lstStyle/>
          <a:p>
            <a:pPr indent="-311150" lvl="0" marL="457200" marR="0" rtl="0" algn="l">
              <a:lnSpc>
                <a:spcPct val="130434"/>
              </a:lnSpc>
              <a:spcBef>
                <a:spcPts val="1200"/>
              </a:spcBef>
              <a:spcAft>
                <a:spcPts val="0"/>
              </a:spcAft>
              <a:buClr>
                <a:schemeClr val="dk1"/>
              </a:buClr>
              <a:buSzPts val="1300"/>
              <a:buFont typeface="Arial"/>
              <a:buChar char="●"/>
            </a:pPr>
            <a:r>
              <a:rPr lang="en-GB" sz="1300">
                <a:solidFill>
                  <a:schemeClr val="dk1"/>
                </a:solidFill>
              </a:rPr>
              <a:t>Learns temporal relationships by treating adjacent windows as similar and non-adjacent as dissimilar using contrastive loss.</a:t>
            </a:r>
            <a:endParaRPr b="0" i="0" sz="1300" u="none" cap="none" strike="noStrike">
              <a:solidFill>
                <a:schemeClr val="dk1"/>
              </a:solidFill>
              <a:latin typeface="Arial"/>
              <a:ea typeface="Arial"/>
              <a:cs typeface="Arial"/>
              <a:sym typeface="Arial"/>
            </a:endParaRPr>
          </a:p>
        </p:txBody>
      </p:sp>
      <p:sp>
        <p:nvSpPr>
          <p:cNvPr id="383" name="Google Shape;383;p41"/>
          <p:cNvSpPr/>
          <p:nvPr/>
        </p:nvSpPr>
        <p:spPr>
          <a:xfrm>
            <a:off x="4604475" y="1135100"/>
            <a:ext cx="68700" cy="2836800"/>
          </a:xfrm>
          <a:prstGeom prst="roundRect">
            <a:avLst>
              <a:gd fmla="val 0" name="adj"/>
            </a:avLst>
          </a:prstGeom>
          <a:solidFill>
            <a:srgbClr val="835E54"/>
          </a:solidFill>
          <a:ln>
            <a:noFill/>
          </a:ln>
        </p:spPr>
        <p:txBody>
          <a:bodyPr anchorCtr="0" anchor="ctr" bIns="64050" lIns="64050" spcFirstLastPara="1" rIns="64050" wrap="square" tIns="640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300" u="none" cap="none" strike="noStrike">
              <a:solidFill>
                <a:srgbClr val="000000"/>
              </a:solidFill>
              <a:latin typeface="Arial"/>
              <a:ea typeface="Arial"/>
              <a:cs typeface="Arial"/>
              <a:sym typeface="Arial"/>
            </a:endParaRPr>
          </a:p>
        </p:txBody>
      </p:sp>
      <p:sp>
        <p:nvSpPr>
          <p:cNvPr id="384" name="Google Shape;384;p41"/>
          <p:cNvSpPr/>
          <p:nvPr/>
        </p:nvSpPr>
        <p:spPr>
          <a:xfrm>
            <a:off x="81925" y="74650"/>
            <a:ext cx="1377000" cy="288600"/>
          </a:xfrm>
          <a:prstGeom prst="roundRect">
            <a:avLst>
              <a:gd fmla="val 18064" name="adj"/>
            </a:avLst>
          </a:prstGeom>
          <a:noFill/>
          <a:ln cap="flat" cmpd="sng" w="9525">
            <a:solidFill>
              <a:srgbClr val="835E5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41"/>
          <p:cNvSpPr/>
          <p:nvPr/>
        </p:nvSpPr>
        <p:spPr>
          <a:xfrm>
            <a:off x="225618" y="127293"/>
            <a:ext cx="1089600" cy="183300"/>
          </a:xfrm>
          <a:prstGeom prst="rect">
            <a:avLst/>
          </a:prstGeom>
          <a:noFill/>
          <a:ln>
            <a:noFill/>
          </a:ln>
        </p:spPr>
        <p:txBody>
          <a:bodyPr anchorCtr="0" anchor="t" bIns="0" lIns="0" spcFirstLastPara="1" rIns="0" wrap="square" tIns="0">
            <a:noAutofit/>
          </a:bodyPr>
          <a:lstStyle/>
          <a:p>
            <a:pPr indent="0" lvl="0" marL="0" marR="0" rtl="0" algn="l">
              <a:lnSpc>
                <a:spcPct val="145833"/>
              </a:lnSpc>
              <a:spcBef>
                <a:spcPts val="0"/>
              </a:spcBef>
              <a:spcAft>
                <a:spcPts val="0"/>
              </a:spcAft>
              <a:buClr>
                <a:srgbClr val="835E54"/>
              </a:buClr>
              <a:buSzPts val="1200"/>
              <a:buFont typeface="Open Sans"/>
              <a:buNone/>
            </a:pPr>
            <a:r>
              <a:rPr b="0" i="0" lang="en-GB" sz="1200" u="none" cap="none" strike="noStrike">
                <a:solidFill>
                  <a:srgbClr val="835E54"/>
                </a:solidFill>
                <a:latin typeface="Open Sans"/>
                <a:ea typeface="Open Sans"/>
                <a:cs typeface="Open Sans"/>
                <a:sym typeface="Open Sans"/>
              </a:rPr>
              <a:t>APPROACH 1</a:t>
            </a:r>
            <a:endParaRPr b="0" i="0" sz="12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77"/>
                                        </p:tgtEl>
                                        <p:attrNameLst>
                                          <p:attrName>style.visibility</p:attrName>
                                        </p:attrNameLst>
                                      </p:cBhvr>
                                      <p:to>
                                        <p:strVal val="visible"/>
                                      </p:to>
                                    </p:set>
                                    <p:animEffect filter="fade" transition="in">
                                      <p:cBhvr>
                                        <p:cTn dur="1000"/>
                                        <p:tgtEl>
                                          <p:spTgt spid="377"/>
                                        </p:tgtEl>
                                      </p:cBhvr>
                                    </p:animEffect>
                                  </p:childTnLst>
                                </p:cTn>
                              </p:par>
                              <p:par>
                                <p:cTn fill="hold" nodeType="withEffect" presetClass="entr" presetID="2" presetSubtype="4">
                                  <p:stCondLst>
                                    <p:cond delay="0"/>
                                  </p:stCondLst>
                                  <p:childTnLst>
                                    <p:set>
                                      <p:cBhvr>
                                        <p:cTn dur="1" fill="hold">
                                          <p:stCondLst>
                                            <p:cond delay="0"/>
                                          </p:stCondLst>
                                        </p:cTn>
                                        <p:tgtEl>
                                          <p:spTgt spid="378"/>
                                        </p:tgtEl>
                                        <p:attrNameLst>
                                          <p:attrName>style.visibility</p:attrName>
                                        </p:attrNameLst>
                                      </p:cBhvr>
                                      <p:to>
                                        <p:strVal val="visible"/>
                                      </p:to>
                                    </p:set>
                                    <p:anim calcmode="lin" valueType="num">
                                      <p:cBhvr additive="base">
                                        <p:cTn dur="1000"/>
                                        <p:tgtEl>
                                          <p:spTgt spid="37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
                                        </p:tgtEl>
                                        <p:attrNameLst>
                                          <p:attrName>style.visibility</p:attrName>
                                        </p:attrNameLst>
                                      </p:cBhvr>
                                      <p:to>
                                        <p:strVal val="visible"/>
                                      </p:to>
                                    </p:set>
                                    <p:animEffect filter="fade" transition="in">
                                      <p:cBhvr>
                                        <p:cTn dur="1000"/>
                                        <p:tgtEl>
                                          <p:spTgt spid="381"/>
                                        </p:tgtEl>
                                      </p:cBhvr>
                                    </p:animEffect>
                                  </p:childTnLst>
                                </p:cTn>
                              </p:par>
                              <p:par>
                                <p:cTn fill="hold" nodeType="withEffect" presetClass="entr" presetID="2" presetSubtype="4">
                                  <p:stCondLst>
                                    <p:cond delay="0"/>
                                  </p:stCondLst>
                                  <p:childTnLst>
                                    <p:set>
                                      <p:cBhvr>
                                        <p:cTn dur="1" fill="hold">
                                          <p:stCondLst>
                                            <p:cond delay="0"/>
                                          </p:stCondLst>
                                        </p:cTn>
                                        <p:tgtEl>
                                          <p:spTgt spid="382"/>
                                        </p:tgtEl>
                                        <p:attrNameLst>
                                          <p:attrName>style.visibility</p:attrName>
                                        </p:attrNameLst>
                                      </p:cBhvr>
                                      <p:to>
                                        <p:strVal val="visible"/>
                                      </p:to>
                                    </p:set>
                                    <p:anim calcmode="lin" valueType="num">
                                      <p:cBhvr additive="base">
                                        <p:cTn dur="1000"/>
                                        <p:tgtEl>
                                          <p:spTgt spid="38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gtEl>
                                        <p:attrNameLst>
                                          <p:attrName>style.visibility</p:attrName>
                                        </p:attrNameLst>
                                      </p:cBhvr>
                                      <p:to>
                                        <p:strVal val="visible"/>
                                      </p:to>
                                    </p:set>
                                    <p:animEffect filter="fade" transition="in">
                                      <p:cBhvr>
                                        <p:cTn dur="1000"/>
                                        <p:tgtEl>
                                          <p:spTgt spid="379"/>
                                        </p:tgtEl>
                                      </p:cBhvr>
                                    </p:animEffect>
                                  </p:childTnLst>
                                </p:cTn>
                              </p:par>
                              <p:par>
                                <p:cTn fill="hold" nodeType="withEffect" presetClass="entr" presetID="2" presetSubtype="4">
                                  <p:stCondLst>
                                    <p:cond delay="0"/>
                                  </p:stCondLst>
                                  <p:childTnLst>
                                    <p:set>
                                      <p:cBhvr>
                                        <p:cTn dur="1" fill="hold">
                                          <p:stCondLst>
                                            <p:cond delay="0"/>
                                          </p:stCondLst>
                                        </p:cTn>
                                        <p:tgtEl>
                                          <p:spTgt spid="380"/>
                                        </p:tgtEl>
                                        <p:attrNameLst>
                                          <p:attrName>style.visibility</p:attrName>
                                        </p:attrNameLst>
                                      </p:cBhvr>
                                      <p:to>
                                        <p:strVal val="visible"/>
                                      </p:to>
                                    </p:set>
                                    <p:anim calcmode="lin" valueType="num">
                                      <p:cBhvr additive="base">
                                        <p:cTn dur="1000"/>
                                        <p:tgtEl>
                                          <p:spTgt spid="38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42"/>
          <p:cNvSpPr/>
          <p:nvPr/>
        </p:nvSpPr>
        <p:spPr>
          <a:xfrm>
            <a:off x="677625" y="363239"/>
            <a:ext cx="3183600" cy="398100"/>
          </a:xfrm>
          <a:prstGeom prst="rect">
            <a:avLst/>
          </a:prstGeom>
          <a:noFill/>
          <a:ln>
            <a:noFill/>
          </a:ln>
        </p:spPr>
        <p:txBody>
          <a:bodyPr anchorCtr="0" anchor="t" bIns="0" lIns="0" spcFirstLastPara="1" rIns="0" wrap="square" tIns="0">
            <a:noAutofit/>
          </a:bodyPr>
          <a:lstStyle/>
          <a:p>
            <a:pPr indent="0" lvl="0" marL="0" marR="0" rtl="0" algn="l">
              <a:lnSpc>
                <a:spcPct val="125333"/>
              </a:lnSpc>
              <a:spcBef>
                <a:spcPts val="0"/>
              </a:spcBef>
              <a:spcAft>
                <a:spcPts val="0"/>
              </a:spcAft>
              <a:buClr>
                <a:srgbClr val="443728"/>
              </a:buClr>
              <a:buSzPts val="3750"/>
              <a:buFont typeface="Crimson Pro"/>
              <a:buNone/>
            </a:pPr>
            <a:r>
              <a:rPr b="1" i="0" lang="en-GB" sz="2600" u="none" cap="none" strike="noStrike">
                <a:solidFill>
                  <a:srgbClr val="443728"/>
                </a:solidFill>
              </a:rPr>
              <a:t>Fixed Windows</a:t>
            </a:r>
            <a:endParaRPr b="1" i="0" sz="2600" u="none" cap="none" strike="noStrike">
              <a:solidFill>
                <a:srgbClr val="443728"/>
              </a:solidFill>
            </a:endParaRPr>
          </a:p>
        </p:txBody>
      </p:sp>
      <p:sp>
        <p:nvSpPr>
          <p:cNvPr id="391" name="Google Shape;391;p42"/>
          <p:cNvSpPr/>
          <p:nvPr/>
        </p:nvSpPr>
        <p:spPr>
          <a:xfrm>
            <a:off x="81925" y="74650"/>
            <a:ext cx="1377000" cy="288600"/>
          </a:xfrm>
          <a:prstGeom prst="roundRect">
            <a:avLst>
              <a:gd fmla="val 18064" name="adj"/>
            </a:avLst>
          </a:prstGeom>
          <a:noFill/>
          <a:ln cap="flat" cmpd="sng" w="9525">
            <a:solidFill>
              <a:srgbClr val="835E5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42"/>
          <p:cNvSpPr/>
          <p:nvPr/>
        </p:nvSpPr>
        <p:spPr>
          <a:xfrm>
            <a:off x="225618" y="127293"/>
            <a:ext cx="1089600" cy="183300"/>
          </a:xfrm>
          <a:prstGeom prst="rect">
            <a:avLst/>
          </a:prstGeom>
          <a:noFill/>
          <a:ln>
            <a:noFill/>
          </a:ln>
        </p:spPr>
        <p:txBody>
          <a:bodyPr anchorCtr="0" anchor="t" bIns="0" lIns="0" spcFirstLastPara="1" rIns="0" wrap="square" tIns="0">
            <a:noAutofit/>
          </a:bodyPr>
          <a:lstStyle/>
          <a:p>
            <a:pPr indent="0" lvl="0" marL="0" marR="0" rtl="0" algn="l">
              <a:lnSpc>
                <a:spcPct val="145833"/>
              </a:lnSpc>
              <a:spcBef>
                <a:spcPts val="0"/>
              </a:spcBef>
              <a:spcAft>
                <a:spcPts val="0"/>
              </a:spcAft>
              <a:buClr>
                <a:srgbClr val="835E54"/>
              </a:buClr>
              <a:buSzPts val="1200"/>
              <a:buFont typeface="Open Sans"/>
              <a:buNone/>
            </a:pPr>
            <a:r>
              <a:rPr b="0" i="0" lang="en-GB" sz="1200" u="none" cap="none" strike="noStrike">
                <a:solidFill>
                  <a:srgbClr val="835E54"/>
                </a:solidFill>
                <a:latin typeface="Open Sans"/>
                <a:ea typeface="Open Sans"/>
                <a:cs typeface="Open Sans"/>
                <a:sym typeface="Open Sans"/>
              </a:rPr>
              <a:t>APPROACH 1</a:t>
            </a:r>
            <a:endParaRPr b="0" i="0" sz="1200" u="none" cap="none" strike="noStrike">
              <a:solidFill>
                <a:srgbClr val="000000"/>
              </a:solidFill>
              <a:latin typeface="Arial"/>
              <a:ea typeface="Arial"/>
              <a:cs typeface="Arial"/>
              <a:sym typeface="Arial"/>
            </a:endParaRPr>
          </a:p>
        </p:txBody>
      </p:sp>
      <p:pic>
        <p:nvPicPr>
          <p:cNvPr id="393" name="Google Shape;393;p42" title="pipeline_high_level.jpeg"/>
          <p:cNvPicPr preferRelativeResize="0"/>
          <p:nvPr/>
        </p:nvPicPr>
        <p:blipFill>
          <a:blip r:embed="rId3">
            <a:alphaModFix/>
          </a:blip>
          <a:stretch>
            <a:fillRect/>
          </a:stretch>
        </p:blipFill>
        <p:spPr>
          <a:xfrm>
            <a:off x="1757176" y="878450"/>
            <a:ext cx="5629648" cy="40656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93"/>
                                        </p:tgtEl>
                                        <p:attrNameLst>
                                          <p:attrName>style.visibility</p:attrName>
                                        </p:attrNameLst>
                                      </p:cBhvr>
                                      <p:to>
                                        <p:strVal val="visible"/>
                                      </p:to>
                                    </p:set>
                                    <p:animEffect filter="fade" transition="in">
                                      <p:cBhvr>
                                        <p:cTn dur="1000"/>
                                        <p:tgtEl>
                                          <p:spTgt spid="3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3"/>
          <p:cNvSpPr/>
          <p:nvPr/>
        </p:nvSpPr>
        <p:spPr>
          <a:xfrm>
            <a:off x="669900" y="598388"/>
            <a:ext cx="5498400" cy="398100"/>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443728"/>
              </a:buClr>
              <a:buSzPts val="2500"/>
              <a:buFont typeface="Crimson Pro"/>
              <a:buNone/>
            </a:pPr>
            <a:r>
              <a:rPr b="1" i="0" lang="en-GB" sz="2500" u="none" cap="none" strike="noStrike">
                <a:solidFill>
                  <a:srgbClr val="443728"/>
                </a:solidFill>
              </a:rPr>
              <a:t>Limitations of Approach 1</a:t>
            </a:r>
            <a:endParaRPr i="0" sz="2500" u="none" cap="none" strike="noStrike">
              <a:solidFill>
                <a:schemeClr val="dk1"/>
              </a:solidFill>
            </a:endParaRPr>
          </a:p>
          <a:p>
            <a:pPr indent="0" lvl="0" marL="0" marR="0" rtl="0" algn="l">
              <a:lnSpc>
                <a:spcPct val="125333"/>
              </a:lnSpc>
              <a:spcBef>
                <a:spcPts val="0"/>
              </a:spcBef>
              <a:spcAft>
                <a:spcPts val="0"/>
              </a:spcAft>
              <a:buClr>
                <a:srgbClr val="443728"/>
              </a:buClr>
              <a:buSzPts val="3750"/>
              <a:buFont typeface="Crimson Pro"/>
              <a:buNone/>
            </a:pPr>
            <a:r>
              <a:t/>
            </a:r>
            <a:endParaRPr b="1" i="0" sz="2500" u="none" cap="none" strike="noStrike">
              <a:solidFill>
                <a:srgbClr val="443728"/>
              </a:solidFill>
            </a:endParaRPr>
          </a:p>
        </p:txBody>
      </p:sp>
      <p:sp>
        <p:nvSpPr>
          <p:cNvPr id="399" name="Google Shape;399;p43"/>
          <p:cNvSpPr/>
          <p:nvPr/>
        </p:nvSpPr>
        <p:spPr>
          <a:xfrm>
            <a:off x="81925" y="74650"/>
            <a:ext cx="1377000" cy="288600"/>
          </a:xfrm>
          <a:prstGeom prst="roundRect">
            <a:avLst>
              <a:gd fmla="val 18064" name="adj"/>
            </a:avLst>
          </a:prstGeom>
          <a:noFill/>
          <a:ln cap="flat" cmpd="sng" w="9525">
            <a:solidFill>
              <a:srgbClr val="835E5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43"/>
          <p:cNvSpPr/>
          <p:nvPr/>
        </p:nvSpPr>
        <p:spPr>
          <a:xfrm>
            <a:off x="225618" y="127293"/>
            <a:ext cx="1089600" cy="183300"/>
          </a:xfrm>
          <a:prstGeom prst="rect">
            <a:avLst/>
          </a:prstGeom>
          <a:noFill/>
          <a:ln>
            <a:noFill/>
          </a:ln>
        </p:spPr>
        <p:txBody>
          <a:bodyPr anchorCtr="0" anchor="t" bIns="0" lIns="0" spcFirstLastPara="1" rIns="0" wrap="square" tIns="0">
            <a:noAutofit/>
          </a:bodyPr>
          <a:lstStyle/>
          <a:p>
            <a:pPr indent="0" lvl="0" marL="0" marR="0" rtl="0" algn="l">
              <a:lnSpc>
                <a:spcPct val="145833"/>
              </a:lnSpc>
              <a:spcBef>
                <a:spcPts val="0"/>
              </a:spcBef>
              <a:spcAft>
                <a:spcPts val="0"/>
              </a:spcAft>
              <a:buClr>
                <a:srgbClr val="835E54"/>
              </a:buClr>
              <a:buSzPts val="1200"/>
              <a:buFont typeface="Open Sans"/>
              <a:buNone/>
            </a:pPr>
            <a:r>
              <a:rPr b="0" i="0" lang="en-GB" sz="1200" u="none" cap="none" strike="noStrike">
                <a:solidFill>
                  <a:srgbClr val="835E54"/>
                </a:solidFill>
                <a:latin typeface="Open Sans"/>
                <a:ea typeface="Open Sans"/>
                <a:cs typeface="Open Sans"/>
                <a:sym typeface="Open Sans"/>
              </a:rPr>
              <a:t>APPROACH 1</a:t>
            </a:r>
            <a:endParaRPr b="0" i="0" sz="1200" u="none" cap="none" strike="noStrike">
              <a:solidFill>
                <a:srgbClr val="000000"/>
              </a:solidFill>
              <a:latin typeface="Arial"/>
              <a:ea typeface="Arial"/>
              <a:cs typeface="Arial"/>
              <a:sym typeface="Arial"/>
            </a:endParaRPr>
          </a:p>
        </p:txBody>
      </p:sp>
      <p:sp>
        <p:nvSpPr>
          <p:cNvPr id="401" name="Google Shape;401;p43"/>
          <p:cNvSpPr/>
          <p:nvPr/>
        </p:nvSpPr>
        <p:spPr>
          <a:xfrm>
            <a:off x="106900" y="1231650"/>
            <a:ext cx="8930100" cy="2694000"/>
          </a:xfrm>
          <a:prstGeom prst="roundRect">
            <a:avLst>
              <a:gd fmla="val 4702" name="adj"/>
            </a:avLst>
          </a:prstGeom>
          <a:solidFill>
            <a:srgbClr val="EBE2E0"/>
          </a:solidFill>
          <a:ln cap="flat" cmpd="sng" w="9525">
            <a:solidFill>
              <a:srgbClr val="D1C8C6"/>
            </a:solidFill>
            <a:prstDash val="solid"/>
            <a:round/>
            <a:headEnd len="sm" w="sm" type="none"/>
            <a:tailEnd len="sm" w="sm" type="none"/>
          </a:ln>
        </p:spPr>
        <p:txBody>
          <a:bodyPr anchorCtr="0" anchor="ctr" bIns="59625" lIns="59625" spcFirstLastPara="1" rIns="59625" wrap="square" tIns="596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43"/>
          <p:cNvSpPr/>
          <p:nvPr/>
        </p:nvSpPr>
        <p:spPr>
          <a:xfrm>
            <a:off x="266532" y="2767774"/>
            <a:ext cx="1926000" cy="1989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443728"/>
              </a:buClr>
              <a:buSzPts val="1247"/>
              <a:buFont typeface="Crimson Pro"/>
              <a:buNone/>
            </a:pPr>
            <a:r>
              <a:rPr b="1" i="0" lang="en-GB" sz="1300" u="none" cap="none" strike="noStrike">
                <a:solidFill>
                  <a:srgbClr val="443728"/>
                </a:solidFill>
              </a:rPr>
              <a:t>No Adaptive Speed</a:t>
            </a:r>
            <a:endParaRPr i="0" sz="1300" u="none" cap="none" strike="noStrike">
              <a:solidFill>
                <a:srgbClr val="000000"/>
              </a:solidFill>
            </a:endParaRPr>
          </a:p>
        </p:txBody>
      </p:sp>
      <p:sp>
        <p:nvSpPr>
          <p:cNvPr id="403" name="Google Shape;403;p43"/>
          <p:cNvSpPr/>
          <p:nvPr/>
        </p:nvSpPr>
        <p:spPr>
          <a:xfrm>
            <a:off x="266525" y="3049763"/>
            <a:ext cx="4252500" cy="504900"/>
          </a:xfrm>
          <a:prstGeom prst="rect">
            <a:avLst/>
          </a:prstGeom>
          <a:noFill/>
          <a:ln>
            <a:noFill/>
          </a:ln>
        </p:spPr>
        <p:txBody>
          <a:bodyPr anchorCtr="0" anchor="t" bIns="0" lIns="0" spcFirstLastPara="1" rIns="0" wrap="square" tIns="0">
            <a:noAutofit/>
          </a:bodyPr>
          <a:lstStyle/>
          <a:p>
            <a:pPr indent="-311150" lvl="0" marL="457200" marR="0" rtl="0" algn="l">
              <a:lnSpc>
                <a:spcPct val="130434"/>
              </a:lnSpc>
              <a:spcBef>
                <a:spcPts val="0"/>
              </a:spcBef>
              <a:spcAft>
                <a:spcPts val="0"/>
              </a:spcAft>
              <a:buClr>
                <a:schemeClr val="dk1"/>
              </a:buClr>
              <a:buSzPts val="1300"/>
              <a:buChar char="●"/>
            </a:pPr>
            <a:r>
              <a:rPr lang="en-GB" sz="1300">
                <a:solidFill>
                  <a:schemeClr val="dk1"/>
                </a:solidFill>
              </a:rPr>
              <a:t>Fixed window size cannot adapt to different narrative speeds, causing misalignment with real narrative boundaries.</a:t>
            </a:r>
            <a:endParaRPr b="0" i="0" sz="1300" u="none" cap="none" strike="noStrike">
              <a:solidFill>
                <a:schemeClr val="dk1"/>
              </a:solidFill>
              <a:latin typeface="Arial"/>
              <a:ea typeface="Arial"/>
              <a:cs typeface="Arial"/>
              <a:sym typeface="Arial"/>
            </a:endParaRPr>
          </a:p>
        </p:txBody>
      </p:sp>
      <p:sp>
        <p:nvSpPr>
          <p:cNvPr id="404" name="Google Shape;404;p43"/>
          <p:cNvSpPr/>
          <p:nvPr/>
        </p:nvSpPr>
        <p:spPr>
          <a:xfrm>
            <a:off x="313100" y="1318250"/>
            <a:ext cx="3866100" cy="19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0"/>
              </a:spcAft>
              <a:buClr>
                <a:schemeClr val="dk1"/>
              </a:buClr>
              <a:buSzPts val="1100"/>
              <a:buFont typeface="Arial"/>
              <a:buNone/>
            </a:pPr>
            <a:r>
              <a:rPr b="1" i="0" lang="en-GB" sz="1300" u="none" cap="none" strike="noStrike">
                <a:solidFill>
                  <a:schemeClr val="dk1"/>
                </a:solidFill>
              </a:rPr>
              <a:t>Noise Sensitivity</a:t>
            </a:r>
            <a:endParaRPr b="1" i="0" sz="1300" u="none" cap="none" strike="noStrike">
              <a:solidFill>
                <a:schemeClr val="dk1"/>
              </a:solidFill>
            </a:endParaRPr>
          </a:p>
          <a:p>
            <a:pPr indent="0" lvl="0" marL="0" marR="0" rtl="0" algn="l">
              <a:lnSpc>
                <a:spcPct val="124137"/>
              </a:lnSpc>
              <a:spcBef>
                <a:spcPts val="1200"/>
              </a:spcBef>
              <a:spcAft>
                <a:spcPts val="0"/>
              </a:spcAft>
              <a:buClr>
                <a:srgbClr val="443728"/>
              </a:buClr>
              <a:buSzPts val="1247"/>
              <a:buFont typeface="Crimson Pro"/>
              <a:buNone/>
            </a:pPr>
            <a:r>
              <a:t/>
            </a:r>
            <a:endParaRPr b="1" i="0" sz="1300" u="none" cap="none" strike="noStrike">
              <a:solidFill>
                <a:srgbClr val="443728"/>
              </a:solidFill>
              <a:latin typeface="Crimson Pro"/>
              <a:ea typeface="Crimson Pro"/>
              <a:cs typeface="Crimson Pro"/>
              <a:sym typeface="Crimson Pro"/>
            </a:endParaRPr>
          </a:p>
        </p:txBody>
      </p:sp>
      <p:sp>
        <p:nvSpPr>
          <p:cNvPr id="405" name="Google Shape;405;p43"/>
          <p:cNvSpPr/>
          <p:nvPr/>
        </p:nvSpPr>
        <p:spPr>
          <a:xfrm>
            <a:off x="313101" y="1600250"/>
            <a:ext cx="4206000" cy="504900"/>
          </a:xfrm>
          <a:prstGeom prst="rect">
            <a:avLst/>
          </a:prstGeom>
          <a:noFill/>
          <a:ln>
            <a:noFill/>
          </a:ln>
        </p:spPr>
        <p:txBody>
          <a:bodyPr anchorCtr="0" anchor="t" bIns="0" lIns="0" spcFirstLastPara="1" rIns="0" wrap="square" tIns="0">
            <a:noAutofit/>
          </a:bodyPr>
          <a:lstStyle/>
          <a:p>
            <a:pPr indent="-311150" lvl="0" marL="457200" marR="0" rtl="0" algn="l">
              <a:lnSpc>
                <a:spcPct val="130434"/>
              </a:lnSpc>
              <a:spcBef>
                <a:spcPts val="1200"/>
              </a:spcBef>
              <a:spcAft>
                <a:spcPts val="0"/>
              </a:spcAft>
              <a:buClr>
                <a:schemeClr val="dk1"/>
              </a:buClr>
              <a:buSzPts val="1300"/>
              <a:buChar char="●"/>
            </a:pPr>
            <a:r>
              <a:rPr lang="en-GB" sz="1300">
                <a:solidFill>
                  <a:schemeClr val="dk1"/>
                </a:solidFill>
              </a:rPr>
              <a:t>Small semantic variations distort representations, leading to unstable learning and inconsistent shift detection.</a:t>
            </a:r>
            <a:endParaRPr b="0" i="0" sz="1300" u="none" cap="none" strike="noStrike">
              <a:solidFill>
                <a:schemeClr val="dk1"/>
              </a:solidFill>
              <a:latin typeface="Arial"/>
              <a:ea typeface="Arial"/>
              <a:cs typeface="Arial"/>
              <a:sym typeface="Arial"/>
            </a:endParaRPr>
          </a:p>
        </p:txBody>
      </p:sp>
      <p:sp>
        <p:nvSpPr>
          <p:cNvPr id="406" name="Google Shape;406;p43"/>
          <p:cNvSpPr/>
          <p:nvPr/>
        </p:nvSpPr>
        <p:spPr>
          <a:xfrm>
            <a:off x="4846466" y="1318238"/>
            <a:ext cx="2247357" cy="1989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443728"/>
              </a:buClr>
              <a:buSzPts val="1247"/>
              <a:buFont typeface="Crimson Pro"/>
              <a:buNone/>
            </a:pPr>
            <a:r>
              <a:rPr b="1" i="0" lang="en-GB" sz="1300" u="none" cap="none" strike="noStrike">
                <a:solidFill>
                  <a:srgbClr val="443728"/>
                </a:solidFill>
              </a:rPr>
              <a:t>Fixed Segmentation Issue</a:t>
            </a:r>
            <a:endParaRPr i="0" sz="1300" u="none" cap="none" strike="noStrike">
              <a:solidFill>
                <a:srgbClr val="000000"/>
              </a:solidFill>
            </a:endParaRPr>
          </a:p>
        </p:txBody>
      </p:sp>
      <p:sp>
        <p:nvSpPr>
          <p:cNvPr id="407" name="Google Shape;407;p43"/>
          <p:cNvSpPr/>
          <p:nvPr/>
        </p:nvSpPr>
        <p:spPr>
          <a:xfrm>
            <a:off x="4846474" y="1600225"/>
            <a:ext cx="3494947" cy="504900"/>
          </a:xfrm>
          <a:prstGeom prst="rect">
            <a:avLst/>
          </a:prstGeom>
          <a:noFill/>
          <a:ln>
            <a:noFill/>
          </a:ln>
        </p:spPr>
        <p:txBody>
          <a:bodyPr anchorCtr="0" anchor="t" bIns="0" lIns="0" spcFirstLastPara="1" rIns="0" wrap="square" tIns="0">
            <a:noAutofit/>
          </a:bodyPr>
          <a:lstStyle/>
          <a:p>
            <a:pPr indent="-311150" lvl="0" marL="457200" rtl="0" algn="l">
              <a:lnSpc>
                <a:spcPct val="115000"/>
              </a:lnSpc>
              <a:spcBef>
                <a:spcPts val="1200"/>
              </a:spcBef>
              <a:spcAft>
                <a:spcPts val="0"/>
              </a:spcAft>
              <a:buClr>
                <a:schemeClr val="dk1"/>
              </a:buClr>
              <a:buSzPts val="1300"/>
              <a:buChar char="●"/>
            </a:pPr>
            <a:r>
              <a:rPr lang="en-GB" sz="1300">
                <a:solidFill>
                  <a:schemeClr val="dk1"/>
                </a:solidFill>
              </a:rPr>
              <a:t>Fixed windows mix multiple narratives and fail to capture true semantic boundaries, reducing accuracy.</a:t>
            </a:r>
            <a:endParaRPr sz="1300">
              <a:solidFill>
                <a:schemeClr val="dk1"/>
              </a:solidFill>
            </a:endParaRPr>
          </a:p>
        </p:txBody>
      </p:sp>
      <p:sp>
        <p:nvSpPr>
          <p:cNvPr id="408" name="Google Shape;408;p43"/>
          <p:cNvSpPr/>
          <p:nvPr/>
        </p:nvSpPr>
        <p:spPr>
          <a:xfrm>
            <a:off x="4846504" y="2767763"/>
            <a:ext cx="3183600" cy="19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1" i="0" lang="en-GB" sz="1300" u="none" cap="none" strike="noStrike">
                <a:solidFill>
                  <a:schemeClr val="dk1"/>
                </a:solidFill>
              </a:rPr>
              <a:t>False Shift Detection</a:t>
            </a:r>
            <a:endParaRPr b="1" i="0" sz="1300" u="none" cap="none" strike="noStrike">
              <a:solidFill>
                <a:srgbClr val="443728"/>
              </a:solidFill>
            </a:endParaRPr>
          </a:p>
        </p:txBody>
      </p:sp>
      <p:sp>
        <p:nvSpPr>
          <p:cNvPr id="409" name="Google Shape;409;p43"/>
          <p:cNvSpPr/>
          <p:nvPr/>
        </p:nvSpPr>
        <p:spPr>
          <a:xfrm>
            <a:off x="4846472" y="3049763"/>
            <a:ext cx="4252500" cy="504900"/>
          </a:xfrm>
          <a:prstGeom prst="rect">
            <a:avLst/>
          </a:prstGeom>
          <a:noFill/>
          <a:ln>
            <a:noFill/>
          </a:ln>
        </p:spPr>
        <p:txBody>
          <a:bodyPr anchorCtr="0" anchor="t" bIns="0" lIns="0" spcFirstLastPara="1" rIns="0" wrap="square" tIns="0">
            <a:noAutofit/>
          </a:bodyPr>
          <a:lstStyle/>
          <a:p>
            <a:pPr indent="-311150" lvl="0" marL="457200" marR="0" rtl="0" algn="l">
              <a:lnSpc>
                <a:spcPct val="130434"/>
              </a:lnSpc>
              <a:spcBef>
                <a:spcPts val="0"/>
              </a:spcBef>
              <a:spcAft>
                <a:spcPts val="0"/>
              </a:spcAft>
              <a:buClr>
                <a:schemeClr val="dk1"/>
              </a:buClr>
              <a:buSzPts val="1300"/>
              <a:buChar char="●"/>
            </a:pPr>
            <a:r>
              <a:rPr lang="en-GB" sz="1300">
                <a:solidFill>
                  <a:schemeClr val="dk1"/>
                </a:solidFill>
              </a:rPr>
              <a:t>Lack of shared context causes noise or stylistic changes to be misinterpreted as real shifts.</a:t>
            </a:r>
            <a:endParaRPr b="0" i="0" sz="1300" u="none" cap="none" strike="noStrike">
              <a:solidFill>
                <a:schemeClr val="dk1"/>
              </a:solidFill>
              <a:latin typeface="Arial"/>
              <a:ea typeface="Arial"/>
              <a:cs typeface="Arial"/>
              <a:sym typeface="Arial"/>
            </a:endParaRPr>
          </a:p>
        </p:txBody>
      </p:sp>
      <p:sp>
        <p:nvSpPr>
          <p:cNvPr id="410" name="Google Shape;410;p43"/>
          <p:cNvSpPr/>
          <p:nvPr/>
        </p:nvSpPr>
        <p:spPr>
          <a:xfrm>
            <a:off x="4638650" y="1231650"/>
            <a:ext cx="88200" cy="2694000"/>
          </a:xfrm>
          <a:prstGeom prst="roundRect">
            <a:avLst>
              <a:gd fmla="val 0" name="adj"/>
            </a:avLst>
          </a:prstGeom>
          <a:solidFill>
            <a:srgbClr val="835E54"/>
          </a:solidFill>
          <a:ln>
            <a:noFill/>
          </a:ln>
        </p:spPr>
        <p:txBody>
          <a:bodyPr anchorCtr="0" anchor="ctr" bIns="64050" lIns="64050" spcFirstLastPara="1" rIns="64050" wrap="square" tIns="640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04"/>
                                        </p:tgtEl>
                                        <p:attrNameLst>
                                          <p:attrName>style.visibility</p:attrName>
                                        </p:attrNameLst>
                                      </p:cBhvr>
                                      <p:to>
                                        <p:strVal val="visible"/>
                                      </p:to>
                                    </p:set>
                                    <p:animEffect filter="fade" transition="in">
                                      <p:cBhvr>
                                        <p:cTn dur="1000"/>
                                        <p:tgtEl>
                                          <p:spTgt spid="404"/>
                                        </p:tgtEl>
                                      </p:cBhvr>
                                    </p:animEffect>
                                  </p:childTnLst>
                                </p:cTn>
                              </p:par>
                              <p:par>
                                <p:cTn fill="hold" nodeType="withEffect" presetClass="entr" presetID="2" presetSubtype="4">
                                  <p:stCondLst>
                                    <p:cond delay="0"/>
                                  </p:stCondLst>
                                  <p:childTnLst>
                                    <p:set>
                                      <p:cBhvr>
                                        <p:cTn dur="1" fill="hold">
                                          <p:stCondLst>
                                            <p:cond delay="0"/>
                                          </p:stCondLst>
                                        </p:cTn>
                                        <p:tgtEl>
                                          <p:spTgt spid="405"/>
                                        </p:tgtEl>
                                        <p:attrNameLst>
                                          <p:attrName>style.visibility</p:attrName>
                                        </p:attrNameLst>
                                      </p:cBhvr>
                                      <p:to>
                                        <p:strVal val="visible"/>
                                      </p:to>
                                    </p:set>
                                    <p:anim calcmode="lin" valueType="num">
                                      <p:cBhvr additive="base">
                                        <p:cTn dur="1000"/>
                                        <p:tgtEl>
                                          <p:spTgt spid="40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2"/>
                                        </p:tgtEl>
                                        <p:attrNameLst>
                                          <p:attrName>style.visibility</p:attrName>
                                        </p:attrNameLst>
                                      </p:cBhvr>
                                      <p:to>
                                        <p:strVal val="visible"/>
                                      </p:to>
                                    </p:set>
                                    <p:animEffect filter="fade" transition="in">
                                      <p:cBhvr>
                                        <p:cTn dur="1000"/>
                                        <p:tgtEl>
                                          <p:spTgt spid="402"/>
                                        </p:tgtEl>
                                      </p:cBhvr>
                                    </p:animEffect>
                                  </p:childTnLst>
                                </p:cTn>
                              </p:par>
                              <p:par>
                                <p:cTn fill="hold" nodeType="withEffect" presetClass="entr" presetID="2" presetSubtype="4">
                                  <p:stCondLst>
                                    <p:cond delay="0"/>
                                  </p:stCondLst>
                                  <p:childTnLst>
                                    <p:set>
                                      <p:cBhvr>
                                        <p:cTn dur="1" fill="hold">
                                          <p:stCondLst>
                                            <p:cond delay="0"/>
                                          </p:stCondLst>
                                        </p:cTn>
                                        <p:tgtEl>
                                          <p:spTgt spid="403"/>
                                        </p:tgtEl>
                                        <p:attrNameLst>
                                          <p:attrName>style.visibility</p:attrName>
                                        </p:attrNameLst>
                                      </p:cBhvr>
                                      <p:to>
                                        <p:strVal val="visible"/>
                                      </p:to>
                                    </p:set>
                                    <p:anim calcmode="lin" valueType="num">
                                      <p:cBhvr additive="base">
                                        <p:cTn dur="1000"/>
                                        <p:tgtEl>
                                          <p:spTgt spid="40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gtEl>
                                        <p:attrNameLst>
                                          <p:attrName>style.visibility</p:attrName>
                                        </p:attrNameLst>
                                      </p:cBhvr>
                                      <p:to>
                                        <p:strVal val="visible"/>
                                      </p:to>
                                    </p:set>
                                    <p:animEffect filter="fade" transition="in">
                                      <p:cBhvr>
                                        <p:cTn dur="1000"/>
                                        <p:tgtEl>
                                          <p:spTgt spid="406"/>
                                        </p:tgtEl>
                                      </p:cBhvr>
                                    </p:animEffect>
                                  </p:childTnLst>
                                </p:cTn>
                              </p:par>
                              <p:par>
                                <p:cTn fill="hold" nodeType="withEffect" presetClass="entr" presetID="2" presetSubtype="4">
                                  <p:stCondLst>
                                    <p:cond delay="0"/>
                                  </p:stCondLst>
                                  <p:childTnLst>
                                    <p:set>
                                      <p:cBhvr>
                                        <p:cTn dur="1" fill="hold">
                                          <p:stCondLst>
                                            <p:cond delay="0"/>
                                          </p:stCondLst>
                                        </p:cTn>
                                        <p:tgtEl>
                                          <p:spTgt spid="407"/>
                                        </p:tgtEl>
                                        <p:attrNameLst>
                                          <p:attrName>style.visibility</p:attrName>
                                        </p:attrNameLst>
                                      </p:cBhvr>
                                      <p:to>
                                        <p:strVal val="visible"/>
                                      </p:to>
                                    </p:set>
                                    <p:anim calcmode="lin" valueType="num">
                                      <p:cBhvr additive="base">
                                        <p:cTn dur="1000"/>
                                        <p:tgtEl>
                                          <p:spTgt spid="40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8"/>
                                        </p:tgtEl>
                                        <p:attrNameLst>
                                          <p:attrName>style.visibility</p:attrName>
                                        </p:attrNameLst>
                                      </p:cBhvr>
                                      <p:to>
                                        <p:strVal val="visible"/>
                                      </p:to>
                                    </p:set>
                                    <p:animEffect filter="fade" transition="in">
                                      <p:cBhvr>
                                        <p:cTn dur="1000"/>
                                        <p:tgtEl>
                                          <p:spTgt spid="408"/>
                                        </p:tgtEl>
                                      </p:cBhvr>
                                    </p:animEffect>
                                  </p:childTnLst>
                                </p:cTn>
                              </p:par>
                              <p:par>
                                <p:cTn fill="hold" nodeType="withEffect" presetClass="entr" presetID="2" presetSubtype="4">
                                  <p:stCondLst>
                                    <p:cond delay="0"/>
                                  </p:stCondLst>
                                  <p:childTnLst>
                                    <p:set>
                                      <p:cBhvr>
                                        <p:cTn dur="1" fill="hold">
                                          <p:stCondLst>
                                            <p:cond delay="0"/>
                                          </p:stCondLst>
                                        </p:cTn>
                                        <p:tgtEl>
                                          <p:spTgt spid="409"/>
                                        </p:tgtEl>
                                        <p:attrNameLst>
                                          <p:attrName>style.visibility</p:attrName>
                                        </p:attrNameLst>
                                      </p:cBhvr>
                                      <p:to>
                                        <p:strVal val="visible"/>
                                      </p:to>
                                    </p:set>
                                    <p:anim calcmode="lin" valueType="num">
                                      <p:cBhvr additive="base">
                                        <p:cTn dur="1000"/>
                                        <p:tgtEl>
                                          <p:spTgt spid="40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44"/>
          <p:cNvSpPr/>
          <p:nvPr/>
        </p:nvSpPr>
        <p:spPr>
          <a:xfrm>
            <a:off x="683975" y="583925"/>
            <a:ext cx="7872300" cy="398100"/>
          </a:xfrm>
          <a:prstGeom prst="rect">
            <a:avLst/>
          </a:prstGeom>
          <a:noFill/>
          <a:ln>
            <a:noFill/>
          </a:ln>
        </p:spPr>
        <p:txBody>
          <a:bodyPr anchorCtr="0" anchor="t" bIns="0" lIns="0" spcFirstLastPara="1" rIns="0" wrap="square" tIns="0">
            <a:noAutofit/>
          </a:bodyPr>
          <a:lstStyle/>
          <a:p>
            <a:pPr indent="0" lvl="0" marL="0" marR="0" rtl="0" algn="l">
              <a:lnSpc>
                <a:spcPct val="125333"/>
              </a:lnSpc>
              <a:spcBef>
                <a:spcPts val="0"/>
              </a:spcBef>
              <a:spcAft>
                <a:spcPts val="0"/>
              </a:spcAft>
              <a:buClr>
                <a:srgbClr val="443728"/>
              </a:buClr>
              <a:buSzPts val="3750"/>
              <a:buFont typeface="Crimson Pro"/>
              <a:buNone/>
            </a:pPr>
            <a:r>
              <a:rPr b="1" lang="en-GB" sz="2400">
                <a:solidFill>
                  <a:srgbClr val="443728"/>
                </a:solidFill>
              </a:rPr>
              <a:t>Improvements in Approach 2 </a:t>
            </a:r>
            <a:r>
              <a:rPr b="1" lang="en-GB" sz="2400">
                <a:solidFill>
                  <a:srgbClr val="443728"/>
                </a:solidFill>
              </a:rPr>
              <a:t>(</a:t>
            </a:r>
            <a:r>
              <a:rPr b="1" lang="en-GB" sz="2500">
                <a:solidFill>
                  <a:srgbClr val="443728"/>
                </a:solidFill>
              </a:rPr>
              <a:t>Grouping Strategy</a:t>
            </a:r>
            <a:r>
              <a:rPr b="1" lang="en-GB" sz="2400">
                <a:solidFill>
                  <a:srgbClr val="443728"/>
                </a:solidFill>
              </a:rPr>
              <a:t>)</a:t>
            </a:r>
            <a:endParaRPr b="1" i="0" sz="2400" u="none" cap="none" strike="noStrike">
              <a:solidFill>
                <a:srgbClr val="443728"/>
              </a:solidFill>
            </a:endParaRPr>
          </a:p>
        </p:txBody>
      </p:sp>
      <p:sp>
        <p:nvSpPr>
          <p:cNvPr id="416" name="Google Shape;416;p44"/>
          <p:cNvSpPr/>
          <p:nvPr/>
        </p:nvSpPr>
        <p:spPr>
          <a:xfrm>
            <a:off x="81925" y="74650"/>
            <a:ext cx="1377000" cy="288600"/>
          </a:xfrm>
          <a:prstGeom prst="roundRect">
            <a:avLst>
              <a:gd fmla="val 18064" name="adj"/>
            </a:avLst>
          </a:prstGeom>
          <a:noFill/>
          <a:ln cap="flat" cmpd="sng" w="9525">
            <a:solidFill>
              <a:srgbClr val="835E5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44"/>
          <p:cNvSpPr/>
          <p:nvPr/>
        </p:nvSpPr>
        <p:spPr>
          <a:xfrm>
            <a:off x="225618" y="127293"/>
            <a:ext cx="1089600" cy="183300"/>
          </a:xfrm>
          <a:prstGeom prst="rect">
            <a:avLst/>
          </a:prstGeom>
          <a:noFill/>
          <a:ln>
            <a:noFill/>
          </a:ln>
        </p:spPr>
        <p:txBody>
          <a:bodyPr anchorCtr="0" anchor="t" bIns="0" lIns="0" spcFirstLastPara="1" rIns="0" wrap="square" tIns="0">
            <a:noAutofit/>
          </a:bodyPr>
          <a:lstStyle/>
          <a:p>
            <a:pPr indent="0" lvl="0" marL="0" marR="0" rtl="0" algn="l">
              <a:lnSpc>
                <a:spcPct val="145833"/>
              </a:lnSpc>
              <a:spcBef>
                <a:spcPts val="0"/>
              </a:spcBef>
              <a:spcAft>
                <a:spcPts val="0"/>
              </a:spcAft>
              <a:buClr>
                <a:srgbClr val="835E54"/>
              </a:buClr>
              <a:buSzPts val="1200"/>
              <a:buFont typeface="Open Sans"/>
              <a:buNone/>
            </a:pPr>
            <a:r>
              <a:rPr b="0" i="0" lang="en-GB" sz="1200" u="none" cap="none" strike="noStrike">
                <a:solidFill>
                  <a:srgbClr val="835E54"/>
                </a:solidFill>
                <a:latin typeface="Open Sans"/>
                <a:ea typeface="Open Sans"/>
                <a:cs typeface="Open Sans"/>
                <a:sym typeface="Open Sans"/>
              </a:rPr>
              <a:t>APPROACH 2</a:t>
            </a:r>
            <a:endParaRPr b="0" i="0" sz="1200" u="none" cap="none" strike="noStrike">
              <a:solidFill>
                <a:srgbClr val="000000"/>
              </a:solidFill>
              <a:latin typeface="Arial"/>
              <a:ea typeface="Arial"/>
              <a:cs typeface="Arial"/>
              <a:sym typeface="Arial"/>
            </a:endParaRPr>
          </a:p>
        </p:txBody>
      </p:sp>
      <p:sp>
        <p:nvSpPr>
          <p:cNvPr id="418" name="Google Shape;418;p44"/>
          <p:cNvSpPr/>
          <p:nvPr/>
        </p:nvSpPr>
        <p:spPr>
          <a:xfrm>
            <a:off x="113604" y="1202688"/>
            <a:ext cx="8930100" cy="3251100"/>
          </a:xfrm>
          <a:prstGeom prst="roundRect">
            <a:avLst>
              <a:gd fmla="val 4702" name="adj"/>
            </a:avLst>
          </a:prstGeom>
          <a:solidFill>
            <a:srgbClr val="EBE2E0"/>
          </a:solidFill>
          <a:ln cap="flat" cmpd="sng" w="9525">
            <a:solidFill>
              <a:srgbClr val="D1C8C6"/>
            </a:solidFill>
            <a:prstDash val="solid"/>
            <a:round/>
            <a:headEnd len="sm" w="sm" type="none"/>
            <a:tailEnd len="sm" w="sm" type="none"/>
          </a:ln>
        </p:spPr>
        <p:txBody>
          <a:bodyPr anchorCtr="0" anchor="ctr" bIns="59625" lIns="59625" spcFirstLastPara="1" rIns="59625" wrap="square" tIns="596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44"/>
          <p:cNvSpPr/>
          <p:nvPr/>
        </p:nvSpPr>
        <p:spPr>
          <a:xfrm>
            <a:off x="247607" y="2531274"/>
            <a:ext cx="1925874" cy="1989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443728"/>
              </a:buClr>
              <a:buSzPts val="1247"/>
              <a:buFont typeface="Crimson Pro"/>
              <a:buNone/>
            </a:pPr>
            <a:r>
              <a:rPr b="1" lang="en-GB" sz="1300">
                <a:solidFill>
                  <a:srgbClr val="443728"/>
                </a:solidFill>
              </a:rPr>
              <a:t>Noise Dampening</a:t>
            </a:r>
            <a:endParaRPr i="0" sz="1300" u="none" cap="none" strike="noStrike">
              <a:solidFill>
                <a:srgbClr val="000000"/>
              </a:solidFill>
            </a:endParaRPr>
          </a:p>
        </p:txBody>
      </p:sp>
      <p:sp>
        <p:nvSpPr>
          <p:cNvPr id="420" name="Google Shape;420;p44"/>
          <p:cNvSpPr/>
          <p:nvPr/>
        </p:nvSpPr>
        <p:spPr>
          <a:xfrm>
            <a:off x="247600" y="2813263"/>
            <a:ext cx="4252533" cy="504900"/>
          </a:xfrm>
          <a:prstGeom prst="rect">
            <a:avLst/>
          </a:prstGeom>
          <a:noFill/>
          <a:ln>
            <a:noFill/>
          </a:ln>
        </p:spPr>
        <p:txBody>
          <a:bodyPr anchorCtr="0" anchor="t" bIns="0" lIns="0" spcFirstLastPara="1" rIns="0" wrap="square" tIns="0">
            <a:noAutofit/>
          </a:bodyPr>
          <a:lstStyle/>
          <a:p>
            <a:pPr indent="-311150" lvl="0" marL="457200" marR="0" rtl="0" algn="l">
              <a:lnSpc>
                <a:spcPct val="130434"/>
              </a:lnSpc>
              <a:spcBef>
                <a:spcPts val="0"/>
              </a:spcBef>
              <a:spcAft>
                <a:spcPts val="0"/>
              </a:spcAft>
              <a:buClr>
                <a:schemeClr val="dk1"/>
              </a:buClr>
              <a:buSzPts val="1300"/>
              <a:buFont typeface="Arial"/>
              <a:buChar char="●"/>
            </a:pPr>
            <a:r>
              <a:rPr lang="en-GB" sz="1300">
                <a:solidFill>
                  <a:schemeClr val="dk1"/>
                </a:solidFill>
              </a:rPr>
              <a:t>Grouping and mean pooling reduce noise and small variations, producing more stable representations.</a:t>
            </a:r>
            <a:endParaRPr b="0" i="0" sz="1300" u="none" cap="none" strike="noStrike">
              <a:solidFill>
                <a:schemeClr val="dk1"/>
              </a:solidFill>
              <a:latin typeface="Arial"/>
              <a:ea typeface="Arial"/>
              <a:cs typeface="Arial"/>
              <a:sym typeface="Arial"/>
            </a:endParaRPr>
          </a:p>
        </p:txBody>
      </p:sp>
      <p:sp>
        <p:nvSpPr>
          <p:cNvPr id="421" name="Google Shape;421;p44"/>
          <p:cNvSpPr/>
          <p:nvPr/>
        </p:nvSpPr>
        <p:spPr>
          <a:xfrm>
            <a:off x="206724" y="3530488"/>
            <a:ext cx="3762806" cy="198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1200"/>
              </a:spcAft>
              <a:buClr>
                <a:schemeClr val="dk1"/>
              </a:buClr>
              <a:buSzPts val="1100"/>
              <a:buFont typeface="Arial"/>
              <a:buNone/>
            </a:pPr>
            <a:r>
              <a:rPr b="1" lang="en-GB" sz="1300">
                <a:solidFill>
                  <a:schemeClr val="dk1"/>
                </a:solidFill>
              </a:rPr>
              <a:t>Handling Data Sparsity</a:t>
            </a:r>
            <a:endParaRPr b="1" i="0" sz="1300" u="none" cap="none" strike="noStrike">
              <a:solidFill>
                <a:srgbClr val="443728"/>
              </a:solidFill>
            </a:endParaRPr>
          </a:p>
        </p:txBody>
      </p:sp>
      <p:sp>
        <p:nvSpPr>
          <p:cNvPr id="422" name="Google Shape;422;p44"/>
          <p:cNvSpPr/>
          <p:nvPr/>
        </p:nvSpPr>
        <p:spPr>
          <a:xfrm>
            <a:off x="206725" y="3812488"/>
            <a:ext cx="4093889" cy="504900"/>
          </a:xfrm>
          <a:prstGeom prst="rect">
            <a:avLst/>
          </a:prstGeom>
          <a:noFill/>
          <a:ln>
            <a:noFill/>
          </a:ln>
        </p:spPr>
        <p:txBody>
          <a:bodyPr anchorCtr="0" anchor="t" bIns="0" lIns="0" spcFirstLastPara="1" rIns="0" wrap="square" tIns="0">
            <a:noAutofit/>
          </a:bodyPr>
          <a:lstStyle/>
          <a:p>
            <a:pPr indent="-311150" lvl="0" marL="457200" rtl="0" algn="l">
              <a:lnSpc>
                <a:spcPct val="115000"/>
              </a:lnSpc>
              <a:spcBef>
                <a:spcPts val="1200"/>
              </a:spcBef>
              <a:spcAft>
                <a:spcPts val="0"/>
              </a:spcAft>
              <a:buClr>
                <a:schemeClr val="dk1"/>
              </a:buClr>
              <a:buSzPts val="1300"/>
              <a:buChar char="●"/>
            </a:pPr>
            <a:r>
              <a:rPr lang="en-GB" sz="1300">
                <a:solidFill>
                  <a:schemeClr val="dk1"/>
                </a:solidFill>
              </a:rPr>
              <a:t>Robust to missing or uneven time gaps, maintaining continuity in real-world temporal data.</a:t>
            </a:r>
            <a:endParaRPr sz="1300">
              <a:solidFill>
                <a:schemeClr val="dk1"/>
              </a:solidFill>
            </a:endParaRPr>
          </a:p>
        </p:txBody>
      </p:sp>
      <p:sp>
        <p:nvSpPr>
          <p:cNvPr id="423" name="Google Shape;423;p44"/>
          <p:cNvSpPr/>
          <p:nvPr/>
        </p:nvSpPr>
        <p:spPr>
          <a:xfrm>
            <a:off x="4842403" y="2531294"/>
            <a:ext cx="2485446" cy="19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1" lang="en-GB" sz="1300">
                <a:solidFill>
                  <a:schemeClr val="dk1"/>
                </a:solidFill>
              </a:rPr>
              <a:t>Reliable Shift Detection</a:t>
            </a:r>
            <a:endParaRPr b="1" i="0" sz="1300" u="none" cap="none" strike="noStrike">
              <a:solidFill>
                <a:schemeClr val="dk1"/>
              </a:solidFill>
            </a:endParaRPr>
          </a:p>
        </p:txBody>
      </p:sp>
      <p:sp>
        <p:nvSpPr>
          <p:cNvPr id="424" name="Google Shape;424;p44"/>
          <p:cNvSpPr/>
          <p:nvPr/>
        </p:nvSpPr>
        <p:spPr>
          <a:xfrm>
            <a:off x="4842411" y="2813262"/>
            <a:ext cx="4147719" cy="504900"/>
          </a:xfrm>
          <a:prstGeom prst="rect">
            <a:avLst/>
          </a:prstGeom>
          <a:noFill/>
          <a:ln>
            <a:noFill/>
          </a:ln>
        </p:spPr>
        <p:txBody>
          <a:bodyPr anchorCtr="0" anchor="t" bIns="0" lIns="0" spcFirstLastPara="1" rIns="0" wrap="square" tIns="0">
            <a:noAutofit/>
          </a:bodyPr>
          <a:lstStyle/>
          <a:p>
            <a:pPr indent="-311150" lvl="0" marL="457200" marR="0" rtl="0" algn="l">
              <a:lnSpc>
                <a:spcPct val="130434"/>
              </a:lnSpc>
              <a:spcBef>
                <a:spcPts val="0"/>
              </a:spcBef>
              <a:spcAft>
                <a:spcPts val="0"/>
              </a:spcAft>
              <a:buClr>
                <a:schemeClr val="dk1"/>
              </a:buClr>
              <a:buSzPts val="1300"/>
              <a:buChar char="●"/>
            </a:pPr>
            <a:r>
              <a:rPr lang="en-GB" sz="1300">
                <a:solidFill>
                  <a:schemeClr val="dk1"/>
                </a:solidFill>
              </a:rPr>
              <a:t>Reduces false positives and improves stability of similarity-based shift signals.</a:t>
            </a:r>
            <a:endParaRPr i="0" sz="1300" u="none" cap="none" strike="noStrike">
              <a:solidFill>
                <a:schemeClr val="dk1"/>
              </a:solidFill>
            </a:endParaRPr>
          </a:p>
        </p:txBody>
      </p:sp>
      <p:sp>
        <p:nvSpPr>
          <p:cNvPr id="425" name="Google Shape;425;p44"/>
          <p:cNvSpPr/>
          <p:nvPr/>
        </p:nvSpPr>
        <p:spPr>
          <a:xfrm>
            <a:off x="4842391" y="1361801"/>
            <a:ext cx="2247300" cy="19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1" lang="en-GB" sz="1300">
                <a:solidFill>
                  <a:schemeClr val="dk1"/>
                </a:solidFill>
              </a:rPr>
              <a:t>Temporal Consistency</a:t>
            </a:r>
            <a:endParaRPr b="1" i="0" sz="1300" u="none" cap="none" strike="noStrike">
              <a:solidFill>
                <a:srgbClr val="443728"/>
              </a:solidFill>
            </a:endParaRPr>
          </a:p>
        </p:txBody>
      </p:sp>
      <p:sp>
        <p:nvSpPr>
          <p:cNvPr id="426" name="Google Shape;426;p44"/>
          <p:cNvSpPr/>
          <p:nvPr/>
        </p:nvSpPr>
        <p:spPr>
          <a:xfrm>
            <a:off x="4842393" y="1646614"/>
            <a:ext cx="3895200" cy="504900"/>
          </a:xfrm>
          <a:prstGeom prst="rect">
            <a:avLst/>
          </a:prstGeom>
          <a:noFill/>
          <a:ln>
            <a:noFill/>
          </a:ln>
        </p:spPr>
        <p:txBody>
          <a:bodyPr anchorCtr="0" anchor="t" bIns="0" lIns="0" spcFirstLastPara="1" rIns="0" wrap="square" tIns="0">
            <a:noAutofit/>
          </a:bodyPr>
          <a:lstStyle/>
          <a:p>
            <a:pPr indent="-311150" lvl="0" marL="457200" marR="0" rtl="0" algn="l">
              <a:lnSpc>
                <a:spcPct val="130434"/>
              </a:lnSpc>
              <a:spcBef>
                <a:spcPts val="0"/>
              </a:spcBef>
              <a:spcAft>
                <a:spcPts val="0"/>
              </a:spcAft>
              <a:buClr>
                <a:schemeClr val="dk1"/>
              </a:buClr>
              <a:buSzPts val="1300"/>
              <a:buFont typeface="Arial"/>
              <a:buChar char="●"/>
            </a:pPr>
            <a:r>
              <a:rPr lang="en-GB" sz="1300">
                <a:solidFill>
                  <a:schemeClr val="dk1"/>
                </a:solidFill>
              </a:rPr>
              <a:t>Group-level embeddings preserve local continuity and better capture gradual narrative evolution.</a:t>
            </a:r>
            <a:endParaRPr b="0" i="0" sz="1300" u="none" cap="none" strike="noStrike">
              <a:solidFill>
                <a:schemeClr val="dk1"/>
              </a:solidFill>
              <a:latin typeface="Arial"/>
              <a:ea typeface="Arial"/>
              <a:cs typeface="Arial"/>
              <a:sym typeface="Arial"/>
            </a:endParaRPr>
          </a:p>
        </p:txBody>
      </p:sp>
      <p:sp>
        <p:nvSpPr>
          <p:cNvPr id="427" name="Google Shape;427;p44"/>
          <p:cNvSpPr/>
          <p:nvPr/>
        </p:nvSpPr>
        <p:spPr>
          <a:xfrm>
            <a:off x="4572042" y="1202688"/>
            <a:ext cx="88200" cy="3251100"/>
          </a:xfrm>
          <a:prstGeom prst="roundRect">
            <a:avLst>
              <a:gd fmla="val 0" name="adj"/>
            </a:avLst>
          </a:prstGeom>
          <a:solidFill>
            <a:srgbClr val="835E54"/>
          </a:solidFill>
          <a:ln>
            <a:noFill/>
          </a:ln>
        </p:spPr>
        <p:txBody>
          <a:bodyPr anchorCtr="0" anchor="ctr" bIns="64050" lIns="64050" spcFirstLastPara="1" rIns="64050" wrap="square" tIns="640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44"/>
          <p:cNvSpPr/>
          <p:nvPr/>
        </p:nvSpPr>
        <p:spPr>
          <a:xfrm>
            <a:off x="295999" y="1363188"/>
            <a:ext cx="3762806" cy="19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0"/>
              </a:spcAft>
              <a:buClr>
                <a:schemeClr val="dk1"/>
              </a:buClr>
              <a:buSzPts val="1100"/>
              <a:buFont typeface="Arial"/>
              <a:buNone/>
            </a:pPr>
            <a:r>
              <a:rPr b="1" i="0" lang="en-GB" sz="1300" u="none" cap="none" strike="noStrike">
                <a:solidFill>
                  <a:schemeClr val="dk1"/>
                </a:solidFill>
              </a:rPr>
              <a:t>Mean Pooling</a:t>
            </a:r>
            <a:endParaRPr b="1" i="0" sz="1300" u="none" cap="none" strike="noStrike">
              <a:solidFill>
                <a:schemeClr val="dk1"/>
              </a:solidFill>
            </a:endParaRPr>
          </a:p>
          <a:p>
            <a:pPr indent="0" lvl="0" marL="0" marR="0" rtl="0" algn="l">
              <a:lnSpc>
                <a:spcPct val="124137"/>
              </a:lnSpc>
              <a:spcBef>
                <a:spcPts val="1200"/>
              </a:spcBef>
              <a:spcAft>
                <a:spcPts val="0"/>
              </a:spcAft>
              <a:buClr>
                <a:srgbClr val="443728"/>
              </a:buClr>
              <a:buSzPts val="1247"/>
              <a:buFont typeface="Crimson Pro"/>
              <a:buNone/>
            </a:pPr>
            <a:r>
              <a:t/>
            </a:r>
            <a:endParaRPr b="1" i="0" sz="1300" u="none" cap="none" strike="noStrike">
              <a:solidFill>
                <a:srgbClr val="443728"/>
              </a:solidFill>
            </a:endParaRPr>
          </a:p>
        </p:txBody>
      </p:sp>
      <p:sp>
        <p:nvSpPr>
          <p:cNvPr id="429" name="Google Shape;429;p44"/>
          <p:cNvSpPr/>
          <p:nvPr/>
        </p:nvSpPr>
        <p:spPr>
          <a:xfrm>
            <a:off x="296000" y="1645188"/>
            <a:ext cx="4093889" cy="504900"/>
          </a:xfrm>
          <a:prstGeom prst="rect">
            <a:avLst/>
          </a:prstGeom>
          <a:noFill/>
          <a:ln>
            <a:noFill/>
          </a:ln>
        </p:spPr>
        <p:txBody>
          <a:bodyPr anchorCtr="0" anchor="t" bIns="0" lIns="0" spcFirstLastPara="1" rIns="0" wrap="square" tIns="0">
            <a:noAutofit/>
          </a:bodyPr>
          <a:lstStyle/>
          <a:p>
            <a:pPr indent="-311150" lvl="0" marL="457200" rtl="0" algn="l">
              <a:lnSpc>
                <a:spcPct val="115000"/>
              </a:lnSpc>
              <a:spcBef>
                <a:spcPts val="1200"/>
              </a:spcBef>
              <a:spcAft>
                <a:spcPts val="0"/>
              </a:spcAft>
              <a:buClr>
                <a:schemeClr val="dk1"/>
              </a:buClr>
              <a:buSzPts val="1300"/>
              <a:buChar char="●"/>
            </a:pPr>
            <a:r>
              <a:rPr lang="en-GB" sz="1300">
                <a:solidFill>
                  <a:schemeClr val="dk1"/>
                </a:solidFill>
              </a:rPr>
              <a:t>Sentences embeddings are aggregated using mean pooling to produce compact and smoother group-level representations. </a:t>
            </a:r>
            <a:endParaRPr sz="13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28"/>
                                        </p:tgtEl>
                                        <p:attrNameLst>
                                          <p:attrName>style.visibility</p:attrName>
                                        </p:attrNameLst>
                                      </p:cBhvr>
                                      <p:to>
                                        <p:strVal val="visible"/>
                                      </p:to>
                                    </p:set>
                                    <p:animEffect filter="fade" transition="in">
                                      <p:cBhvr>
                                        <p:cTn dur="1000"/>
                                        <p:tgtEl>
                                          <p:spTgt spid="428"/>
                                        </p:tgtEl>
                                      </p:cBhvr>
                                    </p:animEffect>
                                  </p:childTnLst>
                                </p:cTn>
                              </p:par>
                              <p:par>
                                <p:cTn fill="hold" nodeType="withEffect" presetClass="entr" presetID="2" presetSubtype="4">
                                  <p:stCondLst>
                                    <p:cond delay="0"/>
                                  </p:stCondLst>
                                  <p:childTnLst>
                                    <p:set>
                                      <p:cBhvr>
                                        <p:cTn dur="1" fill="hold">
                                          <p:stCondLst>
                                            <p:cond delay="0"/>
                                          </p:stCondLst>
                                        </p:cTn>
                                        <p:tgtEl>
                                          <p:spTgt spid="429"/>
                                        </p:tgtEl>
                                        <p:attrNameLst>
                                          <p:attrName>style.visibility</p:attrName>
                                        </p:attrNameLst>
                                      </p:cBhvr>
                                      <p:to>
                                        <p:strVal val="visible"/>
                                      </p:to>
                                    </p:set>
                                    <p:anim calcmode="lin" valueType="num">
                                      <p:cBhvr additive="base">
                                        <p:cTn dur="1000"/>
                                        <p:tgtEl>
                                          <p:spTgt spid="42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
                                        </p:tgtEl>
                                        <p:attrNameLst>
                                          <p:attrName>style.visibility</p:attrName>
                                        </p:attrNameLst>
                                      </p:cBhvr>
                                      <p:to>
                                        <p:strVal val="visible"/>
                                      </p:to>
                                    </p:set>
                                    <p:animEffect filter="fade" transition="in">
                                      <p:cBhvr>
                                        <p:cTn dur="1000"/>
                                        <p:tgtEl>
                                          <p:spTgt spid="419"/>
                                        </p:tgtEl>
                                      </p:cBhvr>
                                    </p:animEffect>
                                  </p:childTnLst>
                                </p:cTn>
                              </p:par>
                              <p:par>
                                <p:cTn fill="hold" nodeType="withEffect" presetClass="entr" presetID="2" presetSubtype="4">
                                  <p:stCondLst>
                                    <p:cond delay="0"/>
                                  </p:stCondLst>
                                  <p:childTnLst>
                                    <p:set>
                                      <p:cBhvr>
                                        <p:cTn dur="1" fill="hold">
                                          <p:stCondLst>
                                            <p:cond delay="0"/>
                                          </p:stCondLst>
                                        </p:cTn>
                                        <p:tgtEl>
                                          <p:spTgt spid="420"/>
                                        </p:tgtEl>
                                        <p:attrNameLst>
                                          <p:attrName>style.visibility</p:attrName>
                                        </p:attrNameLst>
                                      </p:cBhvr>
                                      <p:to>
                                        <p:strVal val="visible"/>
                                      </p:to>
                                    </p:set>
                                    <p:anim calcmode="lin" valueType="num">
                                      <p:cBhvr additive="base">
                                        <p:cTn dur="1000"/>
                                        <p:tgtEl>
                                          <p:spTgt spid="42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gtEl>
                                        <p:attrNameLst>
                                          <p:attrName>style.visibility</p:attrName>
                                        </p:attrNameLst>
                                      </p:cBhvr>
                                      <p:to>
                                        <p:strVal val="visible"/>
                                      </p:to>
                                    </p:set>
                                    <p:animEffect filter="fade" transition="in">
                                      <p:cBhvr>
                                        <p:cTn dur="1000"/>
                                        <p:tgtEl>
                                          <p:spTgt spid="421"/>
                                        </p:tgtEl>
                                      </p:cBhvr>
                                    </p:animEffect>
                                  </p:childTnLst>
                                </p:cTn>
                              </p:par>
                              <p:par>
                                <p:cTn fill="hold" nodeType="withEffect" presetClass="entr" presetID="2" presetSubtype="4">
                                  <p:stCondLst>
                                    <p:cond delay="0"/>
                                  </p:stCondLst>
                                  <p:childTnLst>
                                    <p:set>
                                      <p:cBhvr>
                                        <p:cTn dur="1" fill="hold">
                                          <p:stCondLst>
                                            <p:cond delay="0"/>
                                          </p:stCondLst>
                                        </p:cTn>
                                        <p:tgtEl>
                                          <p:spTgt spid="422"/>
                                        </p:tgtEl>
                                        <p:attrNameLst>
                                          <p:attrName>style.visibility</p:attrName>
                                        </p:attrNameLst>
                                      </p:cBhvr>
                                      <p:to>
                                        <p:strVal val="visible"/>
                                      </p:to>
                                    </p:set>
                                    <p:anim calcmode="lin" valueType="num">
                                      <p:cBhvr additive="base">
                                        <p:cTn dur="1000"/>
                                        <p:tgtEl>
                                          <p:spTgt spid="42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5"/>
                                        </p:tgtEl>
                                        <p:attrNameLst>
                                          <p:attrName>style.visibility</p:attrName>
                                        </p:attrNameLst>
                                      </p:cBhvr>
                                      <p:to>
                                        <p:strVal val="visible"/>
                                      </p:to>
                                    </p:set>
                                    <p:animEffect filter="fade" transition="in">
                                      <p:cBhvr>
                                        <p:cTn dur="1000"/>
                                        <p:tgtEl>
                                          <p:spTgt spid="425"/>
                                        </p:tgtEl>
                                      </p:cBhvr>
                                    </p:animEffect>
                                  </p:childTnLst>
                                </p:cTn>
                              </p:par>
                              <p:par>
                                <p:cTn fill="hold" nodeType="withEffect" presetClass="entr" presetID="2" presetSubtype="4">
                                  <p:stCondLst>
                                    <p:cond delay="0"/>
                                  </p:stCondLst>
                                  <p:childTnLst>
                                    <p:set>
                                      <p:cBhvr>
                                        <p:cTn dur="1" fill="hold">
                                          <p:stCondLst>
                                            <p:cond delay="0"/>
                                          </p:stCondLst>
                                        </p:cTn>
                                        <p:tgtEl>
                                          <p:spTgt spid="426"/>
                                        </p:tgtEl>
                                        <p:attrNameLst>
                                          <p:attrName>style.visibility</p:attrName>
                                        </p:attrNameLst>
                                      </p:cBhvr>
                                      <p:to>
                                        <p:strVal val="visible"/>
                                      </p:to>
                                    </p:set>
                                    <p:anim calcmode="lin" valueType="num">
                                      <p:cBhvr additive="base">
                                        <p:cTn dur="1000"/>
                                        <p:tgtEl>
                                          <p:spTgt spid="42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
                                        </p:tgtEl>
                                        <p:attrNameLst>
                                          <p:attrName>style.visibility</p:attrName>
                                        </p:attrNameLst>
                                      </p:cBhvr>
                                      <p:to>
                                        <p:strVal val="visible"/>
                                      </p:to>
                                    </p:set>
                                    <p:animEffect filter="fade" transition="in">
                                      <p:cBhvr>
                                        <p:cTn dur="1000"/>
                                        <p:tgtEl>
                                          <p:spTgt spid="423"/>
                                        </p:tgtEl>
                                      </p:cBhvr>
                                    </p:animEffect>
                                  </p:childTnLst>
                                </p:cTn>
                              </p:par>
                              <p:par>
                                <p:cTn fill="hold" nodeType="withEffect" presetClass="entr" presetID="2" presetSubtype="4">
                                  <p:stCondLst>
                                    <p:cond delay="0"/>
                                  </p:stCondLst>
                                  <p:childTnLst>
                                    <p:set>
                                      <p:cBhvr>
                                        <p:cTn dur="1" fill="hold">
                                          <p:stCondLst>
                                            <p:cond delay="0"/>
                                          </p:stCondLst>
                                        </p:cTn>
                                        <p:tgtEl>
                                          <p:spTgt spid="424"/>
                                        </p:tgtEl>
                                        <p:attrNameLst>
                                          <p:attrName>style.visibility</p:attrName>
                                        </p:attrNameLst>
                                      </p:cBhvr>
                                      <p:to>
                                        <p:strVal val="visible"/>
                                      </p:to>
                                    </p:set>
                                    <p:anim calcmode="lin" valueType="num">
                                      <p:cBhvr additive="base">
                                        <p:cTn dur="1000"/>
                                        <p:tgtEl>
                                          <p:spTgt spid="42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45"/>
          <p:cNvSpPr/>
          <p:nvPr/>
        </p:nvSpPr>
        <p:spPr>
          <a:xfrm>
            <a:off x="677625" y="410139"/>
            <a:ext cx="5498400" cy="398100"/>
          </a:xfrm>
          <a:prstGeom prst="rect">
            <a:avLst/>
          </a:prstGeom>
          <a:noFill/>
          <a:ln>
            <a:noFill/>
          </a:ln>
        </p:spPr>
        <p:txBody>
          <a:bodyPr anchorCtr="0" anchor="t" bIns="0" lIns="0" spcFirstLastPara="1" rIns="0" wrap="square" tIns="0">
            <a:noAutofit/>
          </a:bodyPr>
          <a:lstStyle/>
          <a:p>
            <a:pPr indent="0" lvl="0" marL="0" marR="0" rtl="0" algn="l">
              <a:lnSpc>
                <a:spcPct val="125333"/>
              </a:lnSpc>
              <a:spcBef>
                <a:spcPts val="0"/>
              </a:spcBef>
              <a:spcAft>
                <a:spcPts val="0"/>
              </a:spcAft>
              <a:buClr>
                <a:srgbClr val="443728"/>
              </a:buClr>
              <a:buSzPts val="3750"/>
              <a:buFont typeface="Crimson Pro"/>
              <a:buNone/>
            </a:pPr>
            <a:r>
              <a:rPr b="1" i="0" lang="en-GB" sz="2300" u="none" cap="none" strike="noStrike">
                <a:solidFill>
                  <a:srgbClr val="443728"/>
                </a:solidFill>
              </a:rPr>
              <a:t>Approach 2</a:t>
            </a:r>
            <a:endParaRPr b="1" i="0" sz="2600" u="none" cap="none" strike="noStrike">
              <a:solidFill>
                <a:srgbClr val="443728"/>
              </a:solidFill>
            </a:endParaRPr>
          </a:p>
        </p:txBody>
      </p:sp>
      <p:sp>
        <p:nvSpPr>
          <p:cNvPr id="435" name="Google Shape;435;p45"/>
          <p:cNvSpPr/>
          <p:nvPr/>
        </p:nvSpPr>
        <p:spPr>
          <a:xfrm>
            <a:off x="81925" y="74650"/>
            <a:ext cx="1377000" cy="288600"/>
          </a:xfrm>
          <a:prstGeom prst="roundRect">
            <a:avLst>
              <a:gd fmla="val 18064" name="adj"/>
            </a:avLst>
          </a:prstGeom>
          <a:noFill/>
          <a:ln cap="flat" cmpd="sng" w="9525">
            <a:solidFill>
              <a:srgbClr val="835E5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45"/>
          <p:cNvSpPr/>
          <p:nvPr/>
        </p:nvSpPr>
        <p:spPr>
          <a:xfrm>
            <a:off x="225618" y="127293"/>
            <a:ext cx="1089600" cy="183300"/>
          </a:xfrm>
          <a:prstGeom prst="rect">
            <a:avLst/>
          </a:prstGeom>
          <a:noFill/>
          <a:ln>
            <a:noFill/>
          </a:ln>
        </p:spPr>
        <p:txBody>
          <a:bodyPr anchorCtr="0" anchor="t" bIns="0" lIns="0" spcFirstLastPara="1" rIns="0" wrap="square" tIns="0">
            <a:noAutofit/>
          </a:bodyPr>
          <a:lstStyle/>
          <a:p>
            <a:pPr indent="0" lvl="0" marL="0" marR="0" rtl="0" algn="l">
              <a:lnSpc>
                <a:spcPct val="145833"/>
              </a:lnSpc>
              <a:spcBef>
                <a:spcPts val="0"/>
              </a:spcBef>
              <a:spcAft>
                <a:spcPts val="0"/>
              </a:spcAft>
              <a:buClr>
                <a:srgbClr val="835E54"/>
              </a:buClr>
              <a:buSzPts val="1200"/>
              <a:buFont typeface="Open Sans"/>
              <a:buNone/>
            </a:pPr>
            <a:r>
              <a:rPr b="0" i="0" lang="en-GB" sz="1200" u="none" cap="none" strike="noStrike">
                <a:solidFill>
                  <a:srgbClr val="835E54"/>
                </a:solidFill>
                <a:latin typeface="Open Sans"/>
                <a:ea typeface="Open Sans"/>
                <a:cs typeface="Open Sans"/>
                <a:sym typeface="Open Sans"/>
              </a:rPr>
              <a:t>APPROACH 2</a:t>
            </a:r>
            <a:endParaRPr b="0" i="0" sz="1200" u="none" cap="none" strike="noStrike">
              <a:solidFill>
                <a:srgbClr val="000000"/>
              </a:solidFill>
              <a:latin typeface="Arial"/>
              <a:ea typeface="Arial"/>
              <a:cs typeface="Arial"/>
              <a:sym typeface="Arial"/>
            </a:endParaRPr>
          </a:p>
        </p:txBody>
      </p:sp>
      <p:pic>
        <p:nvPicPr>
          <p:cNvPr id="437" name="Google Shape;437;p45" title="approch_2_grouping_based_high_level.jpeg"/>
          <p:cNvPicPr preferRelativeResize="0"/>
          <p:nvPr/>
        </p:nvPicPr>
        <p:blipFill>
          <a:blip r:embed="rId3">
            <a:alphaModFix/>
          </a:blip>
          <a:stretch>
            <a:fillRect/>
          </a:stretch>
        </p:blipFill>
        <p:spPr>
          <a:xfrm>
            <a:off x="1560187" y="891175"/>
            <a:ext cx="6023626" cy="4099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37"/>
                                        </p:tgtEl>
                                        <p:attrNameLst>
                                          <p:attrName>style.visibility</p:attrName>
                                        </p:attrNameLst>
                                      </p:cBhvr>
                                      <p:to>
                                        <p:strVal val="visible"/>
                                      </p:to>
                                    </p:set>
                                    <p:animEffect filter="fade" transition="in">
                                      <p:cBhvr>
                                        <p:cTn dur="1000"/>
                                        <p:tgtEl>
                                          <p:spTgt spid="4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46"/>
          <p:cNvSpPr/>
          <p:nvPr/>
        </p:nvSpPr>
        <p:spPr>
          <a:xfrm>
            <a:off x="669900" y="598388"/>
            <a:ext cx="5498400" cy="398100"/>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443728"/>
              </a:buClr>
              <a:buSzPts val="2500"/>
              <a:buFont typeface="Crimson Pro"/>
              <a:buNone/>
            </a:pPr>
            <a:r>
              <a:rPr b="1" i="0" lang="en-GB" sz="2500" u="none" cap="none" strike="noStrike">
                <a:solidFill>
                  <a:srgbClr val="443728"/>
                </a:solidFill>
              </a:rPr>
              <a:t>Limitations of Approach </a:t>
            </a:r>
            <a:r>
              <a:rPr b="1" lang="en-GB" sz="2500">
                <a:solidFill>
                  <a:srgbClr val="443728"/>
                </a:solidFill>
              </a:rPr>
              <a:t>2</a:t>
            </a:r>
            <a:endParaRPr i="0" sz="2500" u="none" cap="none" strike="noStrike">
              <a:solidFill>
                <a:schemeClr val="dk1"/>
              </a:solidFill>
            </a:endParaRPr>
          </a:p>
          <a:p>
            <a:pPr indent="0" lvl="0" marL="0" marR="0" rtl="0" algn="l">
              <a:lnSpc>
                <a:spcPct val="125333"/>
              </a:lnSpc>
              <a:spcBef>
                <a:spcPts val="0"/>
              </a:spcBef>
              <a:spcAft>
                <a:spcPts val="0"/>
              </a:spcAft>
              <a:buClr>
                <a:srgbClr val="443728"/>
              </a:buClr>
              <a:buSzPts val="3750"/>
              <a:buFont typeface="Crimson Pro"/>
              <a:buNone/>
            </a:pPr>
            <a:r>
              <a:t/>
            </a:r>
            <a:endParaRPr b="1" i="0" sz="2500" u="none" cap="none" strike="noStrike">
              <a:solidFill>
                <a:srgbClr val="443728"/>
              </a:solidFill>
            </a:endParaRPr>
          </a:p>
        </p:txBody>
      </p:sp>
      <p:sp>
        <p:nvSpPr>
          <p:cNvPr id="443" name="Google Shape;443;p46"/>
          <p:cNvSpPr/>
          <p:nvPr/>
        </p:nvSpPr>
        <p:spPr>
          <a:xfrm>
            <a:off x="81925" y="74650"/>
            <a:ext cx="1377000" cy="288600"/>
          </a:xfrm>
          <a:prstGeom prst="roundRect">
            <a:avLst>
              <a:gd fmla="val 18064" name="adj"/>
            </a:avLst>
          </a:prstGeom>
          <a:noFill/>
          <a:ln cap="flat" cmpd="sng" w="9525">
            <a:solidFill>
              <a:srgbClr val="835E5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46"/>
          <p:cNvSpPr/>
          <p:nvPr/>
        </p:nvSpPr>
        <p:spPr>
          <a:xfrm>
            <a:off x="225618" y="127293"/>
            <a:ext cx="1089600" cy="183300"/>
          </a:xfrm>
          <a:prstGeom prst="rect">
            <a:avLst/>
          </a:prstGeom>
          <a:noFill/>
          <a:ln>
            <a:noFill/>
          </a:ln>
        </p:spPr>
        <p:txBody>
          <a:bodyPr anchorCtr="0" anchor="t" bIns="0" lIns="0" spcFirstLastPara="1" rIns="0" wrap="square" tIns="0">
            <a:noAutofit/>
          </a:bodyPr>
          <a:lstStyle/>
          <a:p>
            <a:pPr indent="0" lvl="0" marL="0" marR="0" rtl="0" algn="l">
              <a:lnSpc>
                <a:spcPct val="145833"/>
              </a:lnSpc>
              <a:spcBef>
                <a:spcPts val="0"/>
              </a:spcBef>
              <a:spcAft>
                <a:spcPts val="0"/>
              </a:spcAft>
              <a:buClr>
                <a:srgbClr val="835E54"/>
              </a:buClr>
              <a:buSzPts val="1200"/>
              <a:buFont typeface="Open Sans"/>
              <a:buNone/>
            </a:pPr>
            <a:r>
              <a:rPr b="0" i="0" lang="en-GB" sz="1200" u="none" cap="none" strike="noStrike">
                <a:solidFill>
                  <a:srgbClr val="835E54"/>
                </a:solidFill>
                <a:latin typeface="Open Sans"/>
                <a:ea typeface="Open Sans"/>
                <a:cs typeface="Open Sans"/>
                <a:sym typeface="Open Sans"/>
              </a:rPr>
              <a:t>APPROACH </a:t>
            </a:r>
            <a:r>
              <a:rPr lang="en-GB" sz="1200">
                <a:solidFill>
                  <a:srgbClr val="835E54"/>
                </a:solidFill>
                <a:latin typeface="Open Sans"/>
                <a:ea typeface="Open Sans"/>
                <a:cs typeface="Open Sans"/>
                <a:sym typeface="Open Sans"/>
              </a:rPr>
              <a:t>2</a:t>
            </a:r>
            <a:endParaRPr b="0" i="0" sz="1200" u="none" cap="none" strike="noStrike">
              <a:solidFill>
                <a:srgbClr val="000000"/>
              </a:solidFill>
              <a:latin typeface="Arial"/>
              <a:ea typeface="Arial"/>
              <a:cs typeface="Arial"/>
              <a:sym typeface="Arial"/>
            </a:endParaRPr>
          </a:p>
        </p:txBody>
      </p:sp>
      <p:sp>
        <p:nvSpPr>
          <p:cNvPr id="445" name="Google Shape;445;p46"/>
          <p:cNvSpPr/>
          <p:nvPr/>
        </p:nvSpPr>
        <p:spPr>
          <a:xfrm>
            <a:off x="106950" y="1516671"/>
            <a:ext cx="8930100" cy="2188500"/>
          </a:xfrm>
          <a:prstGeom prst="roundRect">
            <a:avLst>
              <a:gd fmla="val 4702" name="adj"/>
            </a:avLst>
          </a:prstGeom>
          <a:solidFill>
            <a:srgbClr val="EBE2E0"/>
          </a:solidFill>
          <a:ln cap="flat" cmpd="sng" w="9525">
            <a:solidFill>
              <a:srgbClr val="D1C8C6"/>
            </a:solidFill>
            <a:prstDash val="solid"/>
            <a:round/>
            <a:headEnd len="sm" w="sm" type="none"/>
            <a:tailEnd len="sm" w="sm" type="none"/>
          </a:ln>
        </p:spPr>
        <p:txBody>
          <a:bodyPr anchorCtr="0" anchor="ctr" bIns="59625" lIns="59625" spcFirstLastPara="1" rIns="59625" wrap="square" tIns="596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46"/>
          <p:cNvSpPr/>
          <p:nvPr/>
        </p:nvSpPr>
        <p:spPr>
          <a:xfrm>
            <a:off x="266557" y="1584374"/>
            <a:ext cx="1925874" cy="198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800"/>
              </a:spcBef>
              <a:spcAft>
                <a:spcPts val="400"/>
              </a:spcAft>
              <a:buClr>
                <a:schemeClr val="dk1"/>
              </a:buClr>
              <a:buSzPts val="1100"/>
              <a:buFont typeface="Arial"/>
              <a:buNone/>
            </a:pPr>
            <a:r>
              <a:rPr b="1" lang="en-GB" sz="1300">
                <a:solidFill>
                  <a:schemeClr val="dk1"/>
                </a:solidFill>
              </a:rPr>
              <a:t>Rule-Based Grouping</a:t>
            </a:r>
            <a:endParaRPr b="1" sz="1300">
              <a:solidFill>
                <a:srgbClr val="443728"/>
              </a:solidFill>
            </a:endParaRPr>
          </a:p>
        </p:txBody>
      </p:sp>
      <p:sp>
        <p:nvSpPr>
          <p:cNvPr id="447" name="Google Shape;447;p46"/>
          <p:cNvSpPr/>
          <p:nvPr/>
        </p:nvSpPr>
        <p:spPr>
          <a:xfrm>
            <a:off x="266550" y="1866363"/>
            <a:ext cx="4252533" cy="504900"/>
          </a:xfrm>
          <a:prstGeom prst="rect">
            <a:avLst/>
          </a:prstGeom>
          <a:noFill/>
          <a:ln>
            <a:noFill/>
          </a:ln>
        </p:spPr>
        <p:txBody>
          <a:bodyPr anchorCtr="0" anchor="t" bIns="0" lIns="0" spcFirstLastPara="1" rIns="0" wrap="square" tIns="0">
            <a:noAutofit/>
          </a:bodyPr>
          <a:lstStyle/>
          <a:p>
            <a:pPr indent="-298450" lvl="0" marL="457200" rtl="0" algn="l">
              <a:lnSpc>
                <a:spcPct val="115000"/>
              </a:lnSpc>
              <a:spcBef>
                <a:spcPts val="1200"/>
              </a:spcBef>
              <a:spcAft>
                <a:spcPts val="0"/>
              </a:spcAft>
              <a:buClr>
                <a:schemeClr val="dk1"/>
              </a:buClr>
              <a:buSzPts val="1100"/>
              <a:buChar char="●"/>
            </a:pPr>
            <a:r>
              <a:rPr lang="en-GB" sz="1100">
                <a:solidFill>
                  <a:schemeClr val="dk1"/>
                </a:solidFill>
              </a:rPr>
              <a:t>Relies on fixed heuristics instead of learned patterns, requiring manual tuning and limiting adaptability. </a:t>
            </a:r>
            <a:endParaRPr sz="1100">
              <a:solidFill>
                <a:schemeClr val="dk1"/>
              </a:solidFill>
            </a:endParaRPr>
          </a:p>
        </p:txBody>
      </p:sp>
      <p:sp>
        <p:nvSpPr>
          <p:cNvPr id="448" name="Google Shape;448;p46"/>
          <p:cNvSpPr/>
          <p:nvPr/>
        </p:nvSpPr>
        <p:spPr>
          <a:xfrm>
            <a:off x="266549" y="2711863"/>
            <a:ext cx="3762806" cy="19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0"/>
              </a:spcAft>
              <a:buClr>
                <a:schemeClr val="dk1"/>
              </a:buClr>
              <a:buSzPts val="1100"/>
              <a:buFont typeface="Arial"/>
              <a:buNone/>
            </a:pPr>
            <a:r>
              <a:rPr b="1" lang="en-GB" sz="1300">
                <a:solidFill>
                  <a:schemeClr val="dk1"/>
                </a:solidFill>
              </a:rPr>
              <a:t>No Semantic Awareness</a:t>
            </a:r>
            <a:endParaRPr b="1" i="0" sz="1300" u="none" cap="none" strike="noStrike">
              <a:solidFill>
                <a:srgbClr val="443728"/>
              </a:solidFill>
            </a:endParaRPr>
          </a:p>
        </p:txBody>
      </p:sp>
      <p:sp>
        <p:nvSpPr>
          <p:cNvPr id="449" name="Google Shape;449;p46"/>
          <p:cNvSpPr/>
          <p:nvPr/>
        </p:nvSpPr>
        <p:spPr>
          <a:xfrm>
            <a:off x="266550" y="2993863"/>
            <a:ext cx="4093889" cy="504900"/>
          </a:xfrm>
          <a:prstGeom prst="rect">
            <a:avLst/>
          </a:prstGeom>
          <a:noFill/>
          <a:ln>
            <a:noFill/>
          </a:ln>
        </p:spPr>
        <p:txBody>
          <a:bodyPr anchorCtr="0" anchor="t" bIns="0" lIns="0" spcFirstLastPara="1" rIns="0" wrap="square" tIns="0">
            <a:noAutofit/>
          </a:bodyPr>
          <a:lstStyle/>
          <a:p>
            <a:pPr indent="-298450" lvl="0" marL="457200" marR="0" rtl="0" algn="l">
              <a:lnSpc>
                <a:spcPct val="130434"/>
              </a:lnSpc>
              <a:spcBef>
                <a:spcPts val="1200"/>
              </a:spcBef>
              <a:spcAft>
                <a:spcPts val="0"/>
              </a:spcAft>
              <a:buClr>
                <a:schemeClr val="dk1"/>
              </a:buClr>
              <a:buSzPts val="1100"/>
              <a:buChar char="●"/>
            </a:pPr>
            <a:r>
              <a:rPr lang="en-GB" sz="1100">
                <a:solidFill>
                  <a:schemeClr val="dk1"/>
                </a:solidFill>
              </a:rPr>
              <a:t>Groups based on time proximity rather than meaning, which can hide true narrative boundaries.</a:t>
            </a:r>
            <a:endParaRPr b="0" i="0" sz="1100" u="none" cap="none" strike="noStrike">
              <a:solidFill>
                <a:schemeClr val="dk1"/>
              </a:solidFill>
              <a:latin typeface="Arial"/>
              <a:ea typeface="Arial"/>
              <a:cs typeface="Arial"/>
              <a:sym typeface="Arial"/>
            </a:endParaRPr>
          </a:p>
        </p:txBody>
      </p:sp>
      <p:sp>
        <p:nvSpPr>
          <p:cNvPr id="450" name="Google Shape;450;p46"/>
          <p:cNvSpPr/>
          <p:nvPr/>
        </p:nvSpPr>
        <p:spPr>
          <a:xfrm>
            <a:off x="4784541" y="1584369"/>
            <a:ext cx="2485446" cy="19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1" lang="en-GB" sz="1300">
                <a:solidFill>
                  <a:schemeClr val="dk1"/>
                </a:solidFill>
              </a:rPr>
              <a:t>Static Logic</a:t>
            </a:r>
            <a:endParaRPr b="1" i="0" sz="1300" u="none" cap="none" strike="noStrike">
              <a:solidFill>
                <a:srgbClr val="443728"/>
              </a:solidFill>
            </a:endParaRPr>
          </a:p>
        </p:txBody>
      </p:sp>
      <p:sp>
        <p:nvSpPr>
          <p:cNvPr id="451" name="Google Shape;451;p46"/>
          <p:cNvSpPr/>
          <p:nvPr/>
        </p:nvSpPr>
        <p:spPr>
          <a:xfrm>
            <a:off x="4784549" y="1866337"/>
            <a:ext cx="4147719" cy="504900"/>
          </a:xfrm>
          <a:prstGeom prst="rect">
            <a:avLst/>
          </a:prstGeom>
          <a:noFill/>
          <a:ln>
            <a:noFill/>
          </a:ln>
        </p:spPr>
        <p:txBody>
          <a:bodyPr anchorCtr="0" anchor="t" bIns="0" lIns="0" spcFirstLastPara="1" rIns="0" wrap="square" tIns="0">
            <a:noAutofit/>
          </a:bodyPr>
          <a:lstStyle/>
          <a:p>
            <a:pPr indent="-298450" lvl="0" marL="457200" marR="0" rtl="0" algn="l">
              <a:lnSpc>
                <a:spcPct val="130434"/>
              </a:lnSpc>
              <a:spcBef>
                <a:spcPts val="0"/>
              </a:spcBef>
              <a:spcAft>
                <a:spcPts val="0"/>
              </a:spcAft>
              <a:buClr>
                <a:schemeClr val="dk1"/>
              </a:buClr>
              <a:buSzPts val="1100"/>
              <a:buChar char="●"/>
            </a:pPr>
            <a:r>
              <a:rPr lang="en-GB" sz="1100">
                <a:solidFill>
                  <a:schemeClr val="dk1"/>
                </a:solidFill>
              </a:rPr>
              <a:t>Same grouping rules across topics fail to adapt to different narrative speeds and domains.</a:t>
            </a:r>
            <a:endParaRPr b="0" i="0" sz="1100" u="none" cap="none" strike="noStrike">
              <a:solidFill>
                <a:schemeClr val="dk1"/>
              </a:solidFill>
              <a:latin typeface="Arial"/>
              <a:ea typeface="Arial"/>
              <a:cs typeface="Arial"/>
              <a:sym typeface="Arial"/>
            </a:endParaRPr>
          </a:p>
        </p:txBody>
      </p:sp>
      <p:sp>
        <p:nvSpPr>
          <p:cNvPr id="452" name="Google Shape;452;p46"/>
          <p:cNvSpPr/>
          <p:nvPr/>
        </p:nvSpPr>
        <p:spPr>
          <a:xfrm>
            <a:off x="4638692" y="1516671"/>
            <a:ext cx="88200" cy="2188500"/>
          </a:xfrm>
          <a:prstGeom prst="roundRect">
            <a:avLst>
              <a:gd fmla="val 0" name="adj"/>
            </a:avLst>
          </a:prstGeom>
          <a:solidFill>
            <a:srgbClr val="835E54"/>
          </a:solidFill>
          <a:ln>
            <a:noFill/>
          </a:ln>
        </p:spPr>
        <p:txBody>
          <a:bodyPr anchorCtr="0" anchor="ctr" bIns="64050" lIns="64050" spcFirstLastPara="1" rIns="64050" wrap="square" tIns="640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46"/>
                                        </p:tgtEl>
                                        <p:attrNameLst>
                                          <p:attrName>style.visibility</p:attrName>
                                        </p:attrNameLst>
                                      </p:cBhvr>
                                      <p:to>
                                        <p:strVal val="visible"/>
                                      </p:to>
                                    </p:set>
                                    <p:animEffect filter="fade" transition="in">
                                      <p:cBhvr>
                                        <p:cTn dur="1000"/>
                                        <p:tgtEl>
                                          <p:spTgt spid="446"/>
                                        </p:tgtEl>
                                      </p:cBhvr>
                                    </p:animEffect>
                                  </p:childTnLst>
                                </p:cTn>
                              </p:par>
                              <p:par>
                                <p:cTn fill="hold" nodeType="withEffect" presetClass="entr" presetID="2" presetSubtype="4">
                                  <p:stCondLst>
                                    <p:cond delay="0"/>
                                  </p:stCondLst>
                                  <p:childTnLst>
                                    <p:set>
                                      <p:cBhvr>
                                        <p:cTn dur="1" fill="hold">
                                          <p:stCondLst>
                                            <p:cond delay="0"/>
                                          </p:stCondLst>
                                        </p:cTn>
                                        <p:tgtEl>
                                          <p:spTgt spid="447"/>
                                        </p:tgtEl>
                                        <p:attrNameLst>
                                          <p:attrName>style.visibility</p:attrName>
                                        </p:attrNameLst>
                                      </p:cBhvr>
                                      <p:to>
                                        <p:strVal val="visible"/>
                                      </p:to>
                                    </p:set>
                                    <p:anim calcmode="lin" valueType="num">
                                      <p:cBhvr additive="base">
                                        <p:cTn dur="1000"/>
                                        <p:tgtEl>
                                          <p:spTgt spid="44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8"/>
                                        </p:tgtEl>
                                        <p:attrNameLst>
                                          <p:attrName>style.visibility</p:attrName>
                                        </p:attrNameLst>
                                      </p:cBhvr>
                                      <p:to>
                                        <p:strVal val="visible"/>
                                      </p:to>
                                    </p:set>
                                    <p:animEffect filter="fade" transition="in">
                                      <p:cBhvr>
                                        <p:cTn dur="1000"/>
                                        <p:tgtEl>
                                          <p:spTgt spid="448"/>
                                        </p:tgtEl>
                                      </p:cBhvr>
                                    </p:animEffect>
                                  </p:childTnLst>
                                </p:cTn>
                              </p:par>
                              <p:par>
                                <p:cTn fill="hold" nodeType="withEffect" presetClass="entr" presetID="2" presetSubtype="4">
                                  <p:stCondLst>
                                    <p:cond delay="0"/>
                                  </p:stCondLst>
                                  <p:childTnLst>
                                    <p:set>
                                      <p:cBhvr>
                                        <p:cTn dur="1" fill="hold">
                                          <p:stCondLst>
                                            <p:cond delay="0"/>
                                          </p:stCondLst>
                                        </p:cTn>
                                        <p:tgtEl>
                                          <p:spTgt spid="449"/>
                                        </p:tgtEl>
                                        <p:attrNameLst>
                                          <p:attrName>style.visibility</p:attrName>
                                        </p:attrNameLst>
                                      </p:cBhvr>
                                      <p:to>
                                        <p:strVal val="visible"/>
                                      </p:to>
                                    </p:set>
                                    <p:anim calcmode="lin" valueType="num">
                                      <p:cBhvr additive="base">
                                        <p:cTn dur="1000"/>
                                        <p:tgtEl>
                                          <p:spTgt spid="44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0"/>
                                        </p:tgtEl>
                                        <p:attrNameLst>
                                          <p:attrName>style.visibility</p:attrName>
                                        </p:attrNameLst>
                                      </p:cBhvr>
                                      <p:to>
                                        <p:strVal val="visible"/>
                                      </p:to>
                                    </p:set>
                                    <p:animEffect filter="fade" transition="in">
                                      <p:cBhvr>
                                        <p:cTn dur="1000"/>
                                        <p:tgtEl>
                                          <p:spTgt spid="450"/>
                                        </p:tgtEl>
                                      </p:cBhvr>
                                    </p:animEffect>
                                  </p:childTnLst>
                                </p:cTn>
                              </p:par>
                              <p:par>
                                <p:cTn fill="hold" nodeType="withEffect" presetClass="entr" presetID="2" presetSubtype="4">
                                  <p:stCondLst>
                                    <p:cond delay="0"/>
                                  </p:stCondLst>
                                  <p:childTnLst>
                                    <p:set>
                                      <p:cBhvr>
                                        <p:cTn dur="1" fill="hold">
                                          <p:stCondLst>
                                            <p:cond delay="0"/>
                                          </p:stCondLst>
                                        </p:cTn>
                                        <p:tgtEl>
                                          <p:spTgt spid="451"/>
                                        </p:tgtEl>
                                        <p:attrNameLst>
                                          <p:attrName>style.visibility</p:attrName>
                                        </p:attrNameLst>
                                      </p:cBhvr>
                                      <p:to>
                                        <p:strVal val="visible"/>
                                      </p:to>
                                    </p:set>
                                    <p:anim calcmode="lin" valueType="num">
                                      <p:cBhvr additive="base">
                                        <p:cTn dur="1000"/>
                                        <p:tgtEl>
                                          <p:spTgt spid="45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47"/>
          <p:cNvSpPr/>
          <p:nvPr/>
        </p:nvSpPr>
        <p:spPr>
          <a:xfrm>
            <a:off x="147425" y="2507875"/>
            <a:ext cx="4320900" cy="465300"/>
          </a:xfrm>
          <a:prstGeom prst="rect">
            <a:avLst/>
          </a:prstGeom>
          <a:noFill/>
          <a:ln>
            <a:noFill/>
          </a:ln>
        </p:spPr>
        <p:txBody>
          <a:bodyPr anchorCtr="0" anchor="t" bIns="0" lIns="0" spcFirstLastPara="1" rIns="0" wrap="square" tIns="0">
            <a:noAutofit/>
          </a:bodyPr>
          <a:lstStyle/>
          <a:p>
            <a:pPr indent="0" lvl="0" marL="0" marR="0" rtl="0" algn="l">
              <a:lnSpc>
                <a:spcPct val="125396"/>
              </a:lnSpc>
              <a:spcBef>
                <a:spcPts val="0"/>
              </a:spcBef>
              <a:spcAft>
                <a:spcPts val="0"/>
              </a:spcAft>
              <a:buClr>
                <a:srgbClr val="443728"/>
              </a:buClr>
              <a:buSzPts val="2467"/>
              <a:buFont typeface="Crimson Pro"/>
              <a:buNone/>
            </a:pPr>
            <a:r>
              <a:rPr b="1" i="0" lang="en-GB" sz="1767" u="none" cap="none" strike="noStrike">
                <a:solidFill>
                  <a:srgbClr val="443728"/>
                </a:solidFill>
              </a:rPr>
              <a:t>Why </a:t>
            </a:r>
            <a:r>
              <a:rPr b="1" lang="en-GB" sz="1767">
                <a:solidFill>
                  <a:srgbClr val="443728"/>
                </a:solidFill>
              </a:rPr>
              <a:t>this not implemented?</a:t>
            </a:r>
            <a:endParaRPr i="0" sz="1767" u="none" cap="none" strike="noStrike">
              <a:solidFill>
                <a:srgbClr val="000000"/>
              </a:solidFill>
            </a:endParaRPr>
          </a:p>
        </p:txBody>
      </p:sp>
      <p:grpSp>
        <p:nvGrpSpPr>
          <p:cNvPr id="458" name="Google Shape;458;p47"/>
          <p:cNvGrpSpPr/>
          <p:nvPr/>
        </p:nvGrpSpPr>
        <p:grpSpPr>
          <a:xfrm>
            <a:off x="5841102" y="3005604"/>
            <a:ext cx="3253502" cy="1372207"/>
            <a:chOff x="61175" y="1122277"/>
            <a:chExt cx="2102289" cy="1903200"/>
          </a:xfrm>
        </p:grpSpPr>
        <p:sp>
          <p:nvSpPr>
            <p:cNvPr id="459" name="Google Shape;459;p47"/>
            <p:cNvSpPr/>
            <p:nvPr/>
          </p:nvSpPr>
          <p:spPr>
            <a:xfrm>
              <a:off x="79081" y="1122277"/>
              <a:ext cx="2065200" cy="1903200"/>
            </a:xfrm>
            <a:prstGeom prst="roundRect">
              <a:avLst>
                <a:gd fmla="val 5302" name="adj"/>
              </a:avLst>
            </a:prstGeom>
            <a:solidFill>
              <a:srgbClr val="FFFCFA"/>
            </a:solidFill>
            <a:ln cap="flat" cmpd="sng" w="17900">
              <a:solidFill>
                <a:srgbClr val="D1C8C6"/>
              </a:solidFill>
              <a:prstDash val="solid"/>
              <a:round/>
              <a:headEnd len="sm" w="sm" type="none"/>
              <a:tailEnd len="sm" w="sm" type="none"/>
            </a:ln>
          </p:spPr>
          <p:txBody>
            <a:bodyPr anchorCtr="0" anchor="ctr" bIns="71600" lIns="71600" spcFirstLastPara="1" rIns="71600" wrap="square" tIns="716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47"/>
            <p:cNvSpPr/>
            <p:nvPr/>
          </p:nvSpPr>
          <p:spPr>
            <a:xfrm>
              <a:off x="61175" y="1122277"/>
              <a:ext cx="71700" cy="1903200"/>
            </a:xfrm>
            <a:prstGeom prst="roundRect">
              <a:avLst>
                <a:gd fmla="val 74369" name="adj"/>
              </a:avLst>
            </a:prstGeom>
            <a:solidFill>
              <a:srgbClr val="835E54"/>
            </a:solidFill>
            <a:ln>
              <a:noFill/>
            </a:ln>
          </p:spPr>
          <p:txBody>
            <a:bodyPr anchorCtr="0" anchor="ctr" bIns="71600" lIns="71600" spcFirstLastPara="1" rIns="71600" wrap="square" tIns="716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47"/>
            <p:cNvSpPr/>
            <p:nvPr/>
          </p:nvSpPr>
          <p:spPr>
            <a:xfrm>
              <a:off x="190670" y="1228506"/>
              <a:ext cx="1585200" cy="232500"/>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443728"/>
                </a:buClr>
                <a:buSzPts val="1214"/>
                <a:buFont typeface="Crimson Pro"/>
                <a:buNone/>
              </a:pPr>
              <a:r>
                <a:rPr b="1" i="0" lang="en-GB" sz="1214" u="none" cap="none" strike="noStrike">
                  <a:solidFill>
                    <a:srgbClr val="443728"/>
                  </a:solidFill>
                </a:rPr>
                <a:t>Computational Cost</a:t>
              </a:r>
              <a:endParaRPr i="0" sz="1214" u="none" cap="none" strike="noStrike">
                <a:solidFill>
                  <a:srgbClr val="000000"/>
                </a:solidFill>
              </a:endParaRPr>
            </a:p>
          </p:txBody>
        </p:sp>
        <p:sp>
          <p:nvSpPr>
            <p:cNvPr id="462" name="Google Shape;462;p47"/>
            <p:cNvSpPr/>
            <p:nvPr/>
          </p:nvSpPr>
          <p:spPr>
            <a:xfrm>
              <a:off x="122264" y="1620641"/>
              <a:ext cx="2041200" cy="1087200"/>
            </a:xfrm>
            <a:prstGeom prst="rect">
              <a:avLst/>
            </a:prstGeom>
            <a:noFill/>
            <a:ln>
              <a:noFill/>
            </a:ln>
          </p:spPr>
          <p:txBody>
            <a:bodyPr anchorCtr="0" anchor="t" bIns="0" lIns="0" spcFirstLastPara="1" rIns="0" wrap="square" tIns="0">
              <a:noAutofit/>
            </a:bodyPr>
            <a:lstStyle/>
            <a:p>
              <a:pPr indent="-297117" lvl="0" marL="457200" rtl="0" algn="l">
                <a:lnSpc>
                  <a:spcPct val="136000"/>
                </a:lnSpc>
                <a:spcBef>
                  <a:spcPts val="0"/>
                </a:spcBef>
                <a:spcAft>
                  <a:spcPts val="0"/>
                </a:spcAft>
                <a:buClr>
                  <a:srgbClr val="443728"/>
                </a:buClr>
                <a:buSzPts val="1079"/>
                <a:buChar char="●"/>
              </a:pPr>
              <a:r>
                <a:rPr lang="en-GB" sz="1079">
                  <a:solidFill>
                    <a:srgbClr val="443728"/>
                  </a:solidFill>
                </a:rPr>
                <a:t>Requires repeated similarity calculations and iterative window refinement</a:t>
              </a:r>
              <a:endParaRPr sz="1079">
                <a:solidFill>
                  <a:srgbClr val="443728"/>
                </a:solidFill>
              </a:endParaRPr>
            </a:p>
            <a:p>
              <a:pPr indent="-297117" lvl="0" marL="457200" rtl="0" algn="l">
                <a:lnSpc>
                  <a:spcPct val="136000"/>
                </a:lnSpc>
                <a:spcBef>
                  <a:spcPts val="0"/>
                </a:spcBef>
                <a:spcAft>
                  <a:spcPts val="0"/>
                </a:spcAft>
                <a:buClr>
                  <a:srgbClr val="443728"/>
                </a:buClr>
                <a:buSzPts val="1079"/>
                <a:buChar char="●"/>
              </a:pPr>
              <a:r>
                <a:rPr lang="en-GB" sz="1079">
                  <a:solidFill>
                    <a:srgbClr val="443728"/>
                  </a:solidFill>
                </a:rPr>
                <a:t>Significantly increases processing time and resource usage</a:t>
              </a:r>
              <a:endParaRPr sz="1079">
                <a:solidFill>
                  <a:srgbClr val="443728"/>
                </a:solidFill>
              </a:endParaRPr>
            </a:p>
          </p:txBody>
        </p:sp>
      </p:grpSp>
      <p:grpSp>
        <p:nvGrpSpPr>
          <p:cNvPr id="463" name="Google Shape;463;p47"/>
          <p:cNvGrpSpPr/>
          <p:nvPr/>
        </p:nvGrpSpPr>
        <p:grpSpPr>
          <a:xfrm>
            <a:off x="49550" y="3005928"/>
            <a:ext cx="2925097" cy="1372202"/>
            <a:chOff x="61175" y="3131640"/>
            <a:chExt cx="2083106" cy="1698900"/>
          </a:xfrm>
        </p:grpSpPr>
        <p:sp>
          <p:nvSpPr>
            <p:cNvPr id="464" name="Google Shape;464;p47"/>
            <p:cNvSpPr/>
            <p:nvPr/>
          </p:nvSpPr>
          <p:spPr>
            <a:xfrm>
              <a:off x="79081" y="3131640"/>
              <a:ext cx="2065200" cy="1698900"/>
            </a:xfrm>
            <a:prstGeom prst="roundRect">
              <a:avLst>
                <a:gd fmla="val 5939" name="adj"/>
              </a:avLst>
            </a:prstGeom>
            <a:solidFill>
              <a:srgbClr val="FFFCFA"/>
            </a:solidFill>
            <a:ln cap="flat" cmpd="sng" w="17900">
              <a:solidFill>
                <a:srgbClr val="D1C8C6"/>
              </a:solidFill>
              <a:prstDash val="solid"/>
              <a:round/>
              <a:headEnd len="sm" w="sm" type="none"/>
              <a:tailEnd len="sm" w="sm" type="none"/>
            </a:ln>
          </p:spPr>
          <p:txBody>
            <a:bodyPr anchorCtr="0" anchor="ctr" bIns="71600" lIns="71600" spcFirstLastPara="1" rIns="71600" wrap="square" tIns="716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47"/>
            <p:cNvSpPr/>
            <p:nvPr/>
          </p:nvSpPr>
          <p:spPr>
            <a:xfrm>
              <a:off x="61175" y="3131640"/>
              <a:ext cx="71700" cy="1698900"/>
            </a:xfrm>
            <a:prstGeom prst="roundRect">
              <a:avLst>
                <a:gd fmla="val 74369" name="adj"/>
              </a:avLst>
            </a:prstGeom>
            <a:solidFill>
              <a:srgbClr val="835E54"/>
            </a:solidFill>
            <a:ln>
              <a:noFill/>
            </a:ln>
          </p:spPr>
          <p:txBody>
            <a:bodyPr anchorCtr="0" anchor="ctr" bIns="71600" lIns="71600" spcFirstLastPara="1" rIns="71600" wrap="square" tIns="716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47"/>
            <p:cNvSpPr/>
            <p:nvPr/>
          </p:nvSpPr>
          <p:spPr>
            <a:xfrm>
              <a:off x="202341" y="3216668"/>
              <a:ext cx="1585200" cy="232500"/>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443728"/>
                </a:buClr>
                <a:buSzPts val="1214"/>
                <a:buFont typeface="Crimson Pro"/>
                <a:buNone/>
              </a:pPr>
              <a:r>
                <a:rPr b="1" i="0" lang="en-GB" sz="1214" u="none" cap="none" strike="noStrike">
                  <a:solidFill>
                    <a:srgbClr val="443728"/>
                  </a:solidFill>
                </a:rPr>
                <a:t>Pipeline Complexity</a:t>
              </a:r>
              <a:endParaRPr i="0" sz="1214" u="none" cap="none" strike="noStrike">
                <a:solidFill>
                  <a:srgbClr val="000000"/>
                </a:solidFill>
              </a:endParaRPr>
            </a:p>
          </p:txBody>
        </p:sp>
        <p:sp>
          <p:nvSpPr>
            <p:cNvPr id="467" name="Google Shape;467;p47"/>
            <p:cNvSpPr/>
            <p:nvPr/>
          </p:nvSpPr>
          <p:spPr>
            <a:xfrm>
              <a:off x="138935" y="3516115"/>
              <a:ext cx="1945500" cy="1020300"/>
            </a:xfrm>
            <a:prstGeom prst="rect">
              <a:avLst/>
            </a:prstGeom>
            <a:noFill/>
            <a:ln>
              <a:noFill/>
            </a:ln>
          </p:spPr>
          <p:txBody>
            <a:bodyPr anchorCtr="0" anchor="t" bIns="0" lIns="0" spcFirstLastPara="1" rIns="0" wrap="square" tIns="0">
              <a:noAutofit/>
            </a:bodyPr>
            <a:lstStyle/>
            <a:p>
              <a:pPr indent="-297117" lvl="0" marL="457200" marR="0" rtl="0" algn="l">
                <a:lnSpc>
                  <a:spcPct val="136000"/>
                </a:lnSpc>
                <a:spcBef>
                  <a:spcPts val="0"/>
                </a:spcBef>
                <a:spcAft>
                  <a:spcPts val="0"/>
                </a:spcAft>
                <a:buClr>
                  <a:srgbClr val="443728"/>
                </a:buClr>
                <a:buSzPts val="1079"/>
                <a:buChar char="●"/>
              </a:pPr>
              <a:r>
                <a:rPr lang="en-GB" sz="1079">
                  <a:solidFill>
                    <a:srgbClr val="443728"/>
                  </a:solidFill>
                </a:rPr>
                <a:t>Adds extra steps for dynamic window adjustment</a:t>
              </a:r>
              <a:endParaRPr sz="1079">
                <a:solidFill>
                  <a:srgbClr val="443728"/>
                </a:solidFill>
              </a:endParaRPr>
            </a:p>
            <a:p>
              <a:pPr indent="-297117" lvl="0" marL="457200" marR="0" rtl="0" algn="l">
                <a:lnSpc>
                  <a:spcPct val="136000"/>
                </a:lnSpc>
                <a:spcBef>
                  <a:spcPts val="0"/>
                </a:spcBef>
                <a:spcAft>
                  <a:spcPts val="0"/>
                </a:spcAft>
                <a:buClr>
                  <a:srgbClr val="443728"/>
                </a:buClr>
                <a:buSzPts val="1079"/>
                <a:buChar char="●"/>
              </a:pPr>
              <a:r>
                <a:rPr lang="en-GB" sz="1079">
                  <a:solidFill>
                    <a:srgbClr val="443728"/>
                  </a:solidFill>
                </a:rPr>
                <a:t>Increases implementation and debugging complexity</a:t>
              </a:r>
              <a:endParaRPr sz="1079">
                <a:solidFill>
                  <a:srgbClr val="443728"/>
                </a:solidFill>
              </a:endParaRPr>
            </a:p>
          </p:txBody>
        </p:sp>
      </p:grpSp>
      <p:grpSp>
        <p:nvGrpSpPr>
          <p:cNvPr id="468" name="Google Shape;468;p47"/>
          <p:cNvGrpSpPr/>
          <p:nvPr/>
        </p:nvGrpSpPr>
        <p:grpSpPr>
          <a:xfrm>
            <a:off x="3088639" y="3005603"/>
            <a:ext cx="2638462" cy="1372202"/>
            <a:chOff x="2216702" y="3131640"/>
            <a:chExt cx="2083106" cy="1698900"/>
          </a:xfrm>
        </p:grpSpPr>
        <p:sp>
          <p:nvSpPr>
            <p:cNvPr id="469" name="Google Shape;469;p47"/>
            <p:cNvSpPr/>
            <p:nvPr/>
          </p:nvSpPr>
          <p:spPr>
            <a:xfrm>
              <a:off x="2234608" y="3131640"/>
              <a:ext cx="2065200" cy="1698900"/>
            </a:xfrm>
            <a:prstGeom prst="roundRect">
              <a:avLst>
                <a:gd fmla="val 5939" name="adj"/>
              </a:avLst>
            </a:prstGeom>
            <a:solidFill>
              <a:srgbClr val="FFFCFA"/>
            </a:solidFill>
            <a:ln cap="flat" cmpd="sng" w="17900">
              <a:solidFill>
                <a:srgbClr val="D1C8C6"/>
              </a:solidFill>
              <a:prstDash val="solid"/>
              <a:round/>
              <a:headEnd len="sm" w="sm" type="none"/>
              <a:tailEnd len="sm" w="sm" type="none"/>
            </a:ln>
          </p:spPr>
          <p:txBody>
            <a:bodyPr anchorCtr="0" anchor="ctr" bIns="71600" lIns="71600" spcFirstLastPara="1" rIns="71600" wrap="square" tIns="716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47"/>
            <p:cNvSpPr/>
            <p:nvPr/>
          </p:nvSpPr>
          <p:spPr>
            <a:xfrm>
              <a:off x="2216702" y="3131640"/>
              <a:ext cx="71700" cy="1698900"/>
            </a:xfrm>
            <a:prstGeom prst="roundRect">
              <a:avLst>
                <a:gd fmla="val 74369" name="adj"/>
              </a:avLst>
            </a:prstGeom>
            <a:solidFill>
              <a:srgbClr val="835E54"/>
            </a:solidFill>
            <a:ln>
              <a:noFill/>
            </a:ln>
          </p:spPr>
          <p:txBody>
            <a:bodyPr anchorCtr="0" anchor="ctr" bIns="71600" lIns="71600" spcFirstLastPara="1" rIns="71600" wrap="square" tIns="716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47"/>
            <p:cNvSpPr/>
            <p:nvPr/>
          </p:nvSpPr>
          <p:spPr>
            <a:xfrm>
              <a:off x="2389286" y="3216668"/>
              <a:ext cx="1585200" cy="232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1" i="0" lang="en-GB" sz="1200" u="none" cap="none" strike="noStrike">
                  <a:solidFill>
                    <a:schemeClr val="dk1"/>
                  </a:solidFill>
                </a:rPr>
                <a:t>Practical</a:t>
              </a:r>
              <a:r>
                <a:rPr b="1" i="0" lang="en-GB" sz="1000" u="none" cap="none" strike="noStrike">
                  <a:solidFill>
                    <a:schemeClr val="dk1"/>
                  </a:solidFill>
                </a:rPr>
                <a:t> </a:t>
              </a:r>
              <a:r>
                <a:rPr b="1" i="0" lang="en-GB" sz="1200" u="none" cap="none" strike="noStrike">
                  <a:solidFill>
                    <a:schemeClr val="dk1"/>
                  </a:solidFill>
                </a:rPr>
                <a:t>Limitations</a:t>
              </a:r>
              <a:endParaRPr b="1" i="0" sz="1200" u="none" cap="none" strike="noStrike">
                <a:solidFill>
                  <a:srgbClr val="443728"/>
                </a:solidFill>
              </a:endParaRPr>
            </a:p>
          </p:txBody>
        </p:sp>
        <p:sp>
          <p:nvSpPr>
            <p:cNvPr id="472" name="Google Shape;472;p47"/>
            <p:cNvSpPr/>
            <p:nvPr/>
          </p:nvSpPr>
          <p:spPr>
            <a:xfrm>
              <a:off x="2288410" y="3547165"/>
              <a:ext cx="1941300" cy="1020300"/>
            </a:xfrm>
            <a:prstGeom prst="rect">
              <a:avLst/>
            </a:prstGeom>
            <a:noFill/>
            <a:ln>
              <a:noFill/>
            </a:ln>
          </p:spPr>
          <p:txBody>
            <a:bodyPr anchorCtr="0" anchor="t" bIns="0" lIns="0" spcFirstLastPara="1" rIns="0" wrap="square" tIns="0">
              <a:noAutofit/>
            </a:bodyPr>
            <a:lstStyle/>
            <a:p>
              <a:pPr indent="-297117" lvl="0" marL="457200" marR="0" rtl="0" algn="l">
                <a:lnSpc>
                  <a:spcPct val="136000"/>
                </a:lnSpc>
                <a:spcBef>
                  <a:spcPts val="0"/>
                </a:spcBef>
                <a:spcAft>
                  <a:spcPts val="0"/>
                </a:spcAft>
                <a:buClr>
                  <a:srgbClr val="443728"/>
                </a:buClr>
                <a:buSzPts val="1079"/>
                <a:buChar char="●"/>
              </a:pPr>
              <a:r>
                <a:rPr lang="en-GB" sz="1079">
                  <a:solidFill>
                    <a:srgbClr val="443728"/>
                  </a:solidFill>
                </a:rPr>
                <a:t>Hard to integrate into scalable, real-time systems</a:t>
              </a:r>
              <a:endParaRPr sz="1079">
                <a:solidFill>
                  <a:srgbClr val="443728"/>
                </a:solidFill>
              </a:endParaRPr>
            </a:p>
            <a:p>
              <a:pPr indent="-297117" lvl="0" marL="457200" marR="0" rtl="0" algn="l">
                <a:lnSpc>
                  <a:spcPct val="136000"/>
                </a:lnSpc>
                <a:spcBef>
                  <a:spcPts val="0"/>
                </a:spcBef>
                <a:spcAft>
                  <a:spcPts val="0"/>
                </a:spcAft>
                <a:buClr>
                  <a:srgbClr val="443728"/>
                </a:buClr>
                <a:buSzPts val="1079"/>
                <a:buChar char="●"/>
              </a:pPr>
              <a:r>
                <a:rPr lang="en-GB" sz="1079">
                  <a:solidFill>
                    <a:srgbClr val="443728"/>
                  </a:solidFill>
                </a:rPr>
                <a:t>Not suitable for continuous monitoring pipelines</a:t>
              </a:r>
              <a:endParaRPr sz="1079">
                <a:solidFill>
                  <a:srgbClr val="443728"/>
                </a:solidFill>
              </a:endParaRPr>
            </a:p>
          </p:txBody>
        </p:sp>
      </p:grpSp>
      <p:sp>
        <p:nvSpPr>
          <p:cNvPr id="473" name="Google Shape;473;p47"/>
          <p:cNvSpPr/>
          <p:nvPr/>
        </p:nvSpPr>
        <p:spPr>
          <a:xfrm>
            <a:off x="155100" y="995675"/>
            <a:ext cx="8312700" cy="950100"/>
          </a:xfrm>
          <a:prstGeom prst="roundRect">
            <a:avLst>
              <a:gd fmla="val 5913" name="adj"/>
            </a:avLst>
          </a:prstGeom>
          <a:solidFill>
            <a:srgbClr val="EBE2E0"/>
          </a:solidFill>
          <a:ln cap="flat" cmpd="sng" w="9525">
            <a:solidFill>
              <a:srgbClr val="D1C8C6"/>
            </a:solidFill>
            <a:prstDash val="solid"/>
            <a:round/>
            <a:headEnd len="sm" w="sm" type="none"/>
            <a:tailEnd len="sm" w="sm" type="none"/>
          </a:ln>
        </p:spPr>
        <p:txBody>
          <a:bodyPr anchorCtr="0" anchor="ctr" bIns="63675" lIns="63675" spcFirstLastPara="1" rIns="63675" wrap="square" tIns="63675">
            <a:noAutofit/>
          </a:bodyPr>
          <a:lstStyle/>
          <a:p>
            <a:pPr indent="0" lvl="0" marL="0" marR="0" rtl="0" algn="l">
              <a:lnSpc>
                <a:spcPct val="100000"/>
              </a:lnSpc>
              <a:spcBef>
                <a:spcPts val="0"/>
              </a:spcBef>
              <a:spcAft>
                <a:spcPts val="0"/>
              </a:spcAft>
              <a:buClr>
                <a:srgbClr val="000000"/>
              </a:buClr>
              <a:buSzPts val="1400"/>
              <a:buFont typeface="Arial"/>
              <a:buNone/>
            </a:pPr>
            <a:r>
              <a:rPr lang="en-GB"/>
              <a:t>Instead of using a one-size-fits-all  topic’s window, we should discover the optimal window size for each topic by analyzing semantic drift patterns over historical data.</a:t>
            </a:r>
            <a:endParaRPr b="0" i="0" sz="1400" u="none" cap="none" strike="noStrike">
              <a:solidFill>
                <a:srgbClr val="000000"/>
              </a:solidFill>
              <a:latin typeface="Arial"/>
              <a:ea typeface="Arial"/>
              <a:cs typeface="Arial"/>
              <a:sym typeface="Arial"/>
            </a:endParaRPr>
          </a:p>
        </p:txBody>
      </p:sp>
      <p:sp>
        <p:nvSpPr>
          <p:cNvPr id="474" name="Google Shape;474;p47"/>
          <p:cNvSpPr/>
          <p:nvPr/>
        </p:nvSpPr>
        <p:spPr>
          <a:xfrm>
            <a:off x="155100" y="433025"/>
            <a:ext cx="5487300" cy="465300"/>
          </a:xfrm>
          <a:prstGeom prst="rect">
            <a:avLst/>
          </a:prstGeom>
          <a:noFill/>
          <a:ln>
            <a:noFill/>
          </a:ln>
        </p:spPr>
        <p:txBody>
          <a:bodyPr anchorCtr="0" anchor="t" bIns="0" lIns="0" spcFirstLastPara="1" rIns="0" wrap="square" tIns="0">
            <a:noAutofit/>
          </a:bodyPr>
          <a:lstStyle/>
          <a:p>
            <a:pPr indent="0" lvl="0" marL="0" marR="0" rtl="0" algn="l">
              <a:lnSpc>
                <a:spcPct val="125396"/>
              </a:lnSpc>
              <a:spcBef>
                <a:spcPts val="0"/>
              </a:spcBef>
              <a:spcAft>
                <a:spcPts val="0"/>
              </a:spcAft>
              <a:buClr>
                <a:srgbClr val="443728"/>
              </a:buClr>
              <a:buSzPts val="2467"/>
              <a:buFont typeface="Crimson Pro"/>
              <a:buNone/>
            </a:pPr>
            <a:r>
              <a:rPr b="1" lang="en-GB" sz="2500">
                <a:solidFill>
                  <a:srgbClr val="443728"/>
                </a:solidFill>
              </a:rPr>
              <a:t>Approach 3 (Analytics based)</a:t>
            </a:r>
            <a:endParaRPr i="0" sz="2500" u="none" cap="none" strike="noStrike">
              <a:solidFill>
                <a:srgbClr val="000000"/>
              </a:solidFill>
            </a:endParaRPr>
          </a:p>
        </p:txBody>
      </p:sp>
      <p:sp>
        <p:nvSpPr>
          <p:cNvPr id="475" name="Google Shape;475;p47"/>
          <p:cNvSpPr/>
          <p:nvPr/>
        </p:nvSpPr>
        <p:spPr>
          <a:xfrm>
            <a:off x="81925" y="74650"/>
            <a:ext cx="1377000" cy="288600"/>
          </a:xfrm>
          <a:prstGeom prst="roundRect">
            <a:avLst>
              <a:gd fmla="val 18064" name="adj"/>
            </a:avLst>
          </a:prstGeom>
          <a:noFill/>
          <a:ln cap="flat" cmpd="sng" w="9525">
            <a:solidFill>
              <a:srgbClr val="835E5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47"/>
          <p:cNvSpPr/>
          <p:nvPr/>
        </p:nvSpPr>
        <p:spPr>
          <a:xfrm>
            <a:off x="225618" y="127293"/>
            <a:ext cx="1089600" cy="183300"/>
          </a:xfrm>
          <a:prstGeom prst="rect">
            <a:avLst/>
          </a:prstGeom>
          <a:noFill/>
          <a:ln>
            <a:noFill/>
          </a:ln>
        </p:spPr>
        <p:txBody>
          <a:bodyPr anchorCtr="0" anchor="t" bIns="0" lIns="0" spcFirstLastPara="1" rIns="0" wrap="square" tIns="0">
            <a:noAutofit/>
          </a:bodyPr>
          <a:lstStyle/>
          <a:p>
            <a:pPr indent="0" lvl="0" marL="0" marR="0" rtl="0" algn="l">
              <a:lnSpc>
                <a:spcPct val="145833"/>
              </a:lnSpc>
              <a:spcBef>
                <a:spcPts val="0"/>
              </a:spcBef>
              <a:spcAft>
                <a:spcPts val="0"/>
              </a:spcAft>
              <a:buClr>
                <a:srgbClr val="835E54"/>
              </a:buClr>
              <a:buSzPts val="1200"/>
              <a:buFont typeface="Open Sans"/>
              <a:buNone/>
            </a:pPr>
            <a:r>
              <a:rPr b="0" i="0" lang="en-GB" sz="1200" u="none" cap="none" strike="noStrike">
                <a:solidFill>
                  <a:srgbClr val="835E54"/>
                </a:solidFill>
                <a:latin typeface="Open Sans"/>
                <a:ea typeface="Open Sans"/>
                <a:cs typeface="Open Sans"/>
                <a:sym typeface="Open Sans"/>
              </a:rPr>
              <a:t>APPROACH </a:t>
            </a:r>
            <a:r>
              <a:rPr lang="en-GB" sz="1200">
                <a:solidFill>
                  <a:srgbClr val="835E54"/>
                </a:solidFill>
                <a:latin typeface="Open Sans"/>
                <a:ea typeface="Open Sans"/>
                <a:cs typeface="Open Sans"/>
                <a:sym typeface="Open Sans"/>
              </a:rPr>
              <a:t>3</a:t>
            </a:r>
            <a:endParaRPr sz="1200">
              <a:solidFill>
                <a:srgbClr val="835E54"/>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2">
                                  <p:stCondLst>
                                    <p:cond delay="0"/>
                                  </p:stCondLst>
                                  <p:childTnLst>
                                    <p:set>
                                      <p:cBhvr>
                                        <p:cTn dur="1" fill="hold">
                                          <p:stCondLst>
                                            <p:cond delay="0"/>
                                          </p:stCondLst>
                                        </p:cTn>
                                        <p:tgtEl>
                                          <p:spTgt spid="473"/>
                                        </p:tgtEl>
                                        <p:attrNameLst>
                                          <p:attrName>style.visibility</p:attrName>
                                        </p:attrNameLst>
                                      </p:cBhvr>
                                      <p:to>
                                        <p:strVal val="visible"/>
                                      </p:to>
                                    </p:set>
                                    <p:anim calcmode="lin" valueType="num">
                                      <p:cBhvr additive="base">
                                        <p:cTn dur="1000"/>
                                        <p:tgtEl>
                                          <p:spTgt spid="47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7"/>
                                        </p:tgtEl>
                                        <p:attrNameLst>
                                          <p:attrName>style.visibility</p:attrName>
                                        </p:attrNameLst>
                                      </p:cBhvr>
                                      <p:to>
                                        <p:strVal val="visible"/>
                                      </p:to>
                                    </p:set>
                                    <p:animEffect filter="fade" transition="in">
                                      <p:cBhvr>
                                        <p:cTn dur="1000"/>
                                        <p:tgtEl>
                                          <p:spTgt spid="457"/>
                                        </p:tgtEl>
                                      </p:cBhvr>
                                    </p:animEffect>
                                  </p:childTnLst>
                                </p:cTn>
                              </p:par>
                            </p:childTnLst>
                          </p:cTn>
                        </p:par>
                        <p:par>
                          <p:cTn fill="hold">
                            <p:stCondLst>
                              <p:cond delay="1000"/>
                            </p:stCondLst>
                            <p:childTnLst>
                              <p:par>
                                <p:cTn fill="hold" nodeType="afterEffect" presetClass="entr" presetID="2" presetSubtype="4">
                                  <p:stCondLst>
                                    <p:cond delay="0"/>
                                  </p:stCondLst>
                                  <p:childTnLst>
                                    <p:set>
                                      <p:cBhvr>
                                        <p:cTn dur="1" fill="hold">
                                          <p:stCondLst>
                                            <p:cond delay="0"/>
                                          </p:stCondLst>
                                        </p:cTn>
                                        <p:tgtEl>
                                          <p:spTgt spid="463"/>
                                        </p:tgtEl>
                                        <p:attrNameLst>
                                          <p:attrName>style.visibility</p:attrName>
                                        </p:attrNameLst>
                                      </p:cBhvr>
                                      <p:to>
                                        <p:strVal val="visible"/>
                                      </p:to>
                                    </p:set>
                                    <p:anim calcmode="lin" valueType="num">
                                      <p:cBhvr additive="base">
                                        <p:cTn dur="1000"/>
                                        <p:tgtEl>
                                          <p:spTgt spid="46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8"/>
                                        </p:tgtEl>
                                        <p:attrNameLst>
                                          <p:attrName>style.visibility</p:attrName>
                                        </p:attrNameLst>
                                      </p:cBhvr>
                                      <p:to>
                                        <p:strVal val="visible"/>
                                      </p:to>
                                    </p:set>
                                    <p:anim calcmode="lin" valueType="num">
                                      <p:cBhvr additive="base">
                                        <p:cTn dur="1000"/>
                                        <p:tgtEl>
                                          <p:spTgt spid="46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58"/>
                                        </p:tgtEl>
                                        <p:attrNameLst>
                                          <p:attrName>style.visibility</p:attrName>
                                        </p:attrNameLst>
                                      </p:cBhvr>
                                      <p:to>
                                        <p:strVal val="visible"/>
                                      </p:to>
                                    </p:set>
                                    <p:anim calcmode="lin" valueType="num">
                                      <p:cBhvr additive="base">
                                        <p:cTn dur="1000"/>
                                        <p:tgtEl>
                                          <p:spTgt spid="45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48"/>
          <p:cNvSpPr/>
          <p:nvPr/>
        </p:nvSpPr>
        <p:spPr>
          <a:xfrm>
            <a:off x="677625" y="384879"/>
            <a:ext cx="4539000" cy="398100"/>
          </a:xfrm>
          <a:prstGeom prst="rect">
            <a:avLst/>
          </a:prstGeom>
          <a:noFill/>
          <a:ln>
            <a:noFill/>
          </a:ln>
        </p:spPr>
        <p:txBody>
          <a:bodyPr anchorCtr="0" anchor="t" bIns="0" lIns="0" spcFirstLastPara="1" rIns="0" wrap="square" tIns="0">
            <a:noAutofit/>
          </a:bodyPr>
          <a:lstStyle/>
          <a:p>
            <a:pPr indent="0" lvl="0" marL="0" marR="0" rtl="0" algn="l">
              <a:lnSpc>
                <a:spcPct val="125333"/>
              </a:lnSpc>
              <a:spcBef>
                <a:spcPts val="0"/>
              </a:spcBef>
              <a:spcAft>
                <a:spcPts val="0"/>
              </a:spcAft>
              <a:buClr>
                <a:srgbClr val="443728"/>
              </a:buClr>
              <a:buSzPts val="3750"/>
              <a:buFont typeface="Crimson Pro"/>
              <a:buNone/>
            </a:pPr>
            <a:r>
              <a:rPr b="1" lang="en-GB" sz="2200">
                <a:solidFill>
                  <a:srgbClr val="443728"/>
                </a:solidFill>
              </a:rPr>
              <a:t>Dynamic</a:t>
            </a:r>
            <a:r>
              <a:rPr b="1" lang="en-GB" sz="2200">
                <a:solidFill>
                  <a:srgbClr val="443728"/>
                </a:solidFill>
              </a:rPr>
              <a:t> Grouping</a:t>
            </a:r>
            <a:endParaRPr b="1" i="0" sz="2200" u="none" cap="none" strike="noStrike">
              <a:solidFill>
                <a:srgbClr val="443728"/>
              </a:solidFill>
            </a:endParaRPr>
          </a:p>
        </p:txBody>
      </p:sp>
      <p:sp>
        <p:nvSpPr>
          <p:cNvPr id="482" name="Google Shape;482;p48"/>
          <p:cNvSpPr/>
          <p:nvPr/>
        </p:nvSpPr>
        <p:spPr>
          <a:xfrm>
            <a:off x="81925" y="74650"/>
            <a:ext cx="1377000" cy="288600"/>
          </a:xfrm>
          <a:prstGeom prst="roundRect">
            <a:avLst>
              <a:gd fmla="val 18064" name="adj"/>
            </a:avLst>
          </a:prstGeom>
          <a:noFill/>
          <a:ln cap="flat" cmpd="sng" w="9525">
            <a:solidFill>
              <a:srgbClr val="835E5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300" u="none" cap="none" strike="noStrike">
              <a:solidFill>
                <a:srgbClr val="000000"/>
              </a:solidFill>
            </a:endParaRPr>
          </a:p>
        </p:txBody>
      </p:sp>
      <p:sp>
        <p:nvSpPr>
          <p:cNvPr id="483" name="Google Shape;483;p48"/>
          <p:cNvSpPr/>
          <p:nvPr/>
        </p:nvSpPr>
        <p:spPr>
          <a:xfrm>
            <a:off x="225618" y="127293"/>
            <a:ext cx="1089600" cy="183300"/>
          </a:xfrm>
          <a:prstGeom prst="rect">
            <a:avLst/>
          </a:prstGeom>
          <a:noFill/>
          <a:ln>
            <a:noFill/>
          </a:ln>
        </p:spPr>
        <p:txBody>
          <a:bodyPr anchorCtr="0" anchor="t" bIns="0" lIns="0" spcFirstLastPara="1" rIns="0" wrap="square" tIns="0">
            <a:noAutofit/>
          </a:bodyPr>
          <a:lstStyle/>
          <a:p>
            <a:pPr indent="0" lvl="0" marL="0" marR="0" rtl="0" algn="l">
              <a:lnSpc>
                <a:spcPct val="145833"/>
              </a:lnSpc>
              <a:spcBef>
                <a:spcPts val="0"/>
              </a:spcBef>
              <a:spcAft>
                <a:spcPts val="0"/>
              </a:spcAft>
              <a:buClr>
                <a:srgbClr val="835E54"/>
              </a:buClr>
              <a:buSzPts val="1200"/>
              <a:buFont typeface="Open Sans"/>
              <a:buNone/>
            </a:pPr>
            <a:r>
              <a:rPr b="0" i="0" lang="en-GB" sz="1200" u="none" cap="none" strike="noStrike">
                <a:solidFill>
                  <a:srgbClr val="835E54"/>
                </a:solidFill>
                <a:latin typeface="Open Sans"/>
                <a:ea typeface="Open Sans"/>
                <a:cs typeface="Open Sans"/>
                <a:sym typeface="Open Sans"/>
              </a:rPr>
              <a:t>APPROACH 4</a:t>
            </a:r>
            <a:endParaRPr b="0" i="0" sz="1200" u="none" cap="none" strike="noStrike">
              <a:solidFill>
                <a:srgbClr val="000000"/>
              </a:solidFill>
              <a:latin typeface="Arial"/>
              <a:ea typeface="Arial"/>
              <a:cs typeface="Arial"/>
              <a:sym typeface="Arial"/>
            </a:endParaRPr>
          </a:p>
        </p:txBody>
      </p:sp>
      <p:sp>
        <p:nvSpPr>
          <p:cNvPr id="484" name="Google Shape;484;p48"/>
          <p:cNvSpPr/>
          <p:nvPr/>
        </p:nvSpPr>
        <p:spPr>
          <a:xfrm>
            <a:off x="106900" y="853650"/>
            <a:ext cx="8930100" cy="3941100"/>
          </a:xfrm>
          <a:prstGeom prst="roundRect">
            <a:avLst>
              <a:gd fmla="val 4702" name="adj"/>
            </a:avLst>
          </a:prstGeom>
          <a:solidFill>
            <a:srgbClr val="EBE2E0"/>
          </a:solidFill>
          <a:ln cap="flat" cmpd="sng" w="9525">
            <a:solidFill>
              <a:srgbClr val="D1C8C6"/>
            </a:solidFill>
            <a:prstDash val="solid"/>
            <a:round/>
            <a:headEnd len="sm" w="sm" type="none"/>
            <a:tailEnd len="sm" w="sm" type="none"/>
          </a:ln>
        </p:spPr>
        <p:txBody>
          <a:bodyPr anchorCtr="0" anchor="ctr" bIns="59625" lIns="59625" spcFirstLastPara="1" rIns="59625" wrap="square" tIns="59625">
            <a:noAutofit/>
          </a:bodyPr>
          <a:lstStyle/>
          <a:p>
            <a:pPr indent="0" lvl="0" marL="0" marR="0" rtl="0" algn="l">
              <a:lnSpc>
                <a:spcPct val="100000"/>
              </a:lnSpc>
              <a:spcBef>
                <a:spcPts val="0"/>
              </a:spcBef>
              <a:spcAft>
                <a:spcPts val="0"/>
              </a:spcAft>
              <a:buClr>
                <a:srgbClr val="000000"/>
              </a:buClr>
              <a:buSzPts val="1400"/>
              <a:buFont typeface="Arial"/>
              <a:buNone/>
            </a:pPr>
            <a:r>
              <a:t/>
            </a:r>
            <a:endParaRPr i="0" sz="1300" u="none" cap="none" strike="noStrike">
              <a:solidFill>
                <a:srgbClr val="000000"/>
              </a:solidFill>
            </a:endParaRPr>
          </a:p>
        </p:txBody>
      </p:sp>
      <p:sp>
        <p:nvSpPr>
          <p:cNvPr id="485" name="Google Shape;485;p48"/>
          <p:cNvSpPr/>
          <p:nvPr/>
        </p:nvSpPr>
        <p:spPr>
          <a:xfrm>
            <a:off x="266495" y="921350"/>
            <a:ext cx="3222617" cy="1989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443728"/>
              </a:buClr>
              <a:buSzPts val="1247"/>
              <a:buFont typeface="Crimson Pro"/>
              <a:buNone/>
            </a:pPr>
            <a:r>
              <a:rPr b="1" i="0" lang="en-GB" sz="1300" u="none" cap="none" strike="noStrike">
                <a:solidFill>
                  <a:srgbClr val="443728"/>
                </a:solidFill>
              </a:rPr>
              <a:t>Semantic-Driven Boundaries</a:t>
            </a:r>
            <a:endParaRPr i="0" sz="1300" u="none" cap="none" strike="noStrike">
              <a:solidFill>
                <a:srgbClr val="000000"/>
              </a:solidFill>
            </a:endParaRPr>
          </a:p>
        </p:txBody>
      </p:sp>
      <p:sp>
        <p:nvSpPr>
          <p:cNvPr id="486" name="Google Shape;486;p48"/>
          <p:cNvSpPr/>
          <p:nvPr/>
        </p:nvSpPr>
        <p:spPr>
          <a:xfrm>
            <a:off x="266500" y="1203350"/>
            <a:ext cx="4252533" cy="504900"/>
          </a:xfrm>
          <a:prstGeom prst="rect">
            <a:avLst/>
          </a:prstGeom>
          <a:noFill/>
          <a:ln>
            <a:noFill/>
          </a:ln>
        </p:spPr>
        <p:txBody>
          <a:bodyPr anchorCtr="0" anchor="t" bIns="0" lIns="0" spcFirstLastPara="1" rIns="0" wrap="square" tIns="0">
            <a:noAutofit/>
          </a:bodyPr>
          <a:lstStyle/>
          <a:p>
            <a:pPr indent="-311150" lvl="0" marL="457200" marR="0" rtl="0" algn="l">
              <a:lnSpc>
                <a:spcPct val="130434"/>
              </a:lnSpc>
              <a:spcBef>
                <a:spcPts val="0"/>
              </a:spcBef>
              <a:spcAft>
                <a:spcPts val="0"/>
              </a:spcAft>
              <a:buClr>
                <a:schemeClr val="dk1"/>
              </a:buClr>
              <a:buSzPts val="1300"/>
              <a:buChar char="●"/>
            </a:pPr>
            <a:r>
              <a:rPr lang="en-GB" sz="1300">
                <a:solidFill>
                  <a:schemeClr val="dk1"/>
                </a:solidFill>
              </a:rPr>
              <a:t>Segmentation is based on embedding similarity to detect true semantic changes instead of fixed heuristics.</a:t>
            </a:r>
            <a:endParaRPr i="0" sz="1300" u="none" cap="none" strike="noStrike">
              <a:solidFill>
                <a:schemeClr val="dk1"/>
              </a:solidFill>
            </a:endParaRPr>
          </a:p>
        </p:txBody>
      </p:sp>
      <p:sp>
        <p:nvSpPr>
          <p:cNvPr id="487" name="Google Shape;487;p48"/>
          <p:cNvSpPr/>
          <p:nvPr/>
        </p:nvSpPr>
        <p:spPr>
          <a:xfrm>
            <a:off x="225616" y="2178319"/>
            <a:ext cx="2485446" cy="19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1" i="0" lang="en-GB" sz="1300" u="none" cap="none" strike="noStrike">
                <a:solidFill>
                  <a:schemeClr val="dk1"/>
                </a:solidFill>
              </a:rPr>
              <a:t>Fully Data-Driven</a:t>
            </a:r>
            <a:endParaRPr b="1" i="0" sz="1300" u="none" cap="none" strike="noStrike">
              <a:solidFill>
                <a:schemeClr val="dk1"/>
              </a:solidFill>
            </a:endParaRPr>
          </a:p>
        </p:txBody>
      </p:sp>
      <p:sp>
        <p:nvSpPr>
          <p:cNvPr id="488" name="Google Shape;488;p48"/>
          <p:cNvSpPr/>
          <p:nvPr/>
        </p:nvSpPr>
        <p:spPr>
          <a:xfrm>
            <a:off x="225624" y="2460288"/>
            <a:ext cx="4147719" cy="504900"/>
          </a:xfrm>
          <a:prstGeom prst="rect">
            <a:avLst/>
          </a:prstGeom>
          <a:noFill/>
          <a:ln>
            <a:noFill/>
          </a:ln>
        </p:spPr>
        <p:txBody>
          <a:bodyPr anchorCtr="0" anchor="t" bIns="0" lIns="0" spcFirstLastPara="1" rIns="0" wrap="square" tIns="0">
            <a:noAutofit/>
          </a:bodyPr>
          <a:lstStyle/>
          <a:p>
            <a:pPr indent="-311150" lvl="0" marL="457200" marR="0" rtl="0" algn="l">
              <a:lnSpc>
                <a:spcPct val="130434"/>
              </a:lnSpc>
              <a:spcBef>
                <a:spcPts val="0"/>
              </a:spcBef>
              <a:spcAft>
                <a:spcPts val="0"/>
              </a:spcAft>
              <a:buClr>
                <a:schemeClr val="dk1"/>
              </a:buClr>
              <a:buSzPts val="1300"/>
              <a:buChar char="●"/>
            </a:pPr>
            <a:r>
              <a:rPr lang="en-GB" sz="1300">
                <a:solidFill>
                  <a:schemeClr val="dk1"/>
                </a:solidFill>
              </a:rPr>
              <a:t>Learns segmentation directly from data without manual rules, enabling better generalization across domains.</a:t>
            </a:r>
            <a:endParaRPr i="0" sz="1300" u="none" cap="none" strike="noStrike">
              <a:solidFill>
                <a:schemeClr val="dk1"/>
              </a:solidFill>
            </a:endParaRPr>
          </a:p>
        </p:txBody>
      </p:sp>
      <p:sp>
        <p:nvSpPr>
          <p:cNvPr id="489" name="Google Shape;489;p48"/>
          <p:cNvSpPr/>
          <p:nvPr/>
        </p:nvSpPr>
        <p:spPr>
          <a:xfrm>
            <a:off x="276516" y="3385663"/>
            <a:ext cx="2247300" cy="19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1" i="0" lang="en-GB" sz="1300" u="none" cap="none" strike="noStrike">
                <a:solidFill>
                  <a:schemeClr val="dk1"/>
                </a:solidFill>
              </a:rPr>
              <a:t>Adaptive Segments</a:t>
            </a:r>
            <a:endParaRPr b="1" i="0" sz="1300" u="none" cap="none" strike="noStrike">
              <a:solidFill>
                <a:srgbClr val="443728"/>
              </a:solidFill>
            </a:endParaRPr>
          </a:p>
        </p:txBody>
      </p:sp>
      <p:sp>
        <p:nvSpPr>
          <p:cNvPr id="490" name="Google Shape;490;p48"/>
          <p:cNvSpPr/>
          <p:nvPr/>
        </p:nvSpPr>
        <p:spPr>
          <a:xfrm>
            <a:off x="266493" y="3687714"/>
            <a:ext cx="3895200" cy="504900"/>
          </a:xfrm>
          <a:prstGeom prst="rect">
            <a:avLst/>
          </a:prstGeom>
          <a:noFill/>
          <a:ln>
            <a:noFill/>
          </a:ln>
        </p:spPr>
        <p:txBody>
          <a:bodyPr anchorCtr="0" anchor="t" bIns="0" lIns="0" spcFirstLastPara="1" rIns="0" wrap="square" tIns="0">
            <a:noAutofit/>
          </a:bodyPr>
          <a:lstStyle/>
          <a:p>
            <a:pPr indent="-311150" lvl="0" marL="457200" marR="0" rtl="0" algn="l">
              <a:lnSpc>
                <a:spcPct val="130434"/>
              </a:lnSpc>
              <a:spcBef>
                <a:spcPts val="0"/>
              </a:spcBef>
              <a:spcAft>
                <a:spcPts val="0"/>
              </a:spcAft>
              <a:buClr>
                <a:schemeClr val="dk1"/>
              </a:buClr>
              <a:buSzPts val="1300"/>
              <a:buChar char="●"/>
            </a:pPr>
            <a:r>
              <a:rPr lang="en-GB" sz="1300">
                <a:solidFill>
                  <a:schemeClr val="dk1"/>
                </a:solidFill>
              </a:rPr>
              <a:t>Segment sizes adjust dynamically based on semantic continuity, capturing both gradual and abrupt changes.</a:t>
            </a:r>
            <a:endParaRPr i="0" sz="1300" u="none" cap="none" strike="noStrike">
              <a:solidFill>
                <a:schemeClr val="dk1"/>
              </a:solidFill>
            </a:endParaRPr>
          </a:p>
        </p:txBody>
      </p:sp>
      <p:sp>
        <p:nvSpPr>
          <p:cNvPr id="491" name="Google Shape;491;p48"/>
          <p:cNvSpPr/>
          <p:nvPr/>
        </p:nvSpPr>
        <p:spPr>
          <a:xfrm>
            <a:off x="4571992" y="853650"/>
            <a:ext cx="88200" cy="3941100"/>
          </a:xfrm>
          <a:prstGeom prst="roundRect">
            <a:avLst>
              <a:gd fmla="val 0" name="adj"/>
            </a:avLst>
          </a:prstGeom>
          <a:solidFill>
            <a:srgbClr val="835E54"/>
          </a:solidFill>
          <a:ln>
            <a:noFill/>
          </a:ln>
        </p:spPr>
        <p:txBody>
          <a:bodyPr anchorCtr="0" anchor="ctr" bIns="64050" lIns="64050" spcFirstLastPara="1" rIns="64050" wrap="square" tIns="64050">
            <a:noAutofit/>
          </a:bodyPr>
          <a:lstStyle/>
          <a:p>
            <a:pPr indent="0" lvl="0" marL="0" marR="0" rtl="0" algn="l">
              <a:lnSpc>
                <a:spcPct val="100000"/>
              </a:lnSpc>
              <a:spcBef>
                <a:spcPts val="0"/>
              </a:spcBef>
              <a:spcAft>
                <a:spcPts val="0"/>
              </a:spcAft>
              <a:buClr>
                <a:srgbClr val="000000"/>
              </a:buClr>
              <a:buSzPts val="1400"/>
              <a:buFont typeface="Arial"/>
              <a:buNone/>
            </a:pPr>
            <a:r>
              <a:t/>
            </a:r>
            <a:endParaRPr i="0" sz="1300" u="none" cap="none" strike="noStrike">
              <a:solidFill>
                <a:srgbClr val="000000"/>
              </a:solidFill>
            </a:endParaRPr>
          </a:p>
        </p:txBody>
      </p:sp>
      <p:sp>
        <p:nvSpPr>
          <p:cNvPr id="492" name="Google Shape;492;p48"/>
          <p:cNvSpPr/>
          <p:nvPr/>
        </p:nvSpPr>
        <p:spPr>
          <a:xfrm>
            <a:off x="4660229" y="921338"/>
            <a:ext cx="3183600" cy="19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1" i="0" lang="en-GB" sz="1300" u="none" cap="none" strike="noStrike">
                <a:solidFill>
                  <a:schemeClr val="dk1"/>
                </a:solidFill>
              </a:rPr>
              <a:t>Robust to Noise</a:t>
            </a:r>
            <a:endParaRPr b="1" i="0" sz="1300" u="none" cap="none" strike="noStrike">
              <a:solidFill>
                <a:srgbClr val="443728"/>
              </a:solidFill>
            </a:endParaRPr>
          </a:p>
        </p:txBody>
      </p:sp>
      <p:sp>
        <p:nvSpPr>
          <p:cNvPr id="493" name="Google Shape;493;p48"/>
          <p:cNvSpPr/>
          <p:nvPr/>
        </p:nvSpPr>
        <p:spPr>
          <a:xfrm>
            <a:off x="4660197" y="1203338"/>
            <a:ext cx="4252500" cy="504900"/>
          </a:xfrm>
          <a:prstGeom prst="rect">
            <a:avLst/>
          </a:prstGeom>
          <a:noFill/>
          <a:ln>
            <a:noFill/>
          </a:ln>
        </p:spPr>
        <p:txBody>
          <a:bodyPr anchorCtr="0" anchor="t" bIns="0" lIns="0" spcFirstLastPara="1" rIns="0" wrap="square" tIns="0">
            <a:noAutofit/>
          </a:bodyPr>
          <a:lstStyle/>
          <a:p>
            <a:pPr indent="-311150" lvl="0" marL="457200" marR="0" rtl="0" algn="l">
              <a:lnSpc>
                <a:spcPct val="130434"/>
              </a:lnSpc>
              <a:spcBef>
                <a:spcPts val="0"/>
              </a:spcBef>
              <a:spcAft>
                <a:spcPts val="0"/>
              </a:spcAft>
              <a:buClr>
                <a:schemeClr val="dk1"/>
              </a:buClr>
              <a:buSzPts val="1300"/>
              <a:buChar char="●"/>
            </a:pPr>
            <a:r>
              <a:rPr lang="en-GB" sz="1300">
                <a:solidFill>
                  <a:schemeClr val="dk1"/>
                </a:solidFill>
              </a:rPr>
              <a:t>Ignores minor fluctuations within segments and focuses on significant semantic transitions.</a:t>
            </a:r>
            <a:endParaRPr i="0" sz="1300" u="none" cap="none" strike="noStrike">
              <a:solidFill>
                <a:schemeClr val="dk1"/>
              </a:solidFill>
            </a:endParaRPr>
          </a:p>
        </p:txBody>
      </p:sp>
      <p:sp>
        <p:nvSpPr>
          <p:cNvPr id="494" name="Google Shape;494;p48"/>
          <p:cNvSpPr/>
          <p:nvPr/>
        </p:nvSpPr>
        <p:spPr>
          <a:xfrm>
            <a:off x="4698679" y="2168325"/>
            <a:ext cx="3183600" cy="19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1" i="0" lang="en-GB" sz="1300" u="none" cap="none" strike="noStrike">
                <a:solidFill>
                  <a:schemeClr val="dk1"/>
                </a:solidFill>
              </a:rPr>
              <a:t>Robust Across </a:t>
            </a:r>
            <a:r>
              <a:rPr b="1" lang="en-GB" sz="1300">
                <a:solidFill>
                  <a:schemeClr val="dk1"/>
                </a:solidFill>
              </a:rPr>
              <a:t>Topic</a:t>
            </a:r>
            <a:r>
              <a:rPr b="1" i="0" lang="en-GB" sz="1300" u="none" cap="none" strike="noStrike">
                <a:solidFill>
                  <a:schemeClr val="dk1"/>
                </a:solidFill>
              </a:rPr>
              <a:t>s</a:t>
            </a:r>
            <a:endParaRPr b="1" i="0" sz="1300" u="none" cap="none" strike="noStrike">
              <a:solidFill>
                <a:srgbClr val="443728"/>
              </a:solidFill>
            </a:endParaRPr>
          </a:p>
        </p:txBody>
      </p:sp>
      <p:sp>
        <p:nvSpPr>
          <p:cNvPr id="495" name="Google Shape;495;p48"/>
          <p:cNvSpPr/>
          <p:nvPr/>
        </p:nvSpPr>
        <p:spPr>
          <a:xfrm>
            <a:off x="4698647" y="2450325"/>
            <a:ext cx="4252500" cy="504900"/>
          </a:xfrm>
          <a:prstGeom prst="rect">
            <a:avLst/>
          </a:prstGeom>
          <a:noFill/>
          <a:ln>
            <a:noFill/>
          </a:ln>
        </p:spPr>
        <p:txBody>
          <a:bodyPr anchorCtr="0" anchor="t" bIns="0" lIns="0" spcFirstLastPara="1" rIns="0" wrap="square" tIns="0">
            <a:noAutofit/>
          </a:bodyPr>
          <a:lstStyle/>
          <a:p>
            <a:pPr indent="-311150" lvl="0" marL="457200" marR="0" rtl="0" algn="l">
              <a:lnSpc>
                <a:spcPct val="130434"/>
              </a:lnSpc>
              <a:spcBef>
                <a:spcPts val="1200"/>
              </a:spcBef>
              <a:spcAft>
                <a:spcPts val="0"/>
              </a:spcAft>
              <a:buClr>
                <a:schemeClr val="dk1"/>
              </a:buClr>
              <a:buSzPts val="1300"/>
              <a:buChar char="●"/>
            </a:pPr>
            <a:r>
              <a:rPr lang="en-GB" sz="1300">
                <a:solidFill>
                  <a:schemeClr val="dk1"/>
                </a:solidFill>
              </a:rPr>
              <a:t>Generalizes well across diverse topics without requiring topics-specific tuning.</a:t>
            </a:r>
            <a:endParaRPr i="0" sz="1300" u="none" cap="none" strike="noStrike">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85"/>
                                        </p:tgtEl>
                                        <p:attrNameLst>
                                          <p:attrName>style.visibility</p:attrName>
                                        </p:attrNameLst>
                                      </p:cBhvr>
                                      <p:to>
                                        <p:strVal val="visible"/>
                                      </p:to>
                                    </p:set>
                                    <p:animEffect filter="fade" transition="in">
                                      <p:cBhvr>
                                        <p:cTn dur="1000"/>
                                        <p:tgtEl>
                                          <p:spTgt spid="485"/>
                                        </p:tgtEl>
                                      </p:cBhvr>
                                    </p:animEffect>
                                  </p:childTnLst>
                                </p:cTn>
                              </p:par>
                              <p:par>
                                <p:cTn fill="hold" nodeType="withEffect" presetClass="entr" presetID="2" presetSubtype="4">
                                  <p:stCondLst>
                                    <p:cond delay="0"/>
                                  </p:stCondLst>
                                  <p:childTnLst>
                                    <p:set>
                                      <p:cBhvr>
                                        <p:cTn dur="1" fill="hold">
                                          <p:stCondLst>
                                            <p:cond delay="0"/>
                                          </p:stCondLst>
                                        </p:cTn>
                                        <p:tgtEl>
                                          <p:spTgt spid="486"/>
                                        </p:tgtEl>
                                        <p:attrNameLst>
                                          <p:attrName>style.visibility</p:attrName>
                                        </p:attrNameLst>
                                      </p:cBhvr>
                                      <p:to>
                                        <p:strVal val="visible"/>
                                      </p:to>
                                    </p:set>
                                    <p:anim calcmode="lin" valueType="num">
                                      <p:cBhvr additive="base">
                                        <p:cTn dur="1000"/>
                                        <p:tgtEl>
                                          <p:spTgt spid="48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7"/>
                                        </p:tgtEl>
                                        <p:attrNameLst>
                                          <p:attrName>style.visibility</p:attrName>
                                        </p:attrNameLst>
                                      </p:cBhvr>
                                      <p:to>
                                        <p:strVal val="visible"/>
                                      </p:to>
                                    </p:set>
                                    <p:animEffect filter="fade" transition="in">
                                      <p:cBhvr>
                                        <p:cTn dur="1000"/>
                                        <p:tgtEl>
                                          <p:spTgt spid="487"/>
                                        </p:tgtEl>
                                      </p:cBhvr>
                                    </p:animEffect>
                                  </p:childTnLst>
                                </p:cTn>
                              </p:par>
                              <p:par>
                                <p:cTn fill="hold" nodeType="withEffect" presetClass="entr" presetID="2" presetSubtype="4">
                                  <p:stCondLst>
                                    <p:cond delay="0"/>
                                  </p:stCondLst>
                                  <p:childTnLst>
                                    <p:set>
                                      <p:cBhvr>
                                        <p:cTn dur="1" fill="hold">
                                          <p:stCondLst>
                                            <p:cond delay="0"/>
                                          </p:stCondLst>
                                        </p:cTn>
                                        <p:tgtEl>
                                          <p:spTgt spid="488"/>
                                        </p:tgtEl>
                                        <p:attrNameLst>
                                          <p:attrName>style.visibility</p:attrName>
                                        </p:attrNameLst>
                                      </p:cBhvr>
                                      <p:to>
                                        <p:strVal val="visible"/>
                                      </p:to>
                                    </p:set>
                                    <p:anim calcmode="lin" valueType="num">
                                      <p:cBhvr additive="base">
                                        <p:cTn dur="1000"/>
                                        <p:tgtEl>
                                          <p:spTgt spid="48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gtEl>
                                        <p:attrNameLst>
                                          <p:attrName>style.visibility</p:attrName>
                                        </p:attrNameLst>
                                      </p:cBhvr>
                                      <p:to>
                                        <p:strVal val="visible"/>
                                      </p:to>
                                    </p:set>
                                    <p:animEffect filter="fade" transition="in">
                                      <p:cBhvr>
                                        <p:cTn dur="1000"/>
                                        <p:tgtEl>
                                          <p:spTgt spid="489"/>
                                        </p:tgtEl>
                                      </p:cBhvr>
                                    </p:animEffect>
                                  </p:childTnLst>
                                </p:cTn>
                              </p:par>
                              <p:par>
                                <p:cTn fill="hold" nodeType="withEffect" presetClass="entr" presetID="2" presetSubtype="4">
                                  <p:stCondLst>
                                    <p:cond delay="0"/>
                                  </p:stCondLst>
                                  <p:childTnLst>
                                    <p:set>
                                      <p:cBhvr>
                                        <p:cTn dur="1" fill="hold">
                                          <p:stCondLst>
                                            <p:cond delay="0"/>
                                          </p:stCondLst>
                                        </p:cTn>
                                        <p:tgtEl>
                                          <p:spTgt spid="490"/>
                                        </p:tgtEl>
                                        <p:attrNameLst>
                                          <p:attrName>style.visibility</p:attrName>
                                        </p:attrNameLst>
                                      </p:cBhvr>
                                      <p:to>
                                        <p:strVal val="visible"/>
                                      </p:to>
                                    </p:set>
                                    <p:anim calcmode="lin" valueType="num">
                                      <p:cBhvr additive="base">
                                        <p:cTn dur="1000"/>
                                        <p:tgtEl>
                                          <p:spTgt spid="49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
                                        </p:tgtEl>
                                        <p:attrNameLst>
                                          <p:attrName>style.visibility</p:attrName>
                                        </p:attrNameLst>
                                      </p:cBhvr>
                                      <p:to>
                                        <p:strVal val="visible"/>
                                      </p:to>
                                    </p:set>
                                    <p:animEffect filter="fade" transition="in">
                                      <p:cBhvr>
                                        <p:cTn dur="1000"/>
                                        <p:tgtEl>
                                          <p:spTgt spid="492"/>
                                        </p:tgtEl>
                                      </p:cBhvr>
                                    </p:animEffect>
                                  </p:childTnLst>
                                </p:cTn>
                              </p:par>
                              <p:par>
                                <p:cTn fill="hold" nodeType="withEffect" presetClass="entr" presetID="2" presetSubtype="4">
                                  <p:stCondLst>
                                    <p:cond delay="0"/>
                                  </p:stCondLst>
                                  <p:childTnLst>
                                    <p:set>
                                      <p:cBhvr>
                                        <p:cTn dur="1" fill="hold">
                                          <p:stCondLst>
                                            <p:cond delay="0"/>
                                          </p:stCondLst>
                                        </p:cTn>
                                        <p:tgtEl>
                                          <p:spTgt spid="493"/>
                                        </p:tgtEl>
                                        <p:attrNameLst>
                                          <p:attrName>style.visibility</p:attrName>
                                        </p:attrNameLst>
                                      </p:cBhvr>
                                      <p:to>
                                        <p:strVal val="visible"/>
                                      </p:to>
                                    </p:set>
                                    <p:anim calcmode="lin" valueType="num">
                                      <p:cBhvr additive="base">
                                        <p:cTn dur="1000"/>
                                        <p:tgtEl>
                                          <p:spTgt spid="49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4"/>
                                        </p:tgtEl>
                                        <p:attrNameLst>
                                          <p:attrName>style.visibility</p:attrName>
                                        </p:attrNameLst>
                                      </p:cBhvr>
                                      <p:to>
                                        <p:strVal val="visible"/>
                                      </p:to>
                                    </p:set>
                                    <p:animEffect filter="fade" transition="in">
                                      <p:cBhvr>
                                        <p:cTn dur="1000"/>
                                        <p:tgtEl>
                                          <p:spTgt spid="494"/>
                                        </p:tgtEl>
                                      </p:cBhvr>
                                    </p:animEffect>
                                  </p:childTnLst>
                                </p:cTn>
                              </p:par>
                              <p:par>
                                <p:cTn fill="hold" nodeType="withEffect" presetClass="entr" presetID="2" presetSubtype="4">
                                  <p:stCondLst>
                                    <p:cond delay="0"/>
                                  </p:stCondLst>
                                  <p:childTnLst>
                                    <p:set>
                                      <p:cBhvr>
                                        <p:cTn dur="1" fill="hold">
                                          <p:stCondLst>
                                            <p:cond delay="0"/>
                                          </p:stCondLst>
                                        </p:cTn>
                                        <p:tgtEl>
                                          <p:spTgt spid="495"/>
                                        </p:tgtEl>
                                        <p:attrNameLst>
                                          <p:attrName>style.visibility</p:attrName>
                                        </p:attrNameLst>
                                      </p:cBhvr>
                                      <p:to>
                                        <p:strVal val="visible"/>
                                      </p:to>
                                    </p:set>
                                    <p:anim calcmode="lin" valueType="num">
                                      <p:cBhvr additive="base">
                                        <p:cTn dur="1000"/>
                                        <p:tgtEl>
                                          <p:spTgt spid="49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49"/>
          <p:cNvSpPr/>
          <p:nvPr/>
        </p:nvSpPr>
        <p:spPr>
          <a:xfrm>
            <a:off x="677625" y="397509"/>
            <a:ext cx="5384700" cy="398100"/>
          </a:xfrm>
          <a:prstGeom prst="rect">
            <a:avLst/>
          </a:prstGeom>
          <a:noFill/>
          <a:ln>
            <a:noFill/>
          </a:ln>
        </p:spPr>
        <p:txBody>
          <a:bodyPr anchorCtr="0" anchor="t" bIns="0" lIns="0" spcFirstLastPara="1" rIns="0" wrap="square" tIns="0">
            <a:noAutofit/>
          </a:bodyPr>
          <a:lstStyle/>
          <a:p>
            <a:pPr indent="0" lvl="0" marL="0" marR="0" rtl="0" algn="l">
              <a:lnSpc>
                <a:spcPct val="126153"/>
              </a:lnSpc>
              <a:spcBef>
                <a:spcPts val="0"/>
              </a:spcBef>
              <a:spcAft>
                <a:spcPts val="0"/>
              </a:spcAft>
              <a:buClr>
                <a:srgbClr val="443728"/>
              </a:buClr>
              <a:buSzPts val="3250"/>
              <a:buFont typeface="Crimson Pro"/>
              <a:buNone/>
            </a:pPr>
            <a:r>
              <a:rPr b="1" i="0" lang="en-GB" sz="2650" u="none" cap="none" strike="noStrike">
                <a:solidFill>
                  <a:srgbClr val="443728"/>
                </a:solidFill>
              </a:rPr>
              <a:t>Semantic Segmentation</a:t>
            </a:r>
            <a:endParaRPr i="0" sz="2650" u="none" cap="none" strike="noStrike">
              <a:solidFill>
                <a:schemeClr val="dk1"/>
              </a:solidFill>
            </a:endParaRPr>
          </a:p>
          <a:p>
            <a:pPr indent="0" lvl="0" marL="0" marR="0" rtl="0" algn="l">
              <a:lnSpc>
                <a:spcPct val="124637"/>
              </a:lnSpc>
              <a:spcBef>
                <a:spcPts val="0"/>
              </a:spcBef>
              <a:spcAft>
                <a:spcPts val="0"/>
              </a:spcAft>
              <a:buClr>
                <a:srgbClr val="443728"/>
              </a:buClr>
              <a:buSzPts val="3450"/>
              <a:buFont typeface="Crimson Pro"/>
              <a:buNone/>
            </a:pPr>
            <a:r>
              <a:t/>
            </a:r>
            <a:endParaRPr b="1" i="0" sz="2200" u="none" cap="none" strike="noStrike">
              <a:solidFill>
                <a:srgbClr val="443728"/>
              </a:solidFill>
            </a:endParaRPr>
          </a:p>
          <a:p>
            <a:pPr indent="0" lvl="0" marL="0" marR="0" rtl="0" algn="l">
              <a:lnSpc>
                <a:spcPct val="125333"/>
              </a:lnSpc>
              <a:spcBef>
                <a:spcPts val="0"/>
              </a:spcBef>
              <a:spcAft>
                <a:spcPts val="0"/>
              </a:spcAft>
              <a:buClr>
                <a:srgbClr val="443728"/>
              </a:buClr>
              <a:buSzPts val="3750"/>
              <a:buFont typeface="Crimson Pro"/>
              <a:buNone/>
            </a:pPr>
            <a:r>
              <a:t/>
            </a:r>
            <a:endParaRPr b="1" i="0" sz="2200" u="none" cap="none" strike="noStrike">
              <a:solidFill>
                <a:srgbClr val="443728"/>
              </a:solidFill>
            </a:endParaRPr>
          </a:p>
        </p:txBody>
      </p:sp>
      <p:sp>
        <p:nvSpPr>
          <p:cNvPr id="501" name="Google Shape;501;p49"/>
          <p:cNvSpPr/>
          <p:nvPr/>
        </p:nvSpPr>
        <p:spPr>
          <a:xfrm>
            <a:off x="81925" y="74650"/>
            <a:ext cx="1377000" cy="288600"/>
          </a:xfrm>
          <a:prstGeom prst="roundRect">
            <a:avLst>
              <a:gd fmla="val 18064" name="adj"/>
            </a:avLst>
          </a:prstGeom>
          <a:noFill/>
          <a:ln cap="flat" cmpd="sng" w="9525">
            <a:solidFill>
              <a:srgbClr val="835E5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49"/>
          <p:cNvSpPr/>
          <p:nvPr/>
        </p:nvSpPr>
        <p:spPr>
          <a:xfrm>
            <a:off x="225618" y="127293"/>
            <a:ext cx="1089600" cy="183300"/>
          </a:xfrm>
          <a:prstGeom prst="rect">
            <a:avLst/>
          </a:prstGeom>
          <a:noFill/>
          <a:ln>
            <a:noFill/>
          </a:ln>
        </p:spPr>
        <p:txBody>
          <a:bodyPr anchorCtr="0" anchor="t" bIns="0" lIns="0" spcFirstLastPara="1" rIns="0" wrap="square" tIns="0">
            <a:noAutofit/>
          </a:bodyPr>
          <a:lstStyle/>
          <a:p>
            <a:pPr indent="0" lvl="0" marL="0" marR="0" rtl="0" algn="l">
              <a:lnSpc>
                <a:spcPct val="145833"/>
              </a:lnSpc>
              <a:spcBef>
                <a:spcPts val="0"/>
              </a:spcBef>
              <a:spcAft>
                <a:spcPts val="0"/>
              </a:spcAft>
              <a:buClr>
                <a:srgbClr val="835E54"/>
              </a:buClr>
              <a:buSzPts val="1200"/>
              <a:buFont typeface="Open Sans"/>
              <a:buNone/>
            </a:pPr>
            <a:r>
              <a:rPr b="0" i="0" lang="en-GB" sz="1200" u="none" cap="none" strike="noStrike">
                <a:solidFill>
                  <a:srgbClr val="835E54"/>
                </a:solidFill>
                <a:latin typeface="Open Sans"/>
                <a:ea typeface="Open Sans"/>
                <a:cs typeface="Open Sans"/>
                <a:sym typeface="Open Sans"/>
              </a:rPr>
              <a:t>APPROACH 4</a:t>
            </a:r>
            <a:endParaRPr b="0" i="0" sz="1200" u="none" cap="none" strike="noStrike">
              <a:solidFill>
                <a:srgbClr val="000000"/>
              </a:solidFill>
              <a:latin typeface="Arial"/>
              <a:ea typeface="Arial"/>
              <a:cs typeface="Arial"/>
              <a:sym typeface="Arial"/>
            </a:endParaRPr>
          </a:p>
        </p:txBody>
      </p:sp>
      <p:pic>
        <p:nvPicPr>
          <p:cNvPr id="503" name="Google Shape;503;p49" title="approch_4_dyanamic_grouping_high_level.jpeg"/>
          <p:cNvPicPr preferRelativeResize="0"/>
          <p:nvPr/>
        </p:nvPicPr>
        <p:blipFill>
          <a:blip r:embed="rId3">
            <a:alphaModFix/>
          </a:blip>
          <a:stretch>
            <a:fillRect/>
          </a:stretch>
        </p:blipFill>
        <p:spPr>
          <a:xfrm>
            <a:off x="1528862" y="891175"/>
            <a:ext cx="6086276" cy="40999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03"/>
                                        </p:tgtEl>
                                        <p:attrNameLst>
                                          <p:attrName>style.visibility</p:attrName>
                                        </p:attrNameLst>
                                      </p:cBhvr>
                                      <p:to>
                                        <p:strVal val="visible"/>
                                      </p:to>
                                    </p:set>
                                    <p:animEffect filter="fade" transition="in">
                                      <p:cBhvr>
                                        <p:cTn dur="1000"/>
                                        <p:tgtEl>
                                          <p:spTgt spid="5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50"/>
          <p:cNvSpPr/>
          <p:nvPr/>
        </p:nvSpPr>
        <p:spPr>
          <a:xfrm>
            <a:off x="205075" y="370575"/>
            <a:ext cx="5498400" cy="398100"/>
          </a:xfrm>
          <a:prstGeom prst="rect">
            <a:avLst/>
          </a:prstGeom>
          <a:noFill/>
          <a:ln>
            <a:noFill/>
          </a:ln>
        </p:spPr>
        <p:txBody>
          <a:bodyPr anchorCtr="0" anchor="t" bIns="0" lIns="0" spcFirstLastPara="1" rIns="0" wrap="square" tIns="0">
            <a:noAutofit/>
          </a:bodyPr>
          <a:lstStyle/>
          <a:p>
            <a:pPr indent="0" lvl="0" marL="0" marR="0" rtl="0" algn="l">
              <a:lnSpc>
                <a:spcPct val="125333"/>
              </a:lnSpc>
              <a:spcBef>
                <a:spcPts val="0"/>
              </a:spcBef>
              <a:spcAft>
                <a:spcPts val="0"/>
              </a:spcAft>
              <a:buClr>
                <a:srgbClr val="443728"/>
              </a:buClr>
              <a:buSzPts val="3750"/>
              <a:buFont typeface="Crimson Pro"/>
              <a:buNone/>
            </a:pPr>
            <a:r>
              <a:rPr b="1" lang="en-GB" sz="2200">
                <a:solidFill>
                  <a:srgbClr val="443728"/>
                </a:solidFill>
              </a:rPr>
              <a:t>Limitation of Approach 4</a:t>
            </a:r>
            <a:endParaRPr b="1" i="0" sz="2200" u="none" cap="none" strike="noStrike">
              <a:solidFill>
                <a:srgbClr val="443728"/>
              </a:solidFill>
            </a:endParaRPr>
          </a:p>
        </p:txBody>
      </p:sp>
      <p:sp>
        <p:nvSpPr>
          <p:cNvPr id="509" name="Google Shape;509;p50"/>
          <p:cNvSpPr/>
          <p:nvPr/>
        </p:nvSpPr>
        <p:spPr>
          <a:xfrm>
            <a:off x="106900" y="1182025"/>
            <a:ext cx="8930100" cy="1687200"/>
          </a:xfrm>
          <a:prstGeom prst="roundRect">
            <a:avLst>
              <a:gd fmla="val 4702" name="adj"/>
            </a:avLst>
          </a:prstGeom>
          <a:solidFill>
            <a:srgbClr val="EBE2E0"/>
          </a:solidFill>
          <a:ln cap="flat" cmpd="sng" w="9525">
            <a:solidFill>
              <a:srgbClr val="D1C8C6"/>
            </a:solidFill>
            <a:prstDash val="solid"/>
            <a:round/>
            <a:headEnd len="sm" w="sm" type="none"/>
            <a:tailEnd len="sm" w="sm" type="none"/>
          </a:ln>
        </p:spPr>
        <p:txBody>
          <a:bodyPr anchorCtr="0" anchor="ctr" bIns="59625" lIns="59625" spcFirstLastPara="1" rIns="59625" wrap="square" tIns="59625">
            <a:noAutofit/>
          </a:bodyPr>
          <a:lstStyle/>
          <a:p>
            <a:pPr indent="0" lvl="0" marL="0" rtl="0" algn="l">
              <a:lnSpc>
                <a:spcPct val="115000"/>
              </a:lnSpc>
              <a:spcBef>
                <a:spcPts val="1400"/>
              </a:spcBef>
              <a:spcAft>
                <a:spcPts val="400"/>
              </a:spcAft>
              <a:buClr>
                <a:schemeClr val="dk1"/>
              </a:buClr>
              <a:buSzPts val="1100"/>
              <a:buFont typeface="Arial"/>
              <a:buNone/>
            </a:pPr>
            <a:r>
              <a:t/>
            </a:r>
            <a:endParaRPr sz="1100">
              <a:solidFill>
                <a:schemeClr val="dk1"/>
              </a:solidFill>
            </a:endParaRPr>
          </a:p>
        </p:txBody>
      </p:sp>
      <p:sp>
        <p:nvSpPr>
          <p:cNvPr id="510" name="Google Shape;510;p50"/>
          <p:cNvSpPr/>
          <p:nvPr/>
        </p:nvSpPr>
        <p:spPr>
          <a:xfrm>
            <a:off x="266507" y="1249736"/>
            <a:ext cx="1925874" cy="1989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443728"/>
              </a:buClr>
              <a:buSzPts val="1247"/>
              <a:buFont typeface="Crimson Pro"/>
              <a:buNone/>
            </a:pPr>
            <a:r>
              <a:rPr b="1" lang="en-GB" sz="1300">
                <a:solidFill>
                  <a:srgbClr val="443728"/>
                </a:solidFill>
              </a:rPr>
              <a:t>Segment inconsistency</a:t>
            </a:r>
            <a:endParaRPr i="0" sz="1300" u="none" cap="none" strike="noStrike">
              <a:solidFill>
                <a:srgbClr val="000000"/>
              </a:solidFill>
            </a:endParaRPr>
          </a:p>
        </p:txBody>
      </p:sp>
      <p:sp>
        <p:nvSpPr>
          <p:cNvPr id="511" name="Google Shape;511;p50"/>
          <p:cNvSpPr/>
          <p:nvPr/>
        </p:nvSpPr>
        <p:spPr>
          <a:xfrm>
            <a:off x="266500" y="1531725"/>
            <a:ext cx="4252533" cy="504900"/>
          </a:xfrm>
          <a:prstGeom prst="rect">
            <a:avLst/>
          </a:prstGeom>
          <a:noFill/>
          <a:ln>
            <a:noFill/>
          </a:ln>
        </p:spPr>
        <p:txBody>
          <a:bodyPr anchorCtr="0" anchor="t" bIns="0" lIns="0" spcFirstLastPara="1" rIns="0" wrap="square" tIns="0">
            <a:noAutofit/>
          </a:bodyPr>
          <a:lstStyle/>
          <a:p>
            <a:pPr indent="-311150" lvl="0" marL="457200" marR="0" rtl="0" algn="l">
              <a:lnSpc>
                <a:spcPct val="130434"/>
              </a:lnSpc>
              <a:spcBef>
                <a:spcPts val="1200"/>
              </a:spcBef>
              <a:spcAft>
                <a:spcPts val="0"/>
              </a:spcAft>
              <a:buClr>
                <a:schemeClr val="dk1"/>
              </a:buClr>
              <a:buSzPts val="1300"/>
              <a:buChar char="●"/>
            </a:pPr>
            <a:r>
              <a:rPr lang="en-GB" sz="1300">
                <a:solidFill>
                  <a:schemeClr val="dk1"/>
                </a:solidFill>
              </a:rPr>
              <a:t>Continuous narrative split due to topic fluctuation.</a:t>
            </a:r>
            <a:endParaRPr i="0" sz="1300" u="none" cap="none" strike="noStrike">
              <a:solidFill>
                <a:schemeClr val="dk1"/>
              </a:solidFill>
            </a:endParaRPr>
          </a:p>
        </p:txBody>
      </p:sp>
      <p:sp>
        <p:nvSpPr>
          <p:cNvPr id="512" name="Google Shape;512;p50"/>
          <p:cNvSpPr/>
          <p:nvPr/>
        </p:nvSpPr>
        <p:spPr>
          <a:xfrm>
            <a:off x="4784502" y="1249725"/>
            <a:ext cx="3109032" cy="19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1" lang="en-GB" sz="1300">
                <a:solidFill>
                  <a:schemeClr val="dk1"/>
                </a:solidFill>
              </a:rPr>
              <a:t>Hyperparameter sensitivity</a:t>
            </a:r>
            <a:endParaRPr b="1" i="0" sz="1300" u="none" cap="none" strike="noStrike">
              <a:solidFill>
                <a:schemeClr val="dk1"/>
              </a:solidFill>
            </a:endParaRPr>
          </a:p>
        </p:txBody>
      </p:sp>
      <p:sp>
        <p:nvSpPr>
          <p:cNvPr id="513" name="Google Shape;513;p50"/>
          <p:cNvSpPr/>
          <p:nvPr/>
        </p:nvSpPr>
        <p:spPr>
          <a:xfrm>
            <a:off x="4784499" y="1531699"/>
            <a:ext cx="4147719" cy="504900"/>
          </a:xfrm>
          <a:prstGeom prst="rect">
            <a:avLst/>
          </a:prstGeom>
          <a:noFill/>
          <a:ln>
            <a:noFill/>
          </a:ln>
        </p:spPr>
        <p:txBody>
          <a:bodyPr anchorCtr="0" anchor="t" bIns="0" lIns="0" spcFirstLastPara="1" rIns="0" wrap="square" tIns="0">
            <a:noAutofit/>
          </a:bodyPr>
          <a:lstStyle/>
          <a:p>
            <a:pPr indent="-311150" lvl="0" marL="457200" marR="0" rtl="0" algn="l">
              <a:lnSpc>
                <a:spcPct val="130434"/>
              </a:lnSpc>
              <a:spcBef>
                <a:spcPts val="0"/>
              </a:spcBef>
              <a:spcAft>
                <a:spcPts val="0"/>
              </a:spcAft>
              <a:buClr>
                <a:schemeClr val="dk1"/>
              </a:buClr>
              <a:buSzPts val="1300"/>
              <a:buChar char="●"/>
            </a:pPr>
            <a:r>
              <a:rPr lang="en-GB" sz="1300">
                <a:solidFill>
                  <a:schemeClr val="dk1"/>
                </a:solidFill>
              </a:rPr>
              <a:t>Performance depends heavily on penalty and model settings.</a:t>
            </a:r>
            <a:endParaRPr i="0" sz="1300" u="none" cap="none" strike="noStrike">
              <a:solidFill>
                <a:schemeClr val="dk1"/>
              </a:solidFill>
            </a:endParaRPr>
          </a:p>
        </p:txBody>
      </p:sp>
      <p:sp>
        <p:nvSpPr>
          <p:cNvPr id="514" name="Google Shape;514;p50"/>
          <p:cNvSpPr/>
          <p:nvPr/>
        </p:nvSpPr>
        <p:spPr>
          <a:xfrm>
            <a:off x="4638650" y="1182025"/>
            <a:ext cx="88200" cy="1687200"/>
          </a:xfrm>
          <a:prstGeom prst="roundRect">
            <a:avLst>
              <a:gd fmla="val 0" name="adj"/>
            </a:avLst>
          </a:prstGeom>
          <a:solidFill>
            <a:srgbClr val="835E54"/>
          </a:solidFill>
          <a:ln>
            <a:noFill/>
          </a:ln>
        </p:spPr>
        <p:txBody>
          <a:bodyPr anchorCtr="0" anchor="ctr" bIns="64050" lIns="64050" spcFirstLastPara="1" rIns="64050" wrap="square" tIns="64050">
            <a:noAutofit/>
          </a:bodyPr>
          <a:lstStyle/>
          <a:p>
            <a:pPr indent="0" lvl="0" marL="0" marR="0" rtl="0" algn="l">
              <a:lnSpc>
                <a:spcPct val="100000"/>
              </a:lnSpc>
              <a:spcBef>
                <a:spcPts val="0"/>
              </a:spcBef>
              <a:spcAft>
                <a:spcPts val="0"/>
              </a:spcAft>
              <a:buClr>
                <a:srgbClr val="000000"/>
              </a:buClr>
              <a:buSzPts val="1400"/>
              <a:buFont typeface="Arial"/>
              <a:buNone/>
            </a:pPr>
            <a:r>
              <a:t/>
            </a:r>
            <a:endParaRPr i="0" sz="1300" u="none" cap="none" strike="noStrike">
              <a:solidFill>
                <a:srgbClr val="000000"/>
              </a:solidFill>
            </a:endParaRPr>
          </a:p>
        </p:txBody>
      </p:sp>
      <p:sp>
        <p:nvSpPr>
          <p:cNvPr id="515" name="Google Shape;515;p50"/>
          <p:cNvSpPr/>
          <p:nvPr/>
        </p:nvSpPr>
        <p:spPr>
          <a:xfrm>
            <a:off x="266541" y="2082250"/>
            <a:ext cx="3183600" cy="19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1" lang="en-GB" sz="1300">
                <a:solidFill>
                  <a:schemeClr val="dk1"/>
                </a:solidFill>
              </a:rPr>
              <a:t>Cross-entity errors</a:t>
            </a:r>
            <a:endParaRPr b="1" i="0" sz="1300" u="none" cap="none" strike="noStrike">
              <a:solidFill>
                <a:srgbClr val="443728"/>
              </a:solidFill>
            </a:endParaRPr>
          </a:p>
        </p:txBody>
      </p:sp>
      <p:sp>
        <p:nvSpPr>
          <p:cNvPr id="516" name="Google Shape;516;p50"/>
          <p:cNvSpPr/>
          <p:nvPr/>
        </p:nvSpPr>
        <p:spPr>
          <a:xfrm>
            <a:off x="266510" y="2364250"/>
            <a:ext cx="4252500" cy="504900"/>
          </a:xfrm>
          <a:prstGeom prst="rect">
            <a:avLst/>
          </a:prstGeom>
          <a:noFill/>
          <a:ln>
            <a:noFill/>
          </a:ln>
        </p:spPr>
        <p:txBody>
          <a:bodyPr anchorCtr="0" anchor="t" bIns="0" lIns="0" spcFirstLastPara="1" rIns="0" wrap="square" tIns="0">
            <a:noAutofit/>
          </a:bodyPr>
          <a:lstStyle/>
          <a:p>
            <a:pPr indent="-311150" lvl="0" marL="457200" marR="0" rtl="0" algn="l">
              <a:lnSpc>
                <a:spcPct val="130434"/>
              </a:lnSpc>
              <a:spcBef>
                <a:spcPts val="1200"/>
              </a:spcBef>
              <a:spcAft>
                <a:spcPts val="0"/>
              </a:spcAft>
              <a:buClr>
                <a:schemeClr val="dk1"/>
              </a:buClr>
              <a:buSzPts val="1300"/>
              <a:buChar char="●"/>
            </a:pPr>
            <a:r>
              <a:rPr lang="en-GB" sz="1300">
                <a:solidFill>
                  <a:schemeClr val="dk1"/>
                </a:solidFill>
              </a:rPr>
              <a:t>Incorrectly mixes or splits different entities.</a:t>
            </a:r>
            <a:endParaRPr i="0" sz="1300" u="none" cap="none" strike="noStrike">
              <a:solidFill>
                <a:schemeClr val="dk1"/>
              </a:solidFill>
            </a:endParaRPr>
          </a:p>
        </p:txBody>
      </p:sp>
      <p:sp>
        <p:nvSpPr>
          <p:cNvPr id="517" name="Google Shape;517;p50"/>
          <p:cNvSpPr/>
          <p:nvPr/>
        </p:nvSpPr>
        <p:spPr>
          <a:xfrm>
            <a:off x="81925" y="74650"/>
            <a:ext cx="1377000" cy="288600"/>
          </a:xfrm>
          <a:prstGeom prst="roundRect">
            <a:avLst>
              <a:gd fmla="val 18064" name="adj"/>
            </a:avLst>
          </a:prstGeom>
          <a:noFill/>
          <a:ln cap="flat" cmpd="sng" w="9525">
            <a:solidFill>
              <a:srgbClr val="835E5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50"/>
          <p:cNvSpPr/>
          <p:nvPr/>
        </p:nvSpPr>
        <p:spPr>
          <a:xfrm>
            <a:off x="225618" y="127293"/>
            <a:ext cx="1089600" cy="183300"/>
          </a:xfrm>
          <a:prstGeom prst="rect">
            <a:avLst/>
          </a:prstGeom>
          <a:noFill/>
          <a:ln>
            <a:noFill/>
          </a:ln>
        </p:spPr>
        <p:txBody>
          <a:bodyPr anchorCtr="0" anchor="t" bIns="0" lIns="0" spcFirstLastPara="1" rIns="0" wrap="square" tIns="0">
            <a:noAutofit/>
          </a:bodyPr>
          <a:lstStyle/>
          <a:p>
            <a:pPr indent="0" lvl="0" marL="0" marR="0" rtl="0" algn="l">
              <a:lnSpc>
                <a:spcPct val="145833"/>
              </a:lnSpc>
              <a:spcBef>
                <a:spcPts val="0"/>
              </a:spcBef>
              <a:spcAft>
                <a:spcPts val="0"/>
              </a:spcAft>
              <a:buClr>
                <a:srgbClr val="835E54"/>
              </a:buClr>
              <a:buSzPts val="1200"/>
              <a:buFont typeface="Open Sans"/>
              <a:buNone/>
            </a:pPr>
            <a:r>
              <a:rPr b="0" i="0" lang="en-GB" sz="1200" u="none" cap="none" strike="noStrike">
                <a:solidFill>
                  <a:srgbClr val="835E54"/>
                </a:solidFill>
                <a:latin typeface="Open Sans"/>
                <a:ea typeface="Open Sans"/>
                <a:cs typeface="Open Sans"/>
                <a:sym typeface="Open Sans"/>
              </a:rPr>
              <a:t>APPROACH 4</a:t>
            </a:r>
            <a:endParaRPr b="0" i="0" sz="12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10"/>
                                        </p:tgtEl>
                                        <p:attrNameLst>
                                          <p:attrName>style.visibility</p:attrName>
                                        </p:attrNameLst>
                                      </p:cBhvr>
                                      <p:to>
                                        <p:strVal val="visible"/>
                                      </p:to>
                                    </p:set>
                                    <p:animEffect filter="fade" transition="in">
                                      <p:cBhvr>
                                        <p:cTn dur="1000"/>
                                        <p:tgtEl>
                                          <p:spTgt spid="510"/>
                                        </p:tgtEl>
                                      </p:cBhvr>
                                    </p:animEffect>
                                  </p:childTnLst>
                                </p:cTn>
                              </p:par>
                              <p:par>
                                <p:cTn fill="hold" nodeType="withEffect" presetClass="entr" presetID="2" presetSubtype="4">
                                  <p:stCondLst>
                                    <p:cond delay="0"/>
                                  </p:stCondLst>
                                  <p:childTnLst>
                                    <p:set>
                                      <p:cBhvr>
                                        <p:cTn dur="1" fill="hold">
                                          <p:stCondLst>
                                            <p:cond delay="0"/>
                                          </p:stCondLst>
                                        </p:cTn>
                                        <p:tgtEl>
                                          <p:spTgt spid="511"/>
                                        </p:tgtEl>
                                        <p:attrNameLst>
                                          <p:attrName>style.visibility</p:attrName>
                                        </p:attrNameLst>
                                      </p:cBhvr>
                                      <p:to>
                                        <p:strVal val="visible"/>
                                      </p:to>
                                    </p:set>
                                    <p:anim calcmode="lin" valueType="num">
                                      <p:cBhvr additive="base">
                                        <p:cTn dur="1000"/>
                                        <p:tgtEl>
                                          <p:spTgt spid="51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5"/>
                                        </p:tgtEl>
                                        <p:attrNameLst>
                                          <p:attrName>style.visibility</p:attrName>
                                        </p:attrNameLst>
                                      </p:cBhvr>
                                      <p:to>
                                        <p:strVal val="visible"/>
                                      </p:to>
                                    </p:set>
                                    <p:animEffect filter="fade" transition="in">
                                      <p:cBhvr>
                                        <p:cTn dur="1000"/>
                                        <p:tgtEl>
                                          <p:spTgt spid="515"/>
                                        </p:tgtEl>
                                      </p:cBhvr>
                                    </p:animEffect>
                                  </p:childTnLst>
                                </p:cTn>
                              </p:par>
                              <p:par>
                                <p:cTn fill="hold" nodeType="withEffect" presetClass="entr" presetID="2" presetSubtype="4">
                                  <p:stCondLst>
                                    <p:cond delay="0"/>
                                  </p:stCondLst>
                                  <p:childTnLst>
                                    <p:set>
                                      <p:cBhvr>
                                        <p:cTn dur="1" fill="hold">
                                          <p:stCondLst>
                                            <p:cond delay="0"/>
                                          </p:stCondLst>
                                        </p:cTn>
                                        <p:tgtEl>
                                          <p:spTgt spid="516"/>
                                        </p:tgtEl>
                                        <p:attrNameLst>
                                          <p:attrName>style.visibility</p:attrName>
                                        </p:attrNameLst>
                                      </p:cBhvr>
                                      <p:to>
                                        <p:strVal val="visible"/>
                                      </p:to>
                                    </p:set>
                                    <p:anim calcmode="lin" valueType="num">
                                      <p:cBhvr additive="base">
                                        <p:cTn dur="1000"/>
                                        <p:tgtEl>
                                          <p:spTgt spid="51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2"/>
                                        </p:tgtEl>
                                        <p:attrNameLst>
                                          <p:attrName>style.visibility</p:attrName>
                                        </p:attrNameLst>
                                      </p:cBhvr>
                                      <p:to>
                                        <p:strVal val="visible"/>
                                      </p:to>
                                    </p:set>
                                    <p:animEffect filter="fade" transition="in">
                                      <p:cBhvr>
                                        <p:cTn dur="1000"/>
                                        <p:tgtEl>
                                          <p:spTgt spid="512"/>
                                        </p:tgtEl>
                                      </p:cBhvr>
                                    </p:animEffect>
                                  </p:childTnLst>
                                </p:cTn>
                              </p:par>
                              <p:par>
                                <p:cTn fill="hold" nodeType="withEffect" presetClass="entr" presetID="2" presetSubtype="4">
                                  <p:stCondLst>
                                    <p:cond delay="0"/>
                                  </p:stCondLst>
                                  <p:childTnLst>
                                    <p:set>
                                      <p:cBhvr>
                                        <p:cTn dur="1" fill="hold">
                                          <p:stCondLst>
                                            <p:cond delay="0"/>
                                          </p:stCondLst>
                                        </p:cTn>
                                        <p:tgtEl>
                                          <p:spTgt spid="513"/>
                                        </p:tgtEl>
                                        <p:attrNameLst>
                                          <p:attrName>style.visibility</p:attrName>
                                        </p:attrNameLst>
                                      </p:cBhvr>
                                      <p:to>
                                        <p:strVal val="visible"/>
                                      </p:to>
                                    </p:set>
                                    <p:anim calcmode="lin" valueType="num">
                                      <p:cBhvr additive="base">
                                        <p:cTn dur="1000"/>
                                        <p:tgtEl>
                                          <p:spTgt spid="51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51"/>
          <p:cNvSpPr/>
          <p:nvPr/>
        </p:nvSpPr>
        <p:spPr>
          <a:xfrm>
            <a:off x="677675" y="521478"/>
            <a:ext cx="4539000" cy="398100"/>
          </a:xfrm>
          <a:prstGeom prst="rect">
            <a:avLst/>
          </a:prstGeom>
          <a:noFill/>
          <a:ln>
            <a:noFill/>
          </a:ln>
        </p:spPr>
        <p:txBody>
          <a:bodyPr anchorCtr="0" anchor="t" bIns="0" lIns="0" spcFirstLastPara="1" rIns="0" wrap="square" tIns="0">
            <a:noAutofit/>
          </a:bodyPr>
          <a:lstStyle/>
          <a:p>
            <a:pPr indent="0" lvl="0" marL="0" marR="0" rtl="0" algn="l">
              <a:lnSpc>
                <a:spcPct val="124615"/>
              </a:lnSpc>
              <a:spcBef>
                <a:spcPts val="0"/>
              </a:spcBef>
              <a:spcAft>
                <a:spcPts val="0"/>
              </a:spcAft>
              <a:buClr>
                <a:srgbClr val="443728"/>
              </a:buClr>
              <a:buSzPts val="3250"/>
              <a:buFont typeface="Crimson Pro"/>
              <a:buNone/>
            </a:pPr>
            <a:r>
              <a:rPr b="1" i="0" lang="en-GB" sz="2400" u="none" cap="none" strike="noStrike">
                <a:solidFill>
                  <a:srgbClr val="443728"/>
                </a:solidFill>
              </a:rPr>
              <a:t>Entity Awareness</a:t>
            </a:r>
            <a:endParaRPr i="0" sz="2400" u="none" cap="none" strike="noStrike">
              <a:solidFill>
                <a:schemeClr val="dk1"/>
              </a:solidFill>
            </a:endParaRPr>
          </a:p>
          <a:p>
            <a:pPr indent="0" lvl="0" marL="0" marR="0" rtl="0" algn="l">
              <a:lnSpc>
                <a:spcPct val="124637"/>
              </a:lnSpc>
              <a:spcBef>
                <a:spcPts val="0"/>
              </a:spcBef>
              <a:spcAft>
                <a:spcPts val="0"/>
              </a:spcAft>
              <a:buClr>
                <a:srgbClr val="443728"/>
              </a:buClr>
              <a:buSzPts val="3450"/>
              <a:buFont typeface="Crimson Pro"/>
              <a:buNone/>
            </a:pPr>
            <a:r>
              <a:t/>
            </a:r>
            <a:endParaRPr b="1" i="0" sz="2400" u="none" cap="none" strike="noStrike">
              <a:solidFill>
                <a:srgbClr val="443728"/>
              </a:solidFill>
            </a:endParaRPr>
          </a:p>
          <a:p>
            <a:pPr indent="0" lvl="0" marL="0" marR="0" rtl="0" algn="l">
              <a:lnSpc>
                <a:spcPct val="125333"/>
              </a:lnSpc>
              <a:spcBef>
                <a:spcPts val="0"/>
              </a:spcBef>
              <a:spcAft>
                <a:spcPts val="0"/>
              </a:spcAft>
              <a:buClr>
                <a:srgbClr val="443728"/>
              </a:buClr>
              <a:buSzPts val="3750"/>
              <a:buFont typeface="Crimson Pro"/>
              <a:buNone/>
            </a:pPr>
            <a:r>
              <a:t/>
            </a:r>
            <a:endParaRPr b="1" i="0" sz="2400" u="none" cap="none" strike="noStrike">
              <a:solidFill>
                <a:srgbClr val="443728"/>
              </a:solidFill>
            </a:endParaRPr>
          </a:p>
        </p:txBody>
      </p:sp>
      <p:sp>
        <p:nvSpPr>
          <p:cNvPr id="524" name="Google Shape;524;p51"/>
          <p:cNvSpPr/>
          <p:nvPr/>
        </p:nvSpPr>
        <p:spPr>
          <a:xfrm>
            <a:off x="81925" y="74650"/>
            <a:ext cx="1377000" cy="288600"/>
          </a:xfrm>
          <a:prstGeom prst="roundRect">
            <a:avLst>
              <a:gd fmla="val 18064" name="adj"/>
            </a:avLst>
          </a:prstGeom>
          <a:noFill/>
          <a:ln cap="flat" cmpd="sng" w="9525">
            <a:solidFill>
              <a:srgbClr val="835E5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300" u="none" cap="none" strike="noStrike">
              <a:solidFill>
                <a:srgbClr val="000000"/>
              </a:solidFill>
            </a:endParaRPr>
          </a:p>
        </p:txBody>
      </p:sp>
      <p:sp>
        <p:nvSpPr>
          <p:cNvPr id="525" name="Google Shape;525;p51"/>
          <p:cNvSpPr/>
          <p:nvPr/>
        </p:nvSpPr>
        <p:spPr>
          <a:xfrm>
            <a:off x="225618" y="127293"/>
            <a:ext cx="1089600" cy="183300"/>
          </a:xfrm>
          <a:prstGeom prst="rect">
            <a:avLst/>
          </a:prstGeom>
          <a:noFill/>
          <a:ln>
            <a:noFill/>
          </a:ln>
        </p:spPr>
        <p:txBody>
          <a:bodyPr anchorCtr="0" anchor="t" bIns="0" lIns="0" spcFirstLastPara="1" rIns="0" wrap="square" tIns="0">
            <a:noAutofit/>
          </a:bodyPr>
          <a:lstStyle/>
          <a:p>
            <a:pPr indent="0" lvl="0" marL="0" marR="0" rtl="0" algn="l">
              <a:lnSpc>
                <a:spcPct val="145833"/>
              </a:lnSpc>
              <a:spcBef>
                <a:spcPts val="0"/>
              </a:spcBef>
              <a:spcAft>
                <a:spcPts val="0"/>
              </a:spcAft>
              <a:buClr>
                <a:srgbClr val="835E54"/>
              </a:buClr>
              <a:buSzPts val="1200"/>
              <a:buFont typeface="Open Sans"/>
              <a:buNone/>
            </a:pPr>
            <a:r>
              <a:rPr b="0" i="0" lang="en-GB" sz="1200" u="none" cap="none" strike="noStrike">
                <a:solidFill>
                  <a:srgbClr val="835E54"/>
                </a:solidFill>
                <a:latin typeface="Open Sans"/>
                <a:ea typeface="Open Sans"/>
                <a:cs typeface="Open Sans"/>
                <a:sym typeface="Open Sans"/>
              </a:rPr>
              <a:t>APPROACH 5</a:t>
            </a:r>
            <a:endParaRPr b="0" i="0" sz="1200" u="none" cap="none" strike="noStrike">
              <a:solidFill>
                <a:srgbClr val="000000"/>
              </a:solidFill>
              <a:latin typeface="Arial"/>
              <a:ea typeface="Arial"/>
              <a:cs typeface="Arial"/>
              <a:sym typeface="Arial"/>
            </a:endParaRPr>
          </a:p>
        </p:txBody>
      </p:sp>
      <p:sp>
        <p:nvSpPr>
          <p:cNvPr id="526" name="Google Shape;526;p51"/>
          <p:cNvSpPr/>
          <p:nvPr/>
        </p:nvSpPr>
        <p:spPr>
          <a:xfrm>
            <a:off x="106950" y="1060646"/>
            <a:ext cx="8930100" cy="2427000"/>
          </a:xfrm>
          <a:prstGeom prst="roundRect">
            <a:avLst>
              <a:gd fmla="val 4702" name="adj"/>
            </a:avLst>
          </a:prstGeom>
          <a:solidFill>
            <a:srgbClr val="EBE2E0"/>
          </a:solidFill>
          <a:ln cap="flat" cmpd="sng" w="9525">
            <a:solidFill>
              <a:srgbClr val="D1C8C6"/>
            </a:solidFill>
            <a:prstDash val="solid"/>
            <a:round/>
            <a:headEnd len="sm" w="sm" type="none"/>
            <a:tailEnd len="sm" w="sm" type="none"/>
          </a:ln>
        </p:spPr>
        <p:txBody>
          <a:bodyPr anchorCtr="0" anchor="ctr" bIns="59625" lIns="59625" spcFirstLastPara="1" rIns="59625" wrap="square" tIns="59625">
            <a:noAutofit/>
          </a:bodyPr>
          <a:lstStyle/>
          <a:p>
            <a:pPr indent="0" lvl="0" marL="0" marR="0" rtl="0" algn="l">
              <a:lnSpc>
                <a:spcPct val="100000"/>
              </a:lnSpc>
              <a:spcBef>
                <a:spcPts val="0"/>
              </a:spcBef>
              <a:spcAft>
                <a:spcPts val="0"/>
              </a:spcAft>
              <a:buClr>
                <a:srgbClr val="000000"/>
              </a:buClr>
              <a:buSzPts val="1400"/>
              <a:buFont typeface="Arial"/>
              <a:buNone/>
            </a:pPr>
            <a:r>
              <a:t/>
            </a:r>
            <a:endParaRPr i="0" sz="1300" u="none" cap="none" strike="noStrike">
              <a:solidFill>
                <a:srgbClr val="000000"/>
              </a:solidFill>
            </a:endParaRPr>
          </a:p>
        </p:txBody>
      </p:sp>
      <p:sp>
        <p:nvSpPr>
          <p:cNvPr id="527" name="Google Shape;527;p51"/>
          <p:cNvSpPr/>
          <p:nvPr/>
        </p:nvSpPr>
        <p:spPr>
          <a:xfrm>
            <a:off x="266547" y="1128338"/>
            <a:ext cx="2687148" cy="1989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443728"/>
              </a:buClr>
              <a:buSzPts val="1247"/>
              <a:buFont typeface="Crimson Pro"/>
              <a:buNone/>
            </a:pPr>
            <a:r>
              <a:rPr b="1" i="0" lang="en-GB" sz="1300" u="none" cap="none" strike="noStrike">
                <a:solidFill>
                  <a:srgbClr val="443728"/>
                </a:solidFill>
              </a:rPr>
              <a:t>Named Entity Extraction (NER)</a:t>
            </a:r>
            <a:endParaRPr i="0" sz="1300" u="none" cap="none" strike="noStrike">
              <a:solidFill>
                <a:srgbClr val="000000"/>
              </a:solidFill>
            </a:endParaRPr>
          </a:p>
        </p:txBody>
      </p:sp>
      <p:sp>
        <p:nvSpPr>
          <p:cNvPr id="528" name="Google Shape;528;p51"/>
          <p:cNvSpPr/>
          <p:nvPr/>
        </p:nvSpPr>
        <p:spPr>
          <a:xfrm>
            <a:off x="266551" y="1410338"/>
            <a:ext cx="4252533" cy="504900"/>
          </a:xfrm>
          <a:prstGeom prst="rect">
            <a:avLst/>
          </a:prstGeom>
          <a:noFill/>
          <a:ln>
            <a:noFill/>
          </a:ln>
        </p:spPr>
        <p:txBody>
          <a:bodyPr anchorCtr="0" anchor="t" bIns="0" lIns="0" spcFirstLastPara="1" rIns="0" wrap="square" tIns="0">
            <a:noAutofit/>
          </a:bodyPr>
          <a:lstStyle/>
          <a:p>
            <a:pPr indent="-311150" lvl="0" marL="457200" marR="0" rtl="0" algn="l">
              <a:lnSpc>
                <a:spcPct val="130434"/>
              </a:lnSpc>
              <a:spcBef>
                <a:spcPts val="0"/>
              </a:spcBef>
              <a:spcAft>
                <a:spcPts val="0"/>
              </a:spcAft>
              <a:buClr>
                <a:schemeClr val="dk1"/>
              </a:buClr>
              <a:buSzPts val="1300"/>
              <a:buChar char="●"/>
            </a:pPr>
            <a:r>
              <a:rPr lang="en-GB" sz="1300">
                <a:solidFill>
                  <a:schemeClr val="dk1"/>
                </a:solidFill>
              </a:rPr>
              <a:t>Extracts key entities that act as semantic anchors, capturing important actors driving narrative changes.</a:t>
            </a:r>
            <a:endParaRPr i="0" sz="1300" u="none" cap="none" strike="noStrike">
              <a:solidFill>
                <a:schemeClr val="dk1"/>
              </a:solidFill>
            </a:endParaRPr>
          </a:p>
        </p:txBody>
      </p:sp>
      <p:sp>
        <p:nvSpPr>
          <p:cNvPr id="529" name="Google Shape;529;p51"/>
          <p:cNvSpPr/>
          <p:nvPr/>
        </p:nvSpPr>
        <p:spPr>
          <a:xfrm>
            <a:off x="266549" y="2309663"/>
            <a:ext cx="3762806" cy="19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0"/>
              </a:spcAft>
              <a:buClr>
                <a:schemeClr val="dk1"/>
              </a:buClr>
              <a:buSzPts val="1100"/>
              <a:buFont typeface="Arial"/>
              <a:buNone/>
            </a:pPr>
            <a:r>
              <a:rPr b="1" i="0" lang="en-GB" sz="1300" u="none" cap="none" strike="noStrike">
                <a:solidFill>
                  <a:schemeClr val="dk1"/>
                </a:solidFill>
              </a:rPr>
              <a:t>Entity-Aware Representation</a:t>
            </a:r>
            <a:endParaRPr b="1" i="0" sz="1300" u="none" cap="none" strike="noStrike">
              <a:solidFill>
                <a:schemeClr val="dk1"/>
              </a:solidFill>
            </a:endParaRPr>
          </a:p>
          <a:p>
            <a:pPr indent="0" lvl="0" marL="0" marR="0" rtl="0" algn="l">
              <a:lnSpc>
                <a:spcPct val="124137"/>
              </a:lnSpc>
              <a:spcBef>
                <a:spcPts val="1200"/>
              </a:spcBef>
              <a:spcAft>
                <a:spcPts val="0"/>
              </a:spcAft>
              <a:buClr>
                <a:srgbClr val="443728"/>
              </a:buClr>
              <a:buSzPts val="1247"/>
              <a:buFont typeface="Crimson Pro"/>
              <a:buNone/>
            </a:pPr>
            <a:r>
              <a:t/>
            </a:r>
            <a:endParaRPr b="1" i="0" sz="1300" u="none" cap="none" strike="noStrike">
              <a:solidFill>
                <a:srgbClr val="443728"/>
              </a:solidFill>
            </a:endParaRPr>
          </a:p>
        </p:txBody>
      </p:sp>
      <p:sp>
        <p:nvSpPr>
          <p:cNvPr id="530" name="Google Shape;530;p51"/>
          <p:cNvSpPr/>
          <p:nvPr/>
        </p:nvSpPr>
        <p:spPr>
          <a:xfrm>
            <a:off x="266550" y="2591663"/>
            <a:ext cx="4093889" cy="504900"/>
          </a:xfrm>
          <a:prstGeom prst="rect">
            <a:avLst/>
          </a:prstGeom>
          <a:noFill/>
          <a:ln>
            <a:noFill/>
          </a:ln>
        </p:spPr>
        <p:txBody>
          <a:bodyPr anchorCtr="0" anchor="t" bIns="0" lIns="0" spcFirstLastPara="1" rIns="0" wrap="square" tIns="0">
            <a:noAutofit/>
          </a:bodyPr>
          <a:lstStyle/>
          <a:p>
            <a:pPr indent="-311150" lvl="0" marL="457200" marR="0" rtl="0" algn="l">
              <a:lnSpc>
                <a:spcPct val="130434"/>
              </a:lnSpc>
              <a:spcBef>
                <a:spcPts val="1200"/>
              </a:spcBef>
              <a:spcAft>
                <a:spcPts val="0"/>
              </a:spcAft>
              <a:buClr>
                <a:schemeClr val="dk1"/>
              </a:buClr>
              <a:buSzPts val="1300"/>
              <a:buChar char="●"/>
            </a:pPr>
            <a:r>
              <a:rPr lang="en-GB" sz="1300">
                <a:solidFill>
                  <a:schemeClr val="dk1"/>
                </a:solidFill>
              </a:rPr>
              <a:t>Combines sentence embeddings with entity information to enhance contextual understanding and distinction.</a:t>
            </a:r>
            <a:endParaRPr i="0" sz="1300" u="none" cap="none" strike="noStrike">
              <a:solidFill>
                <a:schemeClr val="dk1"/>
              </a:solidFill>
            </a:endParaRPr>
          </a:p>
        </p:txBody>
      </p:sp>
      <p:sp>
        <p:nvSpPr>
          <p:cNvPr id="531" name="Google Shape;531;p51"/>
          <p:cNvSpPr/>
          <p:nvPr/>
        </p:nvSpPr>
        <p:spPr>
          <a:xfrm>
            <a:off x="4784554" y="1159788"/>
            <a:ext cx="3560610" cy="1989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443728"/>
              </a:buClr>
              <a:buSzPts val="1247"/>
              <a:buFont typeface="Crimson Pro"/>
              <a:buNone/>
            </a:pPr>
            <a:r>
              <a:rPr b="1" i="0" lang="en-GB" sz="1300" u="none" cap="none" strike="noStrike">
                <a:solidFill>
                  <a:srgbClr val="443728"/>
                </a:solidFill>
              </a:rPr>
              <a:t>Improved Interpretability</a:t>
            </a:r>
            <a:endParaRPr i="0" sz="1300" u="none" cap="none" strike="noStrike">
              <a:solidFill>
                <a:srgbClr val="000000"/>
              </a:solidFill>
            </a:endParaRPr>
          </a:p>
        </p:txBody>
      </p:sp>
      <p:sp>
        <p:nvSpPr>
          <p:cNvPr id="532" name="Google Shape;532;p51"/>
          <p:cNvSpPr/>
          <p:nvPr/>
        </p:nvSpPr>
        <p:spPr>
          <a:xfrm>
            <a:off x="4784549" y="1441775"/>
            <a:ext cx="3494947" cy="504900"/>
          </a:xfrm>
          <a:prstGeom prst="rect">
            <a:avLst/>
          </a:prstGeom>
          <a:noFill/>
          <a:ln>
            <a:noFill/>
          </a:ln>
        </p:spPr>
        <p:txBody>
          <a:bodyPr anchorCtr="0" anchor="t" bIns="0" lIns="0" spcFirstLastPara="1" rIns="0" wrap="square" tIns="0">
            <a:noAutofit/>
          </a:bodyPr>
          <a:lstStyle/>
          <a:p>
            <a:pPr indent="-298450" lvl="0" marL="457200" rtl="0" algn="l">
              <a:lnSpc>
                <a:spcPct val="115000"/>
              </a:lnSpc>
              <a:spcBef>
                <a:spcPts val="1200"/>
              </a:spcBef>
              <a:spcAft>
                <a:spcPts val="0"/>
              </a:spcAft>
              <a:buClr>
                <a:schemeClr val="dk1"/>
              </a:buClr>
              <a:buSzPts val="1100"/>
              <a:buChar char="●"/>
            </a:pPr>
            <a:r>
              <a:rPr lang="en-GB" sz="1300">
                <a:solidFill>
                  <a:schemeClr val="dk1"/>
                </a:solidFill>
              </a:rPr>
              <a:t>Enables tracing which entities contribute to shifts, providing explainable insights into model decisions.</a:t>
            </a:r>
            <a:endParaRPr sz="1300">
              <a:solidFill>
                <a:schemeClr val="dk1"/>
              </a:solidFill>
            </a:endParaRPr>
          </a:p>
        </p:txBody>
      </p:sp>
      <p:sp>
        <p:nvSpPr>
          <p:cNvPr id="533" name="Google Shape;533;p51"/>
          <p:cNvSpPr/>
          <p:nvPr/>
        </p:nvSpPr>
        <p:spPr>
          <a:xfrm>
            <a:off x="4572050" y="1060646"/>
            <a:ext cx="88200" cy="2427000"/>
          </a:xfrm>
          <a:prstGeom prst="roundRect">
            <a:avLst>
              <a:gd fmla="val 0" name="adj"/>
            </a:avLst>
          </a:prstGeom>
          <a:solidFill>
            <a:srgbClr val="835E54"/>
          </a:solidFill>
          <a:ln>
            <a:noFill/>
          </a:ln>
        </p:spPr>
        <p:txBody>
          <a:bodyPr anchorCtr="0" anchor="ctr" bIns="64050" lIns="64050" spcFirstLastPara="1" rIns="64050" wrap="square" tIns="64050">
            <a:noAutofit/>
          </a:bodyPr>
          <a:lstStyle/>
          <a:p>
            <a:pPr indent="0" lvl="0" marL="0" marR="0" rtl="0" algn="l">
              <a:lnSpc>
                <a:spcPct val="100000"/>
              </a:lnSpc>
              <a:spcBef>
                <a:spcPts val="0"/>
              </a:spcBef>
              <a:spcAft>
                <a:spcPts val="0"/>
              </a:spcAft>
              <a:buClr>
                <a:srgbClr val="000000"/>
              </a:buClr>
              <a:buSzPts val="1400"/>
              <a:buFont typeface="Arial"/>
              <a:buNone/>
            </a:pPr>
            <a:r>
              <a:t/>
            </a:r>
            <a:endParaRPr i="0" sz="1300" u="none" cap="none" strike="noStrike">
              <a:solidFill>
                <a:srgbClr val="00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27"/>
                                        </p:tgtEl>
                                        <p:attrNameLst>
                                          <p:attrName>style.visibility</p:attrName>
                                        </p:attrNameLst>
                                      </p:cBhvr>
                                      <p:to>
                                        <p:strVal val="visible"/>
                                      </p:to>
                                    </p:set>
                                    <p:animEffect filter="fade" transition="in">
                                      <p:cBhvr>
                                        <p:cTn dur="1000"/>
                                        <p:tgtEl>
                                          <p:spTgt spid="527"/>
                                        </p:tgtEl>
                                      </p:cBhvr>
                                    </p:animEffect>
                                  </p:childTnLst>
                                </p:cTn>
                              </p:par>
                              <p:par>
                                <p:cTn fill="hold" nodeType="withEffect" presetClass="entr" presetID="2" presetSubtype="4">
                                  <p:stCondLst>
                                    <p:cond delay="0"/>
                                  </p:stCondLst>
                                  <p:childTnLst>
                                    <p:set>
                                      <p:cBhvr>
                                        <p:cTn dur="1" fill="hold">
                                          <p:stCondLst>
                                            <p:cond delay="0"/>
                                          </p:stCondLst>
                                        </p:cTn>
                                        <p:tgtEl>
                                          <p:spTgt spid="528"/>
                                        </p:tgtEl>
                                        <p:attrNameLst>
                                          <p:attrName>style.visibility</p:attrName>
                                        </p:attrNameLst>
                                      </p:cBhvr>
                                      <p:to>
                                        <p:strVal val="visible"/>
                                      </p:to>
                                    </p:set>
                                    <p:anim calcmode="lin" valueType="num">
                                      <p:cBhvr additive="base">
                                        <p:cTn dur="1000"/>
                                        <p:tgtEl>
                                          <p:spTgt spid="52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9"/>
                                        </p:tgtEl>
                                        <p:attrNameLst>
                                          <p:attrName>style.visibility</p:attrName>
                                        </p:attrNameLst>
                                      </p:cBhvr>
                                      <p:to>
                                        <p:strVal val="visible"/>
                                      </p:to>
                                    </p:set>
                                    <p:animEffect filter="fade" transition="in">
                                      <p:cBhvr>
                                        <p:cTn dur="1000"/>
                                        <p:tgtEl>
                                          <p:spTgt spid="529"/>
                                        </p:tgtEl>
                                      </p:cBhvr>
                                    </p:animEffect>
                                  </p:childTnLst>
                                </p:cTn>
                              </p:par>
                              <p:par>
                                <p:cTn fill="hold" nodeType="withEffect" presetClass="entr" presetID="2" presetSubtype="4">
                                  <p:stCondLst>
                                    <p:cond delay="0"/>
                                  </p:stCondLst>
                                  <p:childTnLst>
                                    <p:set>
                                      <p:cBhvr>
                                        <p:cTn dur="1" fill="hold">
                                          <p:stCondLst>
                                            <p:cond delay="0"/>
                                          </p:stCondLst>
                                        </p:cTn>
                                        <p:tgtEl>
                                          <p:spTgt spid="530"/>
                                        </p:tgtEl>
                                        <p:attrNameLst>
                                          <p:attrName>style.visibility</p:attrName>
                                        </p:attrNameLst>
                                      </p:cBhvr>
                                      <p:to>
                                        <p:strVal val="visible"/>
                                      </p:to>
                                    </p:set>
                                    <p:anim calcmode="lin" valueType="num">
                                      <p:cBhvr additive="base">
                                        <p:cTn dur="1000"/>
                                        <p:tgtEl>
                                          <p:spTgt spid="53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1"/>
                                        </p:tgtEl>
                                        <p:attrNameLst>
                                          <p:attrName>style.visibility</p:attrName>
                                        </p:attrNameLst>
                                      </p:cBhvr>
                                      <p:to>
                                        <p:strVal val="visible"/>
                                      </p:to>
                                    </p:set>
                                    <p:animEffect filter="fade" transition="in">
                                      <p:cBhvr>
                                        <p:cTn dur="1000"/>
                                        <p:tgtEl>
                                          <p:spTgt spid="531"/>
                                        </p:tgtEl>
                                      </p:cBhvr>
                                    </p:animEffect>
                                  </p:childTnLst>
                                </p:cTn>
                              </p:par>
                              <p:par>
                                <p:cTn fill="hold" nodeType="withEffect" presetClass="entr" presetID="2" presetSubtype="4">
                                  <p:stCondLst>
                                    <p:cond delay="0"/>
                                  </p:stCondLst>
                                  <p:childTnLst>
                                    <p:set>
                                      <p:cBhvr>
                                        <p:cTn dur="1" fill="hold">
                                          <p:stCondLst>
                                            <p:cond delay="0"/>
                                          </p:stCondLst>
                                        </p:cTn>
                                        <p:tgtEl>
                                          <p:spTgt spid="532"/>
                                        </p:tgtEl>
                                        <p:attrNameLst>
                                          <p:attrName>style.visibility</p:attrName>
                                        </p:attrNameLst>
                                      </p:cBhvr>
                                      <p:to>
                                        <p:strVal val="visible"/>
                                      </p:to>
                                    </p:set>
                                    <p:anim calcmode="lin" valueType="num">
                                      <p:cBhvr additive="base">
                                        <p:cTn dur="1000"/>
                                        <p:tgtEl>
                                          <p:spTgt spid="53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52"/>
          <p:cNvSpPr/>
          <p:nvPr/>
        </p:nvSpPr>
        <p:spPr>
          <a:xfrm>
            <a:off x="677625" y="384879"/>
            <a:ext cx="4539000" cy="398100"/>
          </a:xfrm>
          <a:prstGeom prst="rect">
            <a:avLst/>
          </a:prstGeom>
          <a:noFill/>
          <a:ln>
            <a:noFill/>
          </a:ln>
        </p:spPr>
        <p:txBody>
          <a:bodyPr anchorCtr="0" anchor="t" bIns="0" lIns="0" spcFirstLastPara="1" rIns="0" wrap="square" tIns="0">
            <a:noAutofit/>
          </a:bodyPr>
          <a:lstStyle/>
          <a:p>
            <a:pPr indent="0" lvl="0" marL="0" marR="0" rtl="0" algn="l">
              <a:lnSpc>
                <a:spcPct val="124615"/>
              </a:lnSpc>
              <a:spcBef>
                <a:spcPts val="0"/>
              </a:spcBef>
              <a:spcAft>
                <a:spcPts val="0"/>
              </a:spcAft>
              <a:buClr>
                <a:srgbClr val="443728"/>
              </a:buClr>
              <a:buSzPts val="3250"/>
              <a:buFont typeface="Crimson Pro"/>
              <a:buNone/>
            </a:pPr>
            <a:r>
              <a:rPr b="1" i="0" lang="en-GB" sz="2750" u="none" cap="none" strike="noStrike">
                <a:solidFill>
                  <a:srgbClr val="443728"/>
                </a:solidFill>
              </a:rPr>
              <a:t>Entity Awareness</a:t>
            </a:r>
            <a:endParaRPr i="0" sz="2450" u="none" cap="none" strike="noStrike">
              <a:solidFill>
                <a:schemeClr val="dk1"/>
              </a:solidFill>
            </a:endParaRPr>
          </a:p>
          <a:p>
            <a:pPr indent="0" lvl="0" marL="0" marR="0" rtl="0" algn="l">
              <a:lnSpc>
                <a:spcPct val="124637"/>
              </a:lnSpc>
              <a:spcBef>
                <a:spcPts val="0"/>
              </a:spcBef>
              <a:spcAft>
                <a:spcPts val="0"/>
              </a:spcAft>
              <a:buClr>
                <a:srgbClr val="443728"/>
              </a:buClr>
              <a:buSzPts val="3450"/>
              <a:buFont typeface="Crimson Pro"/>
              <a:buNone/>
            </a:pPr>
            <a:r>
              <a:t/>
            </a:r>
            <a:endParaRPr b="1" i="0" sz="2300" u="none" cap="none" strike="noStrike">
              <a:solidFill>
                <a:srgbClr val="443728"/>
              </a:solidFill>
            </a:endParaRPr>
          </a:p>
          <a:p>
            <a:pPr indent="0" lvl="0" marL="0" marR="0" rtl="0" algn="l">
              <a:lnSpc>
                <a:spcPct val="125333"/>
              </a:lnSpc>
              <a:spcBef>
                <a:spcPts val="0"/>
              </a:spcBef>
              <a:spcAft>
                <a:spcPts val="0"/>
              </a:spcAft>
              <a:buClr>
                <a:srgbClr val="443728"/>
              </a:buClr>
              <a:buSzPts val="3750"/>
              <a:buFont typeface="Crimson Pro"/>
              <a:buNone/>
            </a:pPr>
            <a:r>
              <a:t/>
            </a:r>
            <a:endParaRPr b="1" i="0" sz="2300" u="none" cap="none" strike="noStrike">
              <a:solidFill>
                <a:srgbClr val="443728"/>
              </a:solidFill>
            </a:endParaRPr>
          </a:p>
        </p:txBody>
      </p:sp>
      <p:sp>
        <p:nvSpPr>
          <p:cNvPr id="539" name="Google Shape;539;p52"/>
          <p:cNvSpPr/>
          <p:nvPr/>
        </p:nvSpPr>
        <p:spPr>
          <a:xfrm>
            <a:off x="81925" y="74650"/>
            <a:ext cx="1377000" cy="288600"/>
          </a:xfrm>
          <a:prstGeom prst="roundRect">
            <a:avLst>
              <a:gd fmla="val 18064" name="adj"/>
            </a:avLst>
          </a:prstGeom>
          <a:noFill/>
          <a:ln cap="flat" cmpd="sng" w="9525">
            <a:solidFill>
              <a:srgbClr val="835E5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52"/>
          <p:cNvSpPr/>
          <p:nvPr/>
        </p:nvSpPr>
        <p:spPr>
          <a:xfrm>
            <a:off x="225618" y="127293"/>
            <a:ext cx="1089600" cy="183300"/>
          </a:xfrm>
          <a:prstGeom prst="rect">
            <a:avLst/>
          </a:prstGeom>
          <a:noFill/>
          <a:ln>
            <a:noFill/>
          </a:ln>
        </p:spPr>
        <p:txBody>
          <a:bodyPr anchorCtr="0" anchor="t" bIns="0" lIns="0" spcFirstLastPara="1" rIns="0" wrap="square" tIns="0">
            <a:noAutofit/>
          </a:bodyPr>
          <a:lstStyle/>
          <a:p>
            <a:pPr indent="0" lvl="0" marL="0" marR="0" rtl="0" algn="l">
              <a:lnSpc>
                <a:spcPct val="145833"/>
              </a:lnSpc>
              <a:spcBef>
                <a:spcPts val="0"/>
              </a:spcBef>
              <a:spcAft>
                <a:spcPts val="0"/>
              </a:spcAft>
              <a:buClr>
                <a:srgbClr val="835E54"/>
              </a:buClr>
              <a:buSzPts val="1200"/>
              <a:buFont typeface="Open Sans"/>
              <a:buNone/>
            </a:pPr>
            <a:r>
              <a:rPr b="0" i="0" lang="en-GB" sz="1200" u="none" cap="none" strike="noStrike">
                <a:solidFill>
                  <a:srgbClr val="835E54"/>
                </a:solidFill>
                <a:latin typeface="Open Sans"/>
                <a:ea typeface="Open Sans"/>
                <a:cs typeface="Open Sans"/>
                <a:sym typeface="Open Sans"/>
              </a:rPr>
              <a:t>APPROACH 5</a:t>
            </a:r>
            <a:endParaRPr b="0" i="0" sz="1200" u="none" cap="none" strike="noStrike">
              <a:solidFill>
                <a:srgbClr val="000000"/>
              </a:solidFill>
              <a:latin typeface="Arial"/>
              <a:ea typeface="Arial"/>
              <a:cs typeface="Arial"/>
              <a:sym typeface="Arial"/>
            </a:endParaRPr>
          </a:p>
        </p:txBody>
      </p:sp>
      <p:pic>
        <p:nvPicPr>
          <p:cNvPr id="541" name="Google Shape;541;p52" title="approch_5_ner_based_high_level.jpeg"/>
          <p:cNvPicPr preferRelativeResize="0"/>
          <p:nvPr/>
        </p:nvPicPr>
        <p:blipFill>
          <a:blip r:embed="rId3">
            <a:alphaModFix/>
          </a:blip>
          <a:stretch>
            <a:fillRect/>
          </a:stretch>
        </p:blipFill>
        <p:spPr>
          <a:xfrm>
            <a:off x="1555525" y="891175"/>
            <a:ext cx="6032950" cy="4099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41"/>
                                        </p:tgtEl>
                                        <p:attrNameLst>
                                          <p:attrName>style.visibility</p:attrName>
                                        </p:attrNameLst>
                                      </p:cBhvr>
                                      <p:to>
                                        <p:strVal val="visible"/>
                                      </p:to>
                                    </p:set>
                                    <p:animEffect filter="fade" transition="in">
                                      <p:cBhvr>
                                        <p:cTn dur="1000"/>
                                        <p:tgtEl>
                                          <p:spTgt spid="5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53"/>
          <p:cNvSpPr/>
          <p:nvPr/>
        </p:nvSpPr>
        <p:spPr>
          <a:xfrm>
            <a:off x="669900" y="598388"/>
            <a:ext cx="5498400" cy="398100"/>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443728"/>
              </a:buClr>
              <a:buSzPts val="2500"/>
              <a:buFont typeface="Crimson Pro"/>
              <a:buNone/>
            </a:pPr>
            <a:r>
              <a:rPr b="1" i="0" lang="en-GB" sz="2500" u="none" cap="none" strike="noStrike">
                <a:solidFill>
                  <a:srgbClr val="443728"/>
                </a:solidFill>
              </a:rPr>
              <a:t>Limitations of Approach </a:t>
            </a:r>
            <a:r>
              <a:rPr b="1" lang="en-GB" sz="2500">
                <a:solidFill>
                  <a:srgbClr val="443728"/>
                </a:solidFill>
              </a:rPr>
              <a:t>5</a:t>
            </a:r>
            <a:endParaRPr i="0" sz="2500" u="none" cap="none" strike="noStrike">
              <a:solidFill>
                <a:schemeClr val="dk1"/>
              </a:solidFill>
            </a:endParaRPr>
          </a:p>
          <a:p>
            <a:pPr indent="0" lvl="0" marL="0" marR="0" rtl="0" algn="l">
              <a:lnSpc>
                <a:spcPct val="125333"/>
              </a:lnSpc>
              <a:spcBef>
                <a:spcPts val="0"/>
              </a:spcBef>
              <a:spcAft>
                <a:spcPts val="0"/>
              </a:spcAft>
              <a:buClr>
                <a:srgbClr val="443728"/>
              </a:buClr>
              <a:buSzPts val="3750"/>
              <a:buFont typeface="Crimson Pro"/>
              <a:buNone/>
            </a:pPr>
            <a:r>
              <a:t/>
            </a:r>
            <a:endParaRPr b="1" i="0" sz="2500" u="none" cap="none" strike="noStrike">
              <a:solidFill>
                <a:srgbClr val="443728"/>
              </a:solidFill>
            </a:endParaRPr>
          </a:p>
        </p:txBody>
      </p:sp>
      <p:sp>
        <p:nvSpPr>
          <p:cNvPr id="547" name="Google Shape;547;p53"/>
          <p:cNvSpPr/>
          <p:nvPr/>
        </p:nvSpPr>
        <p:spPr>
          <a:xfrm>
            <a:off x="81925" y="74650"/>
            <a:ext cx="1377000" cy="288600"/>
          </a:xfrm>
          <a:prstGeom prst="roundRect">
            <a:avLst>
              <a:gd fmla="val 18064" name="adj"/>
            </a:avLst>
          </a:prstGeom>
          <a:noFill/>
          <a:ln cap="flat" cmpd="sng" w="9525">
            <a:solidFill>
              <a:srgbClr val="835E5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53"/>
          <p:cNvSpPr/>
          <p:nvPr/>
        </p:nvSpPr>
        <p:spPr>
          <a:xfrm>
            <a:off x="225618" y="127293"/>
            <a:ext cx="1089600" cy="183300"/>
          </a:xfrm>
          <a:prstGeom prst="rect">
            <a:avLst/>
          </a:prstGeom>
          <a:noFill/>
          <a:ln>
            <a:noFill/>
          </a:ln>
        </p:spPr>
        <p:txBody>
          <a:bodyPr anchorCtr="0" anchor="t" bIns="0" lIns="0" spcFirstLastPara="1" rIns="0" wrap="square" tIns="0">
            <a:noAutofit/>
          </a:bodyPr>
          <a:lstStyle/>
          <a:p>
            <a:pPr indent="0" lvl="0" marL="0" marR="0" rtl="0" algn="l">
              <a:lnSpc>
                <a:spcPct val="145833"/>
              </a:lnSpc>
              <a:spcBef>
                <a:spcPts val="0"/>
              </a:spcBef>
              <a:spcAft>
                <a:spcPts val="0"/>
              </a:spcAft>
              <a:buClr>
                <a:srgbClr val="835E54"/>
              </a:buClr>
              <a:buSzPts val="1200"/>
              <a:buFont typeface="Open Sans"/>
              <a:buNone/>
            </a:pPr>
            <a:r>
              <a:rPr b="0" i="0" lang="en-GB" sz="1200" u="none" cap="none" strike="noStrike">
                <a:solidFill>
                  <a:srgbClr val="835E54"/>
                </a:solidFill>
                <a:latin typeface="Open Sans"/>
                <a:ea typeface="Open Sans"/>
                <a:cs typeface="Open Sans"/>
                <a:sym typeface="Open Sans"/>
              </a:rPr>
              <a:t>APPROACH </a:t>
            </a:r>
            <a:r>
              <a:rPr lang="en-GB" sz="1200">
                <a:solidFill>
                  <a:srgbClr val="835E54"/>
                </a:solidFill>
                <a:latin typeface="Open Sans"/>
                <a:ea typeface="Open Sans"/>
                <a:cs typeface="Open Sans"/>
                <a:sym typeface="Open Sans"/>
              </a:rPr>
              <a:t>5</a:t>
            </a:r>
            <a:endParaRPr b="0" i="0" sz="1200" u="none" cap="none" strike="noStrike">
              <a:solidFill>
                <a:srgbClr val="000000"/>
              </a:solidFill>
              <a:latin typeface="Arial"/>
              <a:ea typeface="Arial"/>
              <a:cs typeface="Arial"/>
              <a:sym typeface="Arial"/>
            </a:endParaRPr>
          </a:p>
        </p:txBody>
      </p:sp>
      <p:sp>
        <p:nvSpPr>
          <p:cNvPr id="549" name="Google Shape;549;p53"/>
          <p:cNvSpPr/>
          <p:nvPr/>
        </p:nvSpPr>
        <p:spPr>
          <a:xfrm>
            <a:off x="106900" y="1231638"/>
            <a:ext cx="8930100" cy="3193200"/>
          </a:xfrm>
          <a:prstGeom prst="roundRect">
            <a:avLst>
              <a:gd fmla="val 4702" name="adj"/>
            </a:avLst>
          </a:prstGeom>
          <a:solidFill>
            <a:srgbClr val="EBE2E0"/>
          </a:solidFill>
          <a:ln cap="flat" cmpd="sng" w="9525">
            <a:solidFill>
              <a:srgbClr val="D1C8C6"/>
            </a:solidFill>
            <a:prstDash val="solid"/>
            <a:round/>
            <a:headEnd len="sm" w="sm" type="none"/>
            <a:tailEnd len="sm" w="sm" type="none"/>
          </a:ln>
        </p:spPr>
        <p:txBody>
          <a:bodyPr anchorCtr="0" anchor="ctr" bIns="59625" lIns="59625" spcFirstLastPara="1" rIns="59625" wrap="square" tIns="596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53"/>
          <p:cNvSpPr/>
          <p:nvPr/>
        </p:nvSpPr>
        <p:spPr>
          <a:xfrm>
            <a:off x="266507" y="1299349"/>
            <a:ext cx="1925874" cy="1989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443728"/>
              </a:buClr>
              <a:buSzPts val="1247"/>
              <a:buFont typeface="Crimson Pro"/>
              <a:buNone/>
            </a:pPr>
            <a:r>
              <a:rPr b="1" lang="en-GB" sz="1347">
                <a:solidFill>
                  <a:srgbClr val="443728"/>
                </a:solidFill>
              </a:rPr>
              <a:t>Multi-Loss Balancing</a:t>
            </a:r>
            <a:endParaRPr i="0" sz="1347" u="none" cap="none" strike="noStrike">
              <a:solidFill>
                <a:srgbClr val="000000"/>
              </a:solidFill>
            </a:endParaRPr>
          </a:p>
        </p:txBody>
      </p:sp>
      <p:sp>
        <p:nvSpPr>
          <p:cNvPr id="551" name="Google Shape;551;p53"/>
          <p:cNvSpPr/>
          <p:nvPr/>
        </p:nvSpPr>
        <p:spPr>
          <a:xfrm>
            <a:off x="266500" y="1581338"/>
            <a:ext cx="4252533" cy="504900"/>
          </a:xfrm>
          <a:prstGeom prst="rect">
            <a:avLst/>
          </a:prstGeom>
          <a:noFill/>
          <a:ln>
            <a:noFill/>
          </a:ln>
        </p:spPr>
        <p:txBody>
          <a:bodyPr anchorCtr="0" anchor="t" bIns="0" lIns="0" spcFirstLastPara="1" rIns="0" wrap="square" tIns="0">
            <a:noAutofit/>
          </a:bodyPr>
          <a:lstStyle/>
          <a:p>
            <a:pPr indent="-298450" lvl="0" marL="457200" marR="0" rtl="0" algn="l">
              <a:lnSpc>
                <a:spcPct val="130434"/>
              </a:lnSpc>
              <a:spcBef>
                <a:spcPts val="0"/>
              </a:spcBef>
              <a:spcAft>
                <a:spcPts val="0"/>
              </a:spcAft>
              <a:buClr>
                <a:schemeClr val="dk1"/>
              </a:buClr>
              <a:buSzPts val="1100"/>
              <a:buChar char="●"/>
            </a:pPr>
            <a:r>
              <a:rPr lang="en-GB" sz="1100">
                <a:solidFill>
                  <a:schemeClr val="dk1"/>
                </a:solidFill>
              </a:rPr>
              <a:t>Multiple loss functions create competing objectives, making weight tuning difficult and affecting overall performance.</a:t>
            </a:r>
            <a:endParaRPr b="0" i="0" sz="1100" u="none" cap="none" strike="noStrike">
              <a:solidFill>
                <a:schemeClr val="dk1"/>
              </a:solidFill>
              <a:latin typeface="Arial"/>
              <a:ea typeface="Arial"/>
              <a:cs typeface="Arial"/>
              <a:sym typeface="Arial"/>
            </a:endParaRPr>
          </a:p>
        </p:txBody>
      </p:sp>
      <p:sp>
        <p:nvSpPr>
          <p:cNvPr id="552" name="Google Shape;552;p53"/>
          <p:cNvSpPr/>
          <p:nvPr/>
        </p:nvSpPr>
        <p:spPr>
          <a:xfrm>
            <a:off x="266499" y="2426838"/>
            <a:ext cx="3762806" cy="19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0"/>
              </a:spcAft>
              <a:buClr>
                <a:schemeClr val="dk1"/>
              </a:buClr>
              <a:buSzPts val="1100"/>
              <a:buFont typeface="Arial"/>
              <a:buNone/>
            </a:pPr>
            <a:r>
              <a:rPr b="1" lang="en-GB" sz="1300">
                <a:solidFill>
                  <a:schemeClr val="dk1"/>
                </a:solidFill>
              </a:rPr>
              <a:t>Training Instability</a:t>
            </a:r>
            <a:endParaRPr b="1" i="0" sz="1300" u="none" cap="none" strike="noStrike">
              <a:solidFill>
                <a:schemeClr val="dk1"/>
              </a:solidFill>
            </a:endParaRPr>
          </a:p>
          <a:p>
            <a:pPr indent="0" lvl="0" marL="0" marR="0" rtl="0" algn="l">
              <a:lnSpc>
                <a:spcPct val="124137"/>
              </a:lnSpc>
              <a:spcBef>
                <a:spcPts val="1200"/>
              </a:spcBef>
              <a:spcAft>
                <a:spcPts val="0"/>
              </a:spcAft>
              <a:buClr>
                <a:srgbClr val="443728"/>
              </a:buClr>
              <a:buSzPts val="1247"/>
              <a:buFont typeface="Crimson Pro"/>
              <a:buNone/>
            </a:pPr>
            <a:r>
              <a:t/>
            </a:r>
            <a:endParaRPr b="1" i="0" sz="1347" u="none" cap="none" strike="noStrike">
              <a:solidFill>
                <a:srgbClr val="443728"/>
              </a:solidFill>
              <a:latin typeface="Crimson Pro"/>
              <a:ea typeface="Crimson Pro"/>
              <a:cs typeface="Crimson Pro"/>
              <a:sym typeface="Crimson Pro"/>
            </a:endParaRPr>
          </a:p>
        </p:txBody>
      </p:sp>
      <p:sp>
        <p:nvSpPr>
          <p:cNvPr id="553" name="Google Shape;553;p53"/>
          <p:cNvSpPr/>
          <p:nvPr/>
        </p:nvSpPr>
        <p:spPr>
          <a:xfrm>
            <a:off x="266500" y="2708838"/>
            <a:ext cx="4093889" cy="504900"/>
          </a:xfrm>
          <a:prstGeom prst="rect">
            <a:avLst/>
          </a:prstGeom>
          <a:noFill/>
          <a:ln>
            <a:noFill/>
          </a:ln>
        </p:spPr>
        <p:txBody>
          <a:bodyPr anchorCtr="0" anchor="t" bIns="0" lIns="0" spcFirstLastPara="1" rIns="0" wrap="square" tIns="0">
            <a:noAutofit/>
          </a:bodyPr>
          <a:lstStyle/>
          <a:p>
            <a:pPr indent="-298450" lvl="0" marL="457200" marR="0" rtl="0" algn="l">
              <a:lnSpc>
                <a:spcPct val="130434"/>
              </a:lnSpc>
              <a:spcBef>
                <a:spcPts val="1200"/>
              </a:spcBef>
              <a:spcAft>
                <a:spcPts val="0"/>
              </a:spcAft>
              <a:buClr>
                <a:schemeClr val="dk1"/>
              </a:buClr>
              <a:buSzPts val="1100"/>
              <a:buChar char="●"/>
            </a:pPr>
            <a:r>
              <a:rPr lang="en-GB" sz="1100">
                <a:solidFill>
                  <a:schemeClr val="dk1"/>
                </a:solidFill>
              </a:rPr>
              <a:t>Conflicting gradients from different losses lead to unstable training and convergence issues.</a:t>
            </a:r>
            <a:endParaRPr b="0" i="0" sz="1100" u="none" cap="none" strike="noStrike">
              <a:solidFill>
                <a:schemeClr val="dk1"/>
              </a:solidFill>
              <a:latin typeface="Arial"/>
              <a:ea typeface="Arial"/>
              <a:cs typeface="Arial"/>
              <a:sym typeface="Arial"/>
            </a:endParaRPr>
          </a:p>
        </p:txBody>
      </p:sp>
      <p:sp>
        <p:nvSpPr>
          <p:cNvPr id="554" name="Google Shape;554;p53"/>
          <p:cNvSpPr/>
          <p:nvPr/>
        </p:nvSpPr>
        <p:spPr>
          <a:xfrm>
            <a:off x="266491" y="3459768"/>
            <a:ext cx="2485446" cy="19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1" lang="en-GB" sz="1300">
                <a:solidFill>
                  <a:schemeClr val="dk1"/>
                </a:solidFill>
              </a:rPr>
              <a:t>Further Optimization Needed</a:t>
            </a:r>
            <a:endParaRPr b="1" i="0" sz="1300" u="none" cap="none" strike="noStrike">
              <a:solidFill>
                <a:srgbClr val="443728"/>
              </a:solidFill>
            </a:endParaRPr>
          </a:p>
        </p:txBody>
      </p:sp>
      <p:sp>
        <p:nvSpPr>
          <p:cNvPr id="555" name="Google Shape;555;p53"/>
          <p:cNvSpPr/>
          <p:nvPr/>
        </p:nvSpPr>
        <p:spPr>
          <a:xfrm>
            <a:off x="266499" y="3741737"/>
            <a:ext cx="4147719" cy="504900"/>
          </a:xfrm>
          <a:prstGeom prst="rect">
            <a:avLst/>
          </a:prstGeom>
          <a:noFill/>
          <a:ln>
            <a:noFill/>
          </a:ln>
        </p:spPr>
        <p:txBody>
          <a:bodyPr anchorCtr="0" anchor="t" bIns="0" lIns="0" spcFirstLastPara="1" rIns="0" wrap="square" tIns="0">
            <a:noAutofit/>
          </a:bodyPr>
          <a:lstStyle/>
          <a:p>
            <a:pPr indent="-298450" lvl="0" marL="457200" marR="0" rtl="0" algn="l">
              <a:lnSpc>
                <a:spcPct val="130434"/>
              </a:lnSpc>
              <a:spcBef>
                <a:spcPts val="0"/>
              </a:spcBef>
              <a:spcAft>
                <a:spcPts val="0"/>
              </a:spcAft>
              <a:buClr>
                <a:schemeClr val="dk1"/>
              </a:buClr>
              <a:buSzPts val="1100"/>
              <a:buChar char="●"/>
            </a:pPr>
            <a:r>
              <a:rPr lang="en-GB" sz="1100">
                <a:solidFill>
                  <a:schemeClr val="dk1"/>
                </a:solidFill>
              </a:rPr>
              <a:t>Requires additional tuning and better integration of entity and semantic signals for optimal performance.</a:t>
            </a:r>
            <a:endParaRPr b="0" i="0" sz="1100" u="none" cap="none" strike="noStrike">
              <a:solidFill>
                <a:schemeClr val="dk1"/>
              </a:solidFill>
              <a:latin typeface="Arial"/>
              <a:ea typeface="Arial"/>
              <a:cs typeface="Arial"/>
              <a:sym typeface="Arial"/>
            </a:endParaRPr>
          </a:p>
        </p:txBody>
      </p:sp>
      <p:sp>
        <p:nvSpPr>
          <p:cNvPr id="556" name="Google Shape;556;p53"/>
          <p:cNvSpPr/>
          <p:nvPr/>
        </p:nvSpPr>
        <p:spPr>
          <a:xfrm>
            <a:off x="4784503" y="1299350"/>
            <a:ext cx="3013704" cy="1989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443728"/>
              </a:buClr>
              <a:buSzPts val="1247"/>
              <a:buFont typeface="Crimson Pro"/>
              <a:buNone/>
            </a:pPr>
            <a:r>
              <a:rPr b="1" lang="en-GB" sz="1347">
                <a:solidFill>
                  <a:srgbClr val="443728"/>
                </a:solidFill>
              </a:rPr>
              <a:t>Increased Computational Cost</a:t>
            </a:r>
            <a:endParaRPr i="0" sz="1347" u="none" cap="none" strike="noStrike">
              <a:solidFill>
                <a:srgbClr val="000000"/>
              </a:solidFill>
            </a:endParaRPr>
          </a:p>
        </p:txBody>
      </p:sp>
      <p:sp>
        <p:nvSpPr>
          <p:cNvPr id="557" name="Google Shape;557;p53"/>
          <p:cNvSpPr/>
          <p:nvPr/>
        </p:nvSpPr>
        <p:spPr>
          <a:xfrm>
            <a:off x="4784499" y="1581337"/>
            <a:ext cx="3494947" cy="504900"/>
          </a:xfrm>
          <a:prstGeom prst="rect">
            <a:avLst/>
          </a:prstGeom>
          <a:noFill/>
          <a:ln>
            <a:noFill/>
          </a:ln>
        </p:spPr>
        <p:txBody>
          <a:bodyPr anchorCtr="0" anchor="t" bIns="0" lIns="0" spcFirstLastPara="1" rIns="0" wrap="square" tIns="0">
            <a:noAutofit/>
          </a:bodyPr>
          <a:lstStyle/>
          <a:p>
            <a:pPr indent="-298450" lvl="0" marL="457200" rtl="0" algn="l">
              <a:lnSpc>
                <a:spcPct val="115000"/>
              </a:lnSpc>
              <a:spcBef>
                <a:spcPts val="1200"/>
              </a:spcBef>
              <a:spcAft>
                <a:spcPts val="0"/>
              </a:spcAft>
              <a:buClr>
                <a:schemeClr val="dk1"/>
              </a:buClr>
              <a:buSzPts val="1100"/>
              <a:buChar char="●"/>
            </a:pPr>
            <a:r>
              <a:rPr lang="en-GB" sz="1100">
                <a:solidFill>
                  <a:schemeClr val="dk1"/>
                </a:solidFill>
              </a:rPr>
              <a:t>Multi-loss training and NER processing increase computation time and reduce efficiency.</a:t>
            </a:r>
            <a:endParaRPr sz="1100">
              <a:solidFill>
                <a:schemeClr val="dk1"/>
              </a:solidFill>
            </a:endParaRPr>
          </a:p>
        </p:txBody>
      </p:sp>
      <p:sp>
        <p:nvSpPr>
          <p:cNvPr id="558" name="Google Shape;558;p53"/>
          <p:cNvSpPr/>
          <p:nvPr/>
        </p:nvSpPr>
        <p:spPr>
          <a:xfrm>
            <a:off x="4784529" y="2375213"/>
            <a:ext cx="3183600" cy="19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1" lang="en-GB" sz="1300">
                <a:solidFill>
                  <a:schemeClr val="dk1"/>
                </a:solidFill>
              </a:rPr>
              <a:t>Dependency on NER Quality</a:t>
            </a:r>
            <a:endParaRPr b="1" i="0" sz="1300" u="none" cap="none" strike="noStrike">
              <a:solidFill>
                <a:srgbClr val="443728"/>
              </a:solidFill>
            </a:endParaRPr>
          </a:p>
        </p:txBody>
      </p:sp>
      <p:sp>
        <p:nvSpPr>
          <p:cNvPr id="559" name="Google Shape;559;p53"/>
          <p:cNvSpPr/>
          <p:nvPr/>
        </p:nvSpPr>
        <p:spPr>
          <a:xfrm>
            <a:off x="4784497" y="2657213"/>
            <a:ext cx="4252500" cy="504900"/>
          </a:xfrm>
          <a:prstGeom prst="rect">
            <a:avLst/>
          </a:prstGeom>
          <a:noFill/>
          <a:ln>
            <a:noFill/>
          </a:ln>
        </p:spPr>
        <p:txBody>
          <a:bodyPr anchorCtr="0" anchor="t" bIns="0" lIns="0" spcFirstLastPara="1" rIns="0" wrap="square" tIns="0">
            <a:noAutofit/>
          </a:bodyPr>
          <a:lstStyle/>
          <a:p>
            <a:pPr indent="-298450" lvl="0" marL="457200" rtl="0" algn="l">
              <a:lnSpc>
                <a:spcPct val="115000"/>
              </a:lnSpc>
              <a:spcBef>
                <a:spcPts val="1200"/>
              </a:spcBef>
              <a:spcAft>
                <a:spcPts val="0"/>
              </a:spcAft>
              <a:buClr>
                <a:schemeClr val="dk1"/>
              </a:buClr>
              <a:buSzPts val="1100"/>
              <a:buChar char="●"/>
            </a:pPr>
            <a:r>
              <a:rPr lang="en-GB" sz="1100">
                <a:solidFill>
                  <a:schemeClr val="dk1"/>
                </a:solidFill>
              </a:rPr>
              <a:t>Performance depends on accurate entity extraction, and NER errors can propagate to final predictions.</a:t>
            </a:r>
            <a:endParaRPr sz="1100">
              <a:solidFill>
                <a:schemeClr val="dk1"/>
              </a:solidFill>
            </a:endParaRPr>
          </a:p>
        </p:txBody>
      </p:sp>
      <p:sp>
        <p:nvSpPr>
          <p:cNvPr id="560" name="Google Shape;560;p53"/>
          <p:cNvSpPr/>
          <p:nvPr/>
        </p:nvSpPr>
        <p:spPr>
          <a:xfrm>
            <a:off x="4638642" y="1231638"/>
            <a:ext cx="88200" cy="3193200"/>
          </a:xfrm>
          <a:prstGeom prst="roundRect">
            <a:avLst>
              <a:gd fmla="val 0" name="adj"/>
            </a:avLst>
          </a:prstGeom>
          <a:solidFill>
            <a:srgbClr val="835E54"/>
          </a:solidFill>
          <a:ln>
            <a:noFill/>
          </a:ln>
        </p:spPr>
        <p:txBody>
          <a:bodyPr anchorCtr="0" anchor="ctr" bIns="64050" lIns="64050" spcFirstLastPara="1" rIns="64050" wrap="square" tIns="640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50"/>
                                        </p:tgtEl>
                                        <p:attrNameLst>
                                          <p:attrName>style.visibility</p:attrName>
                                        </p:attrNameLst>
                                      </p:cBhvr>
                                      <p:to>
                                        <p:strVal val="visible"/>
                                      </p:to>
                                    </p:set>
                                    <p:animEffect filter="fade" transition="in">
                                      <p:cBhvr>
                                        <p:cTn dur="1000"/>
                                        <p:tgtEl>
                                          <p:spTgt spid="550"/>
                                        </p:tgtEl>
                                      </p:cBhvr>
                                    </p:animEffect>
                                  </p:childTnLst>
                                </p:cTn>
                              </p:par>
                              <p:par>
                                <p:cTn fill="hold" nodeType="withEffect" presetClass="entr" presetID="2" presetSubtype="4">
                                  <p:stCondLst>
                                    <p:cond delay="0"/>
                                  </p:stCondLst>
                                  <p:childTnLst>
                                    <p:set>
                                      <p:cBhvr>
                                        <p:cTn dur="1" fill="hold">
                                          <p:stCondLst>
                                            <p:cond delay="0"/>
                                          </p:stCondLst>
                                        </p:cTn>
                                        <p:tgtEl>
                                          <p:spTgt spid="551"/>
                                        </p:tgtEl>
                                        <p:attrNameLst>
                                          <p:attrName>style.visibility</p:attrName>
                                        </p:attrNameLst>
                                      </p:cBhvr>
                                      <p:to>
                                        <p:strVal val="visible"/>
                                      </p:to>
                                    </p:set>
                                    <p:anim calcmode="lin" valueType="num">
                                      <p:cBhvr additive="base">
                                        <p:cTn dur="1000"/>
                                        <p:tgtEl>
                                          <p:spTgt spid="55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2"/>
                                        </p:tgtEl>
                                        <p:attrNameLst>
                                          <p:attrName>style.visibility</p:attrName>
                                        </p:attrNameLst>
                                      </p:cBhvr>
                                      <p:to>
                                        <p:strVal val="visible"/>
                                      </p:to>
                                    </p:set>
                                    <p:animEffect filter="fade" transition="in">
                                      <p:cBhvr>
                                        <p:cTn dur="1000"/>
                                        <p:tgtEl>
                                          <p:spTgt spid="552"/>
                                        </p:tgtEl>
                                      </p:cBhvr>
                                    </p:animEffect>
                                  </p:childTnLst>
                                </p:cTn>
                              </p:par>
                              <p:par>
                                <p:cTn fill="hold" nodeType="withEffect" presetClass="entr" presetID="2" presetSubtype="4">
                                  <p:stCondLst>
                                    <p:cond delay="0"/>
                                  </p:stCondLst>
                                  <p:childTnLst>
                                    <p:set>
                                      <p:cBhvr>
                                        <p:cTn dur="1" fill="hold">
                                          <p:stCondLst>
                                            <p:cond delay="0"/>
                                          </p:stCondLst>
                                        </p:cTn>
                                        <p:tgtEl>
                                          <p:spTgt spid="553"/>
                                        </p:tgtEl>
                                        <p:attrNameLst>
                                          <p:attrName>style.visibility</p:attrName>
                                        </p:attrNameLst>
                                      </p:cBhvr>
                                      <p:to>
                                        <p:strVal val="visible"/>
                                      </p:to>
                                    </p:set>
                                    <p:anim calcmode="lin" valueType="num">
                                      <p:cBhvr additive="base">
                                        <p:cTn dur="1000"/>
                                        <p:tgtEl>
                                          <p:spTgt spid="55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4"/>
                                        </p:tgtEl>
                                        <p:attrNameLst>
                                          <p:attrName>style.visibility</p:attrName>
                                        </p:attrNameLst>
                                      </p:cBhvr>
                                      <p:to>
                                        <p:strVal val="visible"/>
                                      </p:to>
                                    </p:set>
                                    <p:animEffect filter="fade" transition="in">
                                      <p:cBhvr>
                                        <p:cTn dur="1000"/>
                                        <p:tgtEl>
                                          <p:spTgt spid="554"/>
                                        </p:tgtEl>
                                      </p:cBhvr>
                                    </p:animEffect>
                                  </p:childTnLst>
                                </p:cTn>
                              </p:par>
                              <p:par>
                                <p:cTn fill="hold" nodeType="withEffect" presetClass="entr" presetID="2" presetSubtype="4">
                                  <p:stCondLst>
                                    <p:cond delay="0"/>
                                  </p:stCondLst>
                                  <p:childTnLst>
                                    <p:set>
                                      <p:cBhvr>
                                        <p:cTn dur="1" fill="hold">
                                          <p:stCondLst>
                                            <p:cond delay="0"/>
                                          </p:stCondLst>
                                        </p:cTn>
                                        <p:tgtEl>
                                          <p:spTgt spid="555"/>
                                        </p:tgtEl>
                                        <p:attrNameLst>
                                          <p:attrName>style.visibility</p:attrName>
                                        </p:attrNameLst>
                                      </p:cBhvr>
                                      <p:to>
                                        <p:strVal val="visible"/>
                                      </p:to>
                                    </p:set>
                                    <p:anim calcmode="lin" valueType="num">
                                      <p:cBhvr additive="base">
                                        <p:cTn dur="1000"/>
                                        <p:tgtEl>
                                          <p:spTgt spid="55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6"/>
                                        </p:tgtEl>
                                        <p:attrNameLst>
                                          <p:attrName>style.visibility</p:attrName>
                                        </p:attrNameLst>
                                      </p:cBhvr>
                                      <p:to>
                                        <p:strVal val="visible"/>
                                      </p:to>
                                    </p:set>
                                    <p:animEffect filter="fade" transition="in">
                                      <p:cBhvr>
                                        <p:cTn dur="1000"/>
                                        <p:tgtEl>
                                          <p:spTgt spid="556"/>
                                        </p:tgtEl>
                                      </p:cBhvr>
                                    </p:animEffect>
                                  </p:childTnLst>
                                </p:cTn>
                              </p:par>
                              <p:par>
                                <p:cTn fill="hold" nodeType="withEffect" presetClass="entr" presetID="2" presetSubtype="4">
                                  <p:stCondLst>
                                    <p:cond delay="0"/>
                                  </p:stCondLst>
                                  <p:childTnLst>
                                    <p:set>
                                      <p:cBhvr>
                                        <p:cTn dur="1" fill="hold">
                                          <p:stCondLst>
                                            <p:cond delay="0"/>
                                          </p:stCondLst>
                                        </p:cTn>
                                        <p:tgtEl>
                                          <p:spTgt spid="557"/>
                                        </p:tgtEl>
                                        <p:attrNameLst>
                                          <p:attrName>style.visibility</p:attrName>
                                        </p:attrNameLst>
                                      </p:cBhvr>
                                      <p:to>
                                        <p:strVal val="visible"/>
                                      </p:to>
                                    </p:set>
                                    <p:anim calcmode="lin" valueType="num">
                                      <p:cBhvr additive="base">
                                        <p:cTn dur="1000"/>
                                        <p:tgtEl>
                                          <p:spTgt spid="55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8"/>
                                        </p:tgtEl>
                                        <p:attrNameLst>
                                          <p:attrName>style.visibility</p:attrName>
                                        </p:attrNameLst>
                                      </p:cBhvr>
                                      <p:to>
                                        <p:strVal val="visible"/>
                                      </p:to>
                                    </p:set>
                                    <p:animEffect filter="fade" transition="in">
                                      <p:cBhvr>
                                        <p:cTn dur="1000"/>
                                        <p:tgtEl>
                                          <p:spTgt spid="558"/>
                                        </p:tgtEl>
                                      </p:cBhvr>
                                    </p:animEffect>
                                  </p:childTnLst>
                                </p:cTn>
                              </p:par>
                              <p:par>
                                <p:cTn fill="hold" nodeType="withEffect" presetClass="entr" presetID="2" presetSubtype="4">
                                  <p:stCondLst>
                                    <p:cond delay="0"/>
                                  </p:stCondLst>
                                  <p:childTnLst>
                                    <p:set>
                                      <p:cBhvr>
                                        <p:cTn dur="1" fill="hold">
                                          <p:stCondLst>
                                            <p:cond delay="0"/>
                                          </p:stCondLst>
                                        </p:cTn>
                                        <p:tgtEl>
                                          <p:spTgt spid="559"/>
                                        </p:tgtEl>
                                        <p:attrNameLst>
                                          <p:attrName>style.visibility</p:attrName>
                                        </p:attrNameLst>
                                      </p:cBhvr>
                                      <p:to>
                                        <p:strVal val="visible"/>
                                      </p:to>
                                    </p:set>
                                    <p:anim calcmode="lin" valueType="num">
                                      <p:cBhvr additive="base">
                                        <p:cTn dur="1000"/>
                                        <p:tgtEl>
                                          <p:spTgt spid="55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54"/>
          <p:cNvSpPr/>
          <p:nvPr/>
        </p:nvSpPr>
        <p:spPr>
          <a:xfrm>
            <a:off x="315828" y="270376"/>
            <a:ext cx="3232200" cy="404100"/>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443728"/>
              </a:buClr>
              <a:buSzPts val="2515"/>
              <a:buFont typeface="Crimson Pro"/>
              <a:buNone/>
            </a:pPr>
            <a:r>
              <a:rPr b="1" lang="en-GB" sz="2515">
                <a:solidFill>
                  <a:srgbClr val="443728"/>
                </a:solidFill>
              </a:rPr>
              <a:t>Results</a:t>
            </a:r>
            <a:endParaRPr i="0" sz="2515" u="none" cap="none" strike="noStrike">
              <a:solidFill>
                <a:srgbClr val="000000"/>
              </a:solidFill>
            </a:endParaRPr>
          </a:p>
        </p:txBody>
      </p:sp>
      <p:graphicFrame>
        <p:nvGraphicFramePr>
          <p:cNvPr id="566" name="Google Shape;566;p54"/>
          <p:cNvGraphicFramePr/>
          <p:nvPr/>
        </p:nvGraphicFramePr>
        <p:xfrm>
          <a:off x="952500" y="1935875"/>
          <a:ext cx="3000000" cy="3000000"/>
        </p:xfrm>
        <a:graphic>
          <a:graphicData uri="http://schemas.openxmlformats.org/drawingml/2006/table">
            <a:tbl>
              <a:tblPr>
                <a:noFill/>
                <a:tableStyleId>{780F6D17-53CE-4F3B-A51A-C32445133DF1}</a:tableStyleId>
              </a:tblPr>
              <a:tblGrid>
                <a:gridCol w="1809750"/>
                <a:gridCol w="1809750"/>
                <a:gridCol w="1809750"/>
                <a:gridCol w="1809750"/>
              </a:tblGrid>
              <a:tr h="396225">
                <a:tc>
                  <a:txBody>
                    <a:bodyPr/>
                    <a:lstStyle/>
                    <a:p>
                      <a:pPr indent="0" lvl="0" marL="0" rtl="0" algn="l">
                        <a:spcBef>
                          <a:spcPts val="0"/>
                        </a:spcBef>
                        <a:spcAft>
                          <a:spcPts val="0"/>
                        </a:spcAft>
                        <a:buNone/>
                      </a:pPr>
                      <a:r>
                        <a:rPr b="1" lang="en-GB"/>
                        <a:t>Method</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GB"/>
                        <a:t>Hard F1</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GB"/>
                        <a:t>Medium F1</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GB"/>
                        <a:t>Low F1</a:t>
                      </a:r>
                      <a:endParaRPr b="1"/>
                    </a:p>
                  </a:txBody>
                  <a:tcPr marT="91425" marB="91425" marR="91425" marL="91425">
                    <a:lnB cap="flat" cmpd="sng" w="9525">
                      <a:solidFill>
                        <a:srgbClr val="9E9E9E"/>
                      </a:solidFill>
                      <a:prstDash val="solid"/>
                      <a:round/>
                      <a:headEnd len="sm" w="sm" type="none"/>
                      <a:tailEnd len="sm" w="sm" type="none"/>
                    </a:lnB>
                  </a:tcPr>
                </a:tc>
              </a:tr>
              <a:tr h="396225">
                <a:tc>
                  <a:txBody>
                    <a:bodyPr/>
                    <a:lstStyle/>
                    <a:p>
                      <a:pPr indent="0" lvl="0" marL="0" rtl="0" algn="l">
                        <a:spcBef>
                          <a:spcPts val="0"/>
                        </a:spcBef>
                        <a:spcAft>
                          <a:spcPts val="0"/>
                        </a:spcAft>
                        <a:buNone/>
                      </a:pPr>
                      <a:r>
                        <a:rPr lang="en-GB"/>
                        <a:t>SBERT</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t>0.100</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t>0.130</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t>0.060</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96225">
                <a:tc>
                  <a:txBody>
                    <a:bodyPr/>
                    <a:lstStyle/>
                    <a:p>
                      <a:pPr indent="0" lvl="0" marL="0" rtl="0" algn="l">
                        <a:spcBef>
                          <a:spcPts val="0"/>
                        </a:spcBef>
                        <a:spcAft>
                          <a:spcPts val="0"/>
                        </a:spcAft>
                        <a:buNone/>
                      </a:pPr>
                      <a:r>
                        <a:rPr lang="en-GB"/>
                        <a:t>K Clustering</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t>0.059</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t>0.115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t>0.052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96225">
                <a:tc>
                  <a:txBody>
                    <a:bodyPr/>
                    <a:lstStyle/>
                    <a:p>
                      <a:pPr indent="0" lvl="0" marL="0" rtl="0" algn="l">
                        <a:spcBef>
                          <a:spcPts val="0"/>
                        </a:spcBef>
                        <a:spcAft>
                          <a:spcPts val="0"/>
                        </a:spcAft>
                        <a:buNone/>
                      </a:pPr>
                      <a:r>
                        <a:rPr lang="en-GB"/>
                        <a:t>Approach 1</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GB"/>
                        <a:t>0.000</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GB"/>
                        <a:t>0.083</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GB"/>
                        <a:t>0.142</a:t>
                      </a:r>
                      <a:endParaRPr/>
                    </a:p>
                  </a:txBody>
                  <a:tcPr marT="91425" marB="91425" marR="91425" marL="91425">
                    <a:lnT cap="flat" cmpd="sng" w="9525">
                      <a:solidFill>
                        <a:srgbClr val="9E9E9E"/>
                      </a:solidFill>
                      <a:prstDash val="solid"/>
                      <a:round/>
                      <a:headEnd len="sm" w="sm" type="none"/>
                      <a:tailEnd len="sm" w="sm" type="none"/>
                    </a:lnT>
                  </a:tcPr>
                </a:tc>
              </a:tr>
              <a:tr h="396225">
                <a:tc>
                  <a:txBody>
                    <a:bodyPr/>
                    <a:lstStyle/>
                    <a:p>
                      <a:pPr indent="0" lvl="0" marL="0" rtl="0" algn="l">
                        <a:spcBef>
                          <a:spcPts val="0"/>
                        </a:spcBef>
                        <a:spcAft>
                          <a:spcPts val="0"/>
                        </a:spcAft>
                        <a:buNone/>
                      </a:pPr>
                      <a:r>
                        <a:rPr lang="en-GB"/>
                        <a:t>Approach 2</a:t>
                      </a:r>
                      <a:endParaRPr/>
                    </a:p>
                  </a:txBody>
                  <a:tcPr marT="91425" marB="91425" marR="91425" marL="91425"/>
                </a:tc>
                <a:tc>
                  <a:txBody>
                    <a:bodyPr/>
                    <a:lstStyle/>
                    <a:p>
                      <a:pPr indent="0" lvl="0" marL="0" rtl="0" algn="l">
                        <a:spcBef>
                          <a:spcPts val="0"/>
                        </a:spcBef>
                        <a:spcAft>
                          <a:spcPts val="0"/>
                        </a:spcAft>
                        <a:buNone/>
                      </a:pPr>
                      <a:r>
                        <a:rPr lang="en-GB"/>
                        <a:t>0.071</a:t>
                      </a:r>
                      <a:endParaRPr/>
                    </a:p>
                  </a:txBody>
                  <a:tcPr marT="91425" marB="91425" marR="91425" marL="91425"/>
                </a:tc>
                <a:tc>
                  <a:txBody>
                    <a:bodyPr/>
                    <a:lstStyle/>
                    <a:p>
                      <a:pPr indent="0" lvl="0" marL="0" rtl="0" algn="l">
                        <a:spcBef>
                          <a:spcPts val="0"/>
                        </a:spcBef>
                        <a:spcAft>
                          <a:spcPts val="0"/>
                        </a:spcAft>
                        <a:buNone/>
                      </a:pPr>
                      <a:r>
                        <a:rPr lang="en-GB"/>
                        <a:t>0.088</a:t>
                      </a:r>
                      <a:endParaRPr/>
                    </a:p>
                  </a:txBody>
                  <a:tcPr marT="91425" marB="91425" marR="91425" marL="91425"/>
                </a:tc>
                <a:tc>
                  <a:txBody>
                    <a:bodyPr/>
                    <a:lstStyle/>
                    <a:p>
                      <a:pPr indent="0" lvl="0" marL="0" rtl="0" algn="l">
                        <a:spcBef>
                          <a:spcPts val="0"/>
                        </a:spcBef>
                        <a:spcAft>
                          <a:spcPts val="0"/>
                        </a:spcAft>
                        <a:buNone/>
                      </a:pPr>
                      <a:r>
                        <a:rPr lang="en-GB"/>
                        <a:t>0.219</a:t>
                      </a:r>
                      <a:endParaRPr/>
                    </a:p>
                  </a:txBody>
                  <a:tcPr marT="91425" marB="91425" marR="91425" marL="91425"/>
                </a:tc>
              </a:tr>
              <a:tr h="396225">
                <a:tc>
                  <a:txBody>
                    <a:bodyPr/>
                    <a:lstStyle/>
                    <a:p>
                      <a:pPr indent="0" lvl="0" marL="0" rtl="0" algn="l">
                        <a:spcBef>
                          <a:spcPts val="0"/>
                        </a:spcBef>
                        <a:spcAft>
                          <a:spcPts val="0"/>
                        </a:spcAft>
                        <a:buNone/>
                      </a:pPr>
                      <a:r>
                        <a:rPr lang="en-GB"/>
                        <a:t>Approach 4</a:t>
                      </a:r>
                      <a:endParaRPr/>
                    </a:p>
                  </a:txBody>
                  <a:tcPr marT="91425" marB="91425" marR="91425" marL="91425"/>
                </a:tc>
                <a:tc>
                  <a:txBody>
                    <a:bodyPr/>
                    <a:lstStyle/>
                    <a:p>
                      <a:pPr indent="0" lvl="0" marL="0" rtl="0" algn="l">
                        <a:spcBef>
                          <a:spcPts val="0"/>
                        </a:spcBef>
                        <a:spcAft>
                          <a:spcPts val="0"/>
                        </a:spcAft>
                        <a:buNone/>
                      </a:pPr>
                      <a:r>
                        <a:rPr lang="en-GB"/>
                        <a:t>0.067</a:t>
                      </a:r>
                      <a:endParaRPr/>
                    </a:p>
                  </a:txBody>
                  <a:tcPr marT="91425" marB="91425" marR="91425" marL="91425"/>
                </a:tc>
                <a:tc>
                  <a:txBody>
                    <a:bodyPr/>
                    <a:lstStyle/>
                    <a:p>
                      <a:pPr indent="0" lvl="0" marL="0" rtl="0" algn="l">
                        <a:spcBef>
                          <a:spcPts val="0"/>
                        </a:spcBef>
                        <a:spcAft>
                          <a:spcPts val="0"/>
                        </a:spcAft>
                        <a:buNone/>
                      </a:pPr>
                      <a:r>
                        <a:rPr lang="en-GB"/>
                        <a:t>0.093</a:t>
                      </a:r>
                      <a:endParaRPr/>
                    </a:p>
                  </a:txBody>
                  <a:tcPr marT="91425" marB="91425" marR="91425" marL="91425"/>
                </a:tc>
                <a:tc>
                  <a:txBody>
                    <a:bodyPr/>
                    <a:lstStyle/>
                    <a:p>
                      <a:pPr indent="0" lvl="0" marL="0" rtl="0" algn="l">
                        <a:spcBef>
                          <a:spcPts val="0"/>
                        </a:spcBef>
                        <a:spcAft>
                          <a:spcPts val="0"/>
                        </a:spcAft>
                        <a:buNone/>
                      </a:pPr>
                      <a:r>
                        <a:rPr lang="en-GB"/>
                        <a:t>0.024</a:t>
                      </a:r>
                      <a:endParaRPr/>
                    </a:p>
                  </a:txBody>
                  <a:tcPr marT="91425" marB="91425" marR="91425" marL="91425"/>
                </a:tc>
              </a:tr>
              <a:tr h="396225">
                <a:tc>
                  <a:txBody>
                    <a:bodyPr/>
                    <a:lstStyle/>
                    <a:p>
                      <a:pPr indent="0" lvl="0" marL="0" rtl="0" algn="l">
                        <a:spcBef>
                          <a:spcPts val="0"/>
                        </a:spcBef>
                        <a:spcAft>
                          <a:spcPts val="0"/>
                        </a:spcAft>
                        <a:buNone/>
                      </a:pPr>
                      <a:r>
                        <a:rPr lang="en-GB"/>
                        <a:t>Approach 5</a:t>
                      </a:r>
                      <a:endParaRPr/>
                    </a:p>
                  </a:txBody>
                  <a:tcPr marT="91425" marB="91425" marR="91425" marL="91425"/>
                </a:tc>
                <a:tc>
                  <a:txBody>
                    <a:bodyPr/>
                    <a:lstStyle/>
                    <a:p>
                      <a:pPr indent="0" lvl="0" marL="0" rtl="0" algn="l">
                        <a:spcBef>
                          <a:spcPts val="0"/>
                        </a:spcBef>
                        <a:spcAft>
                          <a:spcPts val="0"/>
                        </a:spcAft>
                        <a:buNone/>
                      </a:pPr>
                      <a:r>
                        <a:rPr lang="en-GB"/>
                        <a:t>0.044</a:t>
                      </a:r>
                      <a:endParaRPr/>
                    </a:p>
                  </a:txBody>
                  <a:tcPr marT="91425" marB="91425" marR="91425" marL="91425"/>
                </a:tc>
                <a:tc>
                  <a:txBody>
                    <a:bodyPr/>
                    <a:lstStyle/>
                    <a:p>
                      <a:pPr indent="0" lvl="0" marL="0" rtl="0" algn="l">
                        <a:spcBef>
                          <a:spcPts val="0"/>
                        </a:spcBef>
                        <a:spcAft>
                          <a:spcPts val="0"/>
                        </a:spcAft>
                        <a:buNone/>
                      </a:pPr>
                      <a:r>
                        <a:rPr lang="en-GB"/>
                        <a:t>0.058</a:t>
                      </a:r>
                      <a:endParaRPr/>
                    </a:p>
                  </a:txBody>
                  <a:tcPr marT="91425" marB="91425" marR="91425" marL="91425"/>
                </a:tc>
                <a:tc>
                  <a:txBody>
                    <a:bodyPr/>
                    <a:lstStyle/>
                    <a:p>
                      <a:pPr indent="0" lvl="0" marL="0" rtl="0" algn="l">
                        <a:spcBef>
                          <a:spcPts val="0"/>
                        </a:spcBef>
                        <a:spcAft>
                          <a:spcPts val="0"/>
                        </a:spcAft>
                        <a:buNone/>
                      </a:pPr>
                      <a:r>
                        <a:rPr lang="en-GB"/>
                        <a:t>0.050</a:t>
                      </a:r>
                      <a:endParaRPr/>
                    </a:p>
                  </a:txBody>
                  <a:tcPr marT="91425" marB="91425" marR="91425" marL="91425"/>
                </a:tc>
              </a:tr>
            </a:tbl>
          </a:graphicData>
        </a:graphic>
      </p:graphicFrame>
      <p:sp>
        <p:nvSpPr>
          <p:cNvPr id="567" name="Google Shape;567;p54"/>
          <p:cNvSpPr/>
          <p:nvPr/>
        </p:nvSpPr>
        <p:spPr>
          <a:xfrm>
            <a:off x="952500" y="1487550"/>
            <a:ext cx="7239000" cy="404100"/>
          </a:xfrm>
          <a:prstGeom prst="rect">
            <a:avLst/>
          </a:prstGeom>
          <a:noFill/>
          <a:ln>
            <a:noFill/>
          </a:ln>
        </p:spPr>
        <p:txBody>
          <a:bodyPr anchorCtr="0" anchor="t" bIns="0" lIns="0" spcFirstLastPara="1" rIns="0" wrap="square" tIns="0">
            <a:noAutofit/>
          </a:bodyPr>
          <a:lstStyle/>
          <a:p>
            <a:pPr indent="0" lvl="0" marL="0" marR="0" rtl="0" algn="ctr">
              <a:lnSpc>
                <a:spcPct val="125352"/>
              </a:lnSpc>
              <a:spcBef>
                <a:spcPts val="0"/>
              </a:spcBef>
              <a:spcAft>
                <a:spcPts val="0"/>
              </a:spcAft>
              <a:buClr>
                <a:srgbClr val="443728"/>
              </a:buClr>
              <a:buSzPts val="2515"/>
              <a:buFont typeface="Crimson Pro"/>
              <a:buNone/>
            </a:pPr>
            <a:r>
              <a:rPr b="1" lang="en-GB" sz="1715">
                <a:solidFill>
                  <a:srgbClr val="443728"/>
                </a:solidFill>
              </a:rPr>
              <a:t>Overall</a:t>
            </a:r>
            <a:r>
              <a:rPr i="1" lang="en-GB" sz="815">
                <a:solidFill>
                  <a:srgbClr val="443728"/>
                </a:solidFill>
              </a:rPr>
              <a:t> </a:t>
            </a:r>
            <a:r>
              <a:rPr b="1" lang="en-GB" sz="1715">
                <a:solidFill>
                  <a:srgbClr val="443728"/>
                </a:solidFill>
              </a:rPr>
              <a:t>performance</a:t>
            </a:r>
            <a:r>
              <a:rPr i="1" lang="en-GB" sz="815">
                <a:solidFill>
                  <a:srgbClr val="443728"/>
                </a:solidFill>
              </a:rPr>
              <a:t> </a:t>
            </a:r>
            <a:r>
              <a:rPr b="1" lang="en-GB" sz="1715">
                <a:solidFill>
                  <a:srgbClr val="443728"/>
                </a:solidFill>
              </a:rPr>
              <a:t>comparison across</a:t>
            </a:r>
            <a:r>
              <a:rPr i="1" lang="en-GB" sz="815">
                <a:solidFill>
                  <a:srgbClr val="443728"/>
                </a:solidFill>
              </a:rPr>
              <a:t> </a:t>
            </a:r>
            <a:r>
              <a:rPr b="1" lang="en-GB" sz="1715">
                <a:solidFill>
                  <a:srgbClr val="443728"/>
                </a:solidFill>
              </a:rPr>
              <a:t>difficulty</a:t>
            </a:r>
            <a:r>
              <a:rPr i="1" lang="en-GB" sz="815">
                <a:solidFill>
                  <a:srgbClr val="443728"/>
                </a:solidFill>
              </a:rPr>
              <a:t> </a:t>
            </a:r>
            <a:r>
              <a:rPr b="1" lang="en-GB" sz="1715">
                <a:solidFill>
                  <a:srgbClr val="443728"/>
                </a:solidFill>
              </a:rPr>
              <a:t>levels</a:t>
            </a:r>
            <a:endParaRPr i="1" sz="815" u="none" cap="none" strike="noStrike">
              <a:solidFill>
                <a:srgbClr val="00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66"/>
                                        </p:tgtEl>
                                        <p:attrNameLst>
                                          <p:attrName>style.visibility</p:attrName>
                                        </p:attrNameLst>
                                      </p:cBhvr>
                                      <p:to>
                                        <p:strVal val="visible"/>
                                      </p:to>
                                    </p:set>
                                    <p:animEffect filter="fade" transition="in">
                                      <p:cBhvr>
                                        <p:cTn dur="1000"/>
                                        <p:tgtEl>
                                          <p:spTgt spid="5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55"/>
          <p:cNvSpPr/>
          <p:nvPr/>
        </p:nvSpPr>
        <p:spPr>
          <a:xfrm>
            <a:off x="778825" y="242675"/>
            <a:ext cx="3765600" cy="368700"/>
          </a:xfrm>
          <a:prstGeom prst="rect">
            <a:avLst/>
          </a:prstGeom>
          <a:noFill/>
          <a:ln>
            <a:noFill/>
          </a:ln>
        </p:spPr>
        <p:txBody>
          <a:bodyPr anchorCtr="0" anchor="t" bIns="0" lIns="0" spcFirstLastPara="1" rIns="0" wrap="square" tIns="0">
            <a:noAutofit/>
          </a:bodyPr>
          <a:lstStyle/>
          <a:p>
            <a:pPr indent="0" lvl="0" marL="0" marR="0" rtl="0" algn="l">
              <a:lnSpc>
                <a:spcPct val="125373"/>
              </a:lnSpc>
              <a:spcBef>
                <a:spcPts val="0"/>
              </a:spcBef>
              <a:spcAft>
                <a:spcPts val="0"/>
              </a:spcAft>
              <a:buClr>
                <a:srgbClr val="443728"/>
              </a:buClr>
              <a:buSzPts val="2787"/>
              <a:buFont typeface="Crimson Pro"/>
              <a:buNone/>
            </a:pPr>
            <a:r>
              <a:rPr b="1" i="0" lang="en-GB" sz="2387" u="none" cap="none" strike="noStrike">
                <a:solidFill>
                  <a:srgbClr val="443728"/>
                </a:solidFill>
              </a:rPr>
              <a:t>Key Observations</a:t>
            </a:r>
            <a:endParaRPr i="0" sz="2387" u="none" cap="none" strike="noStrike">
              <a:solidFill>
                <a:srgbClr val="000000"/>
              </a:solidFill>
            </a:endParaRPr>
          </a:p>
        </p:txBody>
      </p:sp>
      <p:grpSp>
        <p:nvGrpSpPr>
          <p:cNvPr id="573" name="Google Shape;573;p55"/>
          <p:cNvGrpSpPr/>
          <p:nvPr/>
        </p:nvGrpSpPr>
        <p:grpSpPr>
          <a:xfrm>
            <a:off x="348951" y="906152"/>
            <a:ext cx="4281148" cy="265500"/>
            <a:chOff x="348951" y="906152"/>
            <a:chExt cx="4281148" cy="265500"/>
          </a:xfrm>
        </p:grpSpPr>
        <p:sp>
          <p:nvSpPr>
            <p:cNvPr id="574" name="Google Shape;574;p55"/>
            <p:cNvSpPr/>
            <p:nvPr/>
          </p:nvSpPr>
          <p:spPr>
            <a:xfrm>
              <a:off x="348951" y="906152"/>
              <a:ext cx="339000" cy="265500"/>
            </a:xfrm>
            <a:prstGeom prst="roundRect">
              <a:avLst>
                <a:gd fmla="val 18667" name="adj"/>
              </a:avLst>
            </a:prstGeom>
            <a:solidFill>
              <a:srgbClr val="EBE2E0"/>
            </a:solidFill>
            <a:ln cap="flat" cmpd="sng" w="9525">
              <a:solidFill>
                <a:srgbClr val="D1C8C6"/>
              </a:solidFill>
              <a:prstDash val="solid"/>
              <a:round/>
              <a:headEnd len="sm" w="sm" type="none"/>
              <a:tailEnd len="sm" w="sm" type="none"/>
            </a:ln>
          </p:spPr>
          <p:txBody>
            <a:bodyPr anchorCtr="0" anchor="ctr" bIns="76050" lIns="76050" spcFirstLastPara="1" rIns="76050" wrap="square" tIns="760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55"/>
            <p:cNvSpPr/>
            <p:nvPr/>
          </p:nvSpPr>
          <p:spPr>
            <a:xfrm>
              <a:off x="405414" y="928265"/>
              <a:ext cx="225900" cy="221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43728"/>
                </a:buClr>
                <a:buSzPts val="1664"/>
                <a:buFont typeface="Crimson Pro"/>
                <a:buNone/>
              </a:pPr>
              <a:r>
                <a:rPr b="1" i="0" lang="en-GB" sz="1664" u="none" cap="none" strike="noStrike">
                  <a:solidFill>
                    <a:srgbClr val="443728"/>
                  </a:solidFill>
                  <a:latin typeface="Crimson Pro"/>
                  <a:ea typeface="Crimson Pro"/>
                  <a:cs typeface="Crimson Pro"/>
                  <a:sym typeface="Crimson Pro"/>
                </a:rPr>
                <a:t>1</a:t>
              </a:r>
              <a:endParaRPr b="0" i="0" sz="1664" u="none" cap="none" strike="noStrike">
                <a:solidFill>
                  <a:srgbClr val="000000"/>
                </a:solidFill>
                <a:latin typeface="Arial"/>
                <a:ea typeface="Arial"/>
                <a:cs typeface="Arial"/>
                <a:sym typeface="Arial"/>
              </a:endParaRPr>
            </a:p>
          </p:txBody>
        </p:sp>
        <p:sp>
          <p:nvSpPr>
            <p:cNvPr id="576" name="Google Shape;576;p55"/>
            <p:cNvSpPr/>
            <p:nvPr/>
          </p:nvSpPr>
          <p:spPr>
            <a:xfrm>
              <a:off x="801499" y="946675"/>
              <a:ext cx="3828600" cy="184200"/>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443728"/>
                </a:buClr>
                <a:buSzPts val="1373"/>
                <a:buFont typeface="Crimson Pro"/>
                <a:buNone/>
              </a:pPr>
              <a:r>
                <a:rPr b="1" i="0" lang="en-GB" sz="1373" u="none" cap="none" strike="noStrike">
                  <a:solidFill>
                    <a:srgbClr val="443728"/>
                  </a:solidFill>
                  <a:latin typeface="Arial"/>
                  <a:ea typeface="Arial"/>
                  <a:cs typeface="Arial"/>
                  <a:sym typeface="Arial"/>
                </a:rPr>
                <a:t>Temporal Modeling Is Essential</a:t>
              </a:r>
              <a:endParaRPr b="0" i="0" sz="1373" u="none" cap="none" strike="noStrike">
                <a:solidFill>
                  <a:srgbClr val="000000"/>
                </a:solidFill>
                <a:latin typeface="Arial"/>
                <a:ea typeface="Arial"/>
                <a:cs typeface="Arial"/>
                <a:sym typeface="Arial"/>
              </a:endParaRPr>
            </a:p>
          </p:txBody>
        </p:sp>
      </p:grpSp>
      <p:sp>
        <p:nvSpPr>
          <p:cNvPr id="577" name="Google Shape;577;p55"/>
          <p:cNvSpPr/>
          <p:nvPr/>
        </p:nvSpPr>
        <p:spPr>
          <a:xfrm>
            <a:off x="801513" y="1184400"/>
            <a:ext cx="8007900" cy="460800"/>
          </a:xfrm>
          <a:prstGeom prst="rect">
            <a:avLst/>
          </a:prstGeom>
          <a:noFill/>
          <a:ln>
            <a:noFill/>
          </a:ln>
        </p:spPr>
        <p:txBody>
          <a:bodyPr anchorCtr="0" anchor="t" bIns="0" lIns="0" spcFirstLastPara="1" rIns="0" wrap="square" tIns="0">
            <a:noAutofit/>
          </a:bodyPr>
          <a:lstStyle/>
          <a:p>
            <a:pPr indent="-297244" lvl="0" marL="457200" marR="0" rtl="0" algn="l">
              <a:lnSpc>
                <a:spcPct val="142307"/>
              </a:lnSpc>
              <a:spcBef>
                <a:spcPts val="1200"/>
              </a:spcBef>
              <a:spcAft>
                <a:spcPts val="0"/>
              </a:spcAft>
              <a:buClr>
                <a:srgbClr val="443728"/>
              </a:buClr>
              <a:buSzPts val="1081"/>
              <a:buFont typeface="Arial"/>
              <a:buChar char="●"/>
            </a:pPr>
            <a:r>
              <a:rPr lang="en-GB" sz="1081">
                <a:solidFill>
                  <a:srgbClr val="443728"/>
                </a:solidFill>
              </a:rPr>
              <a:t>Capturing narrative evolution over time is crucial, as shifts occur gradually rather than in isolated sentences</a:t>
            </a:r>
            <a:endParaRPr sz="1081">
              <a:solidFill>
                <a:srgbClr val="443728"/>
              </a:solidFill>
            </a:endParaRPr>
          </a:p>
          <a:p>
            <a:pPr indent="-297244" lvl="0" marL="457200" marR="0" rtl="0" algn="l">
              <a:lnSpc>
                <a:spcPct val="142307"/>
              </a:lnSpc>
              <a:spcBef>
                <a:spcPts val="0"/>
              </a:spcBef>
              <a:spcAft>
                <a:spcPts val="0"/>
              </a:spcAft>
              <a:buClr>
                <a:srgbClr val="443728"/>
              </a:buClr>
              <a:buSzPts val="1081"/>
              <a:buChar char="●"/>
            </a:pPr>
            <a:r>
              <a:rPr lang="en-GB" sz="1081">
                <a:solidFill>
                  <a:srgbClr val="443728"/>
                </a:solidFill>
              </a:rPr>
              <a:t>Ignoring temporal order breaks context continuity and leads to weaker shift detection performance</a:t>
            </a:r>
            <a:endParaRPr sz="1081">
              <a:solidFill>
                <a:srgbClr val="443728"/>
              </a:solidFill>
            </a:endParaRPr>
          </a:p>
        </p:txBody>
      </p:sp>
      <p:grpSp>
        <p:nvGrpSpPr>
          <p:cNvPr id="578" name="Google Shape;578;p55"/>
          <p:cNvGrpSpPr/>
          <p:nvPr/>
        </p:nvGrpSpPr>
        <p:grpSpPr>
          <a:xfrm>
            <a:off x="320201" y="1896977"/>
            <a:ext cx="4612649" cy="265500"/>
            <a:chOff x="320201" y="1896977"/>
            <a:chExt cx="4612649" cy="265500"/>
          </a:xfrm>
        </p:grpSpPr>
        <p:sp>
          <p:nvSpPr>
            <p:cNvPr id="579" name="Google Shape;579;p55"/>
            <p:cNvSpPr/>
            <p:nvPr/>
          </p:nvSpPr>
          <p:spPr>
            <a:xfrm>
              <a:off x="320201" y="1896977"/>
              <a:ext cx="339000" cy="265500"/>
            </a:xfrm>
            <a:prstGeom prst="roundRect">
              <a:avLst>
                <a:gd fmla="val 18667" name="adj"/>
              </a:avLst>
            </a:prstGeom>
            <a:solidFill>
              <a:srgbClr val="EBE2E0"/>
            </a:solidFill>
            <a:ln cap="flat" cmpd="sng" w="9525">
              <a:solidFill>
                <a:srgbClr val="D1C8C6"/>
              </a:solidFill>
              <a:prstDash val="solid"/>
              <a:round/>
              <a:headEnd len="sm" w="sm" type="none"/>
              <a:tailEnd len="sm" w="sm" type="none"/>
            </a:ln>
          </p:spPr>
          <p:txBody>
            <a:bodyPr anchorCtr="0" anchor="ctr" bIns="76050" lIns="76050" spcFirstLastPara="1" rIns="76050" wrap="square" tIns="760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55"/>
            <p:cNvSpPr/>
            <p:nvPr/>
          </p:nvSpPr>
          <p:spPr>
            <a:xfrm>
              <a:off x="376664" y="1919091"/>
              <a:ext cx="225900" cy="221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43728"/>
                </a:buClr>
                <a:buSzPts val="1664"/>
                <a:buFont typeface="Crimson Pro"/>
                <a:buNone/>
              </a:pPr>
              <a:r>
                <a:rPr b="1" i="0" lang="en-GB" sz="1664" u="none" cap="none" strike="noStrike">
                  <a:solidFill>
                    <a:srgbClr val="443728"/>
                  </a:solidFill>
                  <a:latin typeface="Crimson Pro"/>
                  <a:ea typeface="Crimson Pro"/>
                  <a:cs typeface="Crimson Pro"/>
                  <a:sym typeface="Crimson Pro"/>
                </a:rPr>
                <a:t>2</a:t>
              </a:r>
              <a:endParaRPr b="0" i="0" sz="1664" u="none" cap="none" strike="noStrike">
                <a:solidFill>
                  <a:srgbClr val="000000"/>
                </a:solidFill>
                <a:latin typeface="Arial"/>
                <a:ea typeface="Arial"/>
                <a:cs typeface="Arial"/>
                <a:sym typeface="Arial"/>
              </a:endParaRPr>
            </a:p>
          </p:txBody>
        </p:sp>
        <p:sp>
          <p:nvSpPr>
            <p:cNvPr id="581" name="Google Shape;581;p55"/>
            <p:cNvSpPr/>
            <p:nvPr/>
          </p:nvSpPr>
          <p:spPr>
            <a:xfrm>
              <a:off x="772749" y="1937500"/>
              <a:ext cx="4160100" cy="184200"/>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443728"/>
                </a:buClr>
                <a:buSzPts val="1373"/>
                <a:buFont typeface="Crimson Pro"/>
                <a:buNone/>
              </a:pPr>
              <a:r>
                <a:rPr b="1" i="0" lang="en-GB" sz="1373" u="none" cap="none" strike="noStrike">
                  <a:solidFill>
                    <a:srgbClr val="443728"/>
                  </a:solidFill>
                  <a:latin typeface="Arial"/>
                  <a:ea typeface="Arial"/>
                  <a:cs typeface="Arial"/>
                  <a:sym typeface="Arial"/>
                </a:rPr>
                <a:t>Adaptive Segmentation Drives Gains</a:t>
              </a:r>
              <a:endParaRPr b="0" i="0" sz="1373" u="none" cap="none" strike="noStrike">
                <a:solidFill>
                  <a:srgbClr val="000000"/>
                </a:solidFill>
                <a:latin typeface="Arial"/>
                <a:ea typeface="Arial"/>
                <a:cs typeface="Arial"/>
                <a:sym typeface="Arial"/>
              </a:endParaRPr>
            </a:p>
          </p:txBody>
        </p:sp>
      </p:grpSp>
      <p:sp>
        <p:nvSpPr>
          <p:cNvPr id="582" name="Google Shape;582;p55"/>
          <p:cNvSpPr/>
          <p:nvPr/>
        </p:nvSpPr>
        <p:spPr>
          <a:xfrm>
            <a:off x="772763" y="2175232"/>
            <a:ext cx="8007900" cy="515100"/>
          </a:xfrm>
          <a:prstGeom prst="rect">
            <a:avLst/>
          </a:prstGeom>
          <a:noFill/>
          <a:ln>
            <a:noFill/>
          </a:ln>
        </p:spPr>
        <p:txBody>
          <a:bodyPr anchorCtr="0" anchor="t" bIns="0" lIns="0" spcFirstLastPara="1" rIns="0" wrap="square" tIns="0">
            <a:noAutofit/>
          </a:bodyPr>
          <a:lstStyle/>
          <a:p>
            <a:pPr indent="-297244" lvl="0" marL="457200" marR="0" rtl="0" algn="l">
              <a:lnSpc>
                <a:spcPct val="142307"/>
              </a:lnSpc>
              <a:spcBef>
                <a:spcPts val="0"/>
              </a:spcBef>
              <a:spcAft>
                <a:spcPts val="0"/>
              </a:spcAft>
              <a:buClr>
                <a:srgbClr val="000000"/>
              </a:buClr>
              <a:buSzPts val="1081"/>
              <a:buFont typeface="Arial"/>
              <a:buChar char="●"/>
            </a:pPr>
            <a:r>
              <a:rPr lang="en-GB" sz="1081"/>
              <a:t>Adaptive segmentation aligns windows with real narrative boundaries instead of fixed intervals</a:t>
            </a:r>
            <a:endParaRPr sz="1081"/>
          </a:p>
          <a:p>
            <a:pPr indent="-297244" lvl="0" marL="457200" marR="0" rtl="0" algn="l">
              <a:lnSpc>
                <a:spcPct val="142307"/>
              </a:lnSpc>
              <a:spcBef>
                <a:spcPts val="0"/>
              </a:spcBef>
              <a:spcAft>
                <a:spcPts val="0"/>
              </a:spcAft>
              <a:buSzPts val="1081"/>
              <a:buChar char="●"/>
            </a:pPr>
            <a:r>
              <a:rPr lang="en-GB" sz="1081"/>
              <a:t>Improves detection of meaningful transitions by adjusting to different narrative speeds</a:t>
            </a:r>
            <a:endParaRPr sz="1081"/>
          </a:p>
        </p:txBody>
      </p:sp>
      <p:grpSp>
        <p:nvGrpSpPr>
          <p:cNvPr id="583" name="Google Shape;583;p55"/>
          <p:cNvGrpSpPr/>
          <p:nvPr/>
        </p:nvGrpSpPr>
        <p:grpSpPr>
          <a:xfrm>
            <a:off x="334400" y="2802042"/>
            <a:ext cx="4201786" cy="327908"/>
            <a:chOff x="334400" y="2802042"/>
            <a:chExt cx="4201786" cy="327908"/>
          </a:xfrm>
        </p:grpSpPr>
        <p:sp>
          <p:nvSpPr>
            <p:cNvPr id="584" name="Google Shape;584;p55"/>
            <p:cNvSpPr/>
            <p:nvPr/>
          </p:nvSpPr>
          <p:spPr>
            <a:xfrm>
              <a:off x="334550" y="2802042"/>
              <a:ext cx="339000" cy="327900"/>
            </a:xfrm>
            <a:prstGeom prst="roundRect">
              <a:avLst>
                <a:gd fmla="val 18667" name="adj"/>
              </a:avLst>
            </a:prstGeom>
            <a:solidFill>
              <a:srgbClr val="EBE2E0"/>
            </a:solidFill>
            <a:ln cap="flat" cmpd="sng" w="9525">
              <a:solidFill>
                <a:srgbClr val="D1C8C6"/>
              </a:solidFill>
              <a:prstDash val="solid"/>
              <a:round/>
              <a:headEnd len="sm" w="sm" type="none"/>
              <a:tailEnd len="sm" w="sm" type="none"/>
            </a:ln>
          </p:spPr>
          <p:txBody>
            <a:bodyPr anchorCtr="0" anchor="ctr" bIns="76050" lIns="76050" spcFirstLastPara="1" rIns="76050" wrap="square" tIns="760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55"/>
            <p:cNvSpPr/>
            <p:nvPr/>
          </p:nvSpPr>
          <p:spPr>
            <a:xfrm>
              <a:off x="334400" y="2802050"/>
              <a:ext cx="339000" cy="327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43728"/>
                </a:buClr>
                <a:buSzPts val="1664"/>
                <a:buFont typeface="Crimson Pro"/>
                <a:buNone/>
              </a:pPr>
              <a:r>
                <a:rPr b="1" lang="en-GB" sz="1664">
                  <a:solidFill>
                    <a:srgbClr val="443728"/>
                  </a:solidFill>
                  <a:latin typeface="Crimson Pro"/>
                  <a:ea typeface="Crimson Pro"/>
                  <a:cs typeface="Crimson Pro"/>
                  <a:sym typeface="Crimson Pro"/>
                </a:rPr>
                <a:t>3</a:t>
              </a:r>
              <a:endParaRPr b="0" i="0" sz="1664" u="none" cap="none" strike="noStrike">
                <a:solidFill>
                  <a:srgbClr val="000000"/>
                </a:solidFill>
                <a:latin typeface="Arial"/>
                <a:ea typeface="Arial"/>
                <a:cs typeface="Arial"/>
                <a:sym typeface="Arial"/>
              </a:endParaRPr>
            </a:p>
          </p:txBody>
        </p:sp>
        <p:sp>
          <p:nvSpPr>
            <p:cNvPr id="586" name="Google Shape;586;p55"/>
            <p:cNvSpPr/>
            <p:nvPr/>
          </p:nvSpPr>
          <p:spPr>
            <a:xfrm>
              <a:off x="787086" y="2860500"/>
              <a:ext cx="3749100" cy="184200"/>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443728"/>
                </a:buClr>
                <a:buSzPts val="1373"/>
                <a:buFont typeface="Crimson Pro"/>
                <a:buNone/>
              </a:pPr>
              <a:r>
                <a:rPr b="1" i="0" lang="en-GB" sz="1373" u="none" cap="none" strike="noStrike">
                  <a:solidFill>
                    <a:srgbClr val="443728"/>
                  </a:solidFill>
                  <a:latin typeface="Arial"/>
                  <a:ea typeface="Arial"/>
                  <a:cs typeface="Arial"/>
                  <a:sym typeface="Arial"/>
                </a:rPr>
                <a:t>Static Models Are Insufficient</a:t>
              </a:r>
              <a:endParaRPr b="0" i="0" sz="1373" u="none" cap="none" strike="noStrike">
                <a:solidFill>
                  <a:srgbClr val="000000"/>
                </a:solidFill>
                <a:latin typeface="Arial"/>
                <a:ea typeface="Arial"/>
                <a:cs typeface="Arial"/>
                <a:sym typeface="Arial"/>
              </a:endParaRPr>
            </a:p>
          </p:txBody>
        </p:sp>
      </p:grpSp>
      <p:sp>
        <p:nvSpPr>
          <p:cNvPr id="587" name="Google Shape;587;p55"/>
          <p:cNvSpPr/>
          <p:nvPr/>
        </p:nvSpPr>
        <p:spPr>
          <a:xfrm>
            <a:off x="787125" y="3214875"/>
            <a:ext cx="8036700" cy="460800"/>
          </a:xfrm>
          <a:prstGeom prst="rect">
            <a:avLst/>
          </a:prstGeom>
          <a:noFill/>
          <a:ln>
            <a:noFill/>
          </a:ln>
        </p:spPr>
        <p:txBody>
          <a:bodyPr anchorCtr="0" anchor="t" bIns="0" lIns="0" spcFirstLastPara="1" rIns="0" wrap="square" tIns="0">
            <a:noAutofit/>
          </a:bodyPr>
          <a:lstStyle/>
          <a:p>
            <a:pPr indent="-297244" lvl="0" marL="457200" marR="0" rtl="0" algn="l">
              <a:lnSpc>
                <a:spcPct val="142307"/>
              </a:lnSpc>
              <a:spcBef>
                <a:spcPts val="0"/>
              </a:spcBef>
              <a:spcAft>
                <a:spcPts val="0"/>
              </a:spcAft>
              <a:buClr>
                <a:srgbClr val="000000"/>
              </a:buClr>
              <a:buSzPts val="1081"/>
              <a:buFont typeface="Arial"/>
              <a:buChar char="●"/>
            </a:pPr>
            <a:r>
              <a:rPr lang="en-GB" sz="1081">
                <a:solidFill>
                  <a:srgbClr val="443728"/>
                </a:solidFill>
              </a:rPr>
              <a:t>Static embeddings and fixed grouping fail to capture evolving narrative dynamics</a:t>
            </a:r>
            <a:endParaRPr sz="1081">
              <a:solidFill>
                <a:srgbClr val="443728"/>
              </a:solidFill>
            </a:endParaRPr>
          </a:p>
          <a:p>
            <a:pPr indent="-297244" lvl="0" marL="457200" marR="0" rtl="0" algn="l">
              <a:lnSpc>
                <a:spcPct val="142307"/>
              </a:lnSpc>
              <a:spcBef>
                <a:spcPts val="0"/>
              </a:spcBef>
              <a:spcAft>
                <a:spcPts val="0"/>
              </a:spcAft>
              <a:buClr>
                <a:srgbClr val="443728"/>
              </a:buClr>
              <a:buSzPts val="1081"/>
              <a:buChar char="●"/>
            </a:pPr>
            <a:r>
              <a:rPr lang="en-GB" sz="1081">
                <a:solidFill>
                  <a:srgbClr val="443728"/>
                </a:solidFill>
              </a:rPr>
              <a:t>Lack of temporal modeling leads to noisy signals and inaccurate shift detection</a:t>
            </a:r>
            <a:endParaRPr sz="1081">
              <a:solidFill>
                <a:srgbClr val="443728"/>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73"/>
                                        </p:tgtEl>
                                        <p:attrNameLst>
                                          <p:attrName>style.visibility</p:attrName>
                                        </p:attrNameLst>
                                      </p:cBhvr>
                                      <p:to>
                                        <p:strVal val="visible"/>
                                      </p:to>
                                    </p:set>
                                    <p:animEffect filter="fade" transition="in">
                                      <p:cBhvr>
                                        <p:cTn dur="1000"/>
                                        <p:tgtEl>
                                          <p:spTgt spid="573"/>
                                        </p:tgtEl>
                                      </p:cBhvr>
                                    </p:animEffect>
                                  </p:childTnLst>
                                </p:cTn>
                              </p:par>
                              <p:par>
                                <p:cTn fill="hold" nodeType="withEffect" presetClass="entr" presetID="2" presetSubtype="4">
                                  <p:stCondLst>
                                    <p:cond delay="0"/>
                                  </p:stCondLst>
                                  <p:childTnLst>
                                    <p:set>
                                      <p:cBhvr>
                                        <p:cTn dur="1" fill="hold">
                                          <p:stCondLst>
                                            <p:cond delay="0"/>
                                          </p:stCondLst>
                                        </p:cTn>
                                        <p:tgtEl>
                                          <p:spTgt spid="577"/>
                                        </p:tgtEl>
                                        <p:attrNameLst>
                                          <p:attrName>style.visibility</p:attrName>
                                        </p:attrNameLst>
                                      </p:cBhvr>
                                      <p:to>
                                        <p:strVal val="visible"/>
                                      </p:to>
                                    </p:set>
                                    <p:anim calcmode="lin" valueType="num">
                                      <p:cBhvr additive="base">
                                        <p:cTn dur="1000"/>
                                        <p:tgtEl>
                                          <p:spTgt spid="57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8"/>
                                        </p:tgtEl>
                                        <p:attrNameLst>
                                          <p:attrName>style.visibility</p:attrName>
                                        </p:attrNameLst>
                                      </p:cBhvr>
                                      <p:to>
                                        <p:strVal val="visible"/>
                                      </p:to>
                                    </p:set>
                                    <p:animEffect filter="fade" transition="in">
                                      <p:cBhvr>
                                        <p:cTn dur="1000"/>
                                        <p:tgtEl>
                                          <p:spTgt spid="578"/>
                                        </p:tgtEl>
                                      </p:cBhvr>
                                    </p:animEffect>
                                  </p:childTnLst>
                                </p:cTn>
                              </p:par>
                              <p:par>
                                <p:cTn fill="hold" nodeType="withEffect" presetClass="entr" presetID="2" presetSubtype="4">
                                  <p:stCondLst>
                                    <p:cond delay="0"/>
                                  </p:stCondLst>
                                  <p:childTnLst>
                                    <p:set>
                                      <p:cBhvr>
                                        <p:cTn dur="1" fill="hold">
                                          <p:stCondLst>
                                            <p:cond delay="0"/>
                                          </p:stCondLst>
                                        </p:cTn>
                                        <p:tgtEl>
                                          <p:spTgt spid="582"/>
                                        </p:tgtEl>
                                        <p:attrNameLst>
                                          <p:attrName>style.visibility</p:attrName>
                                        </p:attrNameLst>
                                      </p:cBhvr>
                                      <p:to>
                                        <p:strVal val="visible"/>
                                      </p:to>
                                    </p:set>
                                    <p:anim calcmode="lin" valueType="num">
                                      <p:cBhvr additive="base">
                                        <p:cTn dur="1000"/>
                                        <p:tgtEl>
                                          <p:spTgt spid="58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3"/>
                                        </p:tgtEl>
                                        <p:attrNameLst>
                                          <p:attrName>style.visibility</p:attrName>
                                        </p:attrNameLst>
                                      </p:cBhvr>
                                      <p:to>
                                        <p:strVal val="visible"/>
                                      </p:to>
                                    </p:set>
                                    <p:animEffect filter="fade" transition="in">
                                      <p:cBhvr>
                                        <p:cTn dur="1000"/>
                                        <p:tgtEl>
                                          <p:spTgt spid="583"/>
                                        </p:tgtEl>
                                      </p:cBhvr>
                                    </p:animEffect>
                                  </p:childTnLst>
                                </p:cTn>
                              </p:par>
                              <p:par>
                                <p:cTn fill="hold" nodeType="withEffect" presetClass="entr" presetID="2" presetSubtype="4">
                                  <p:stCondLst>
                                    <p:cond delay="0"/>
                                  </p:stCondLst>
                                  <p:childTnLst>
                                    <p:set>
                                      <p:cBhvr>
                                        <p:cTn dur="1" fill="hold">
                                          <p:stCondLst>
                                            <p:cond delay="0"/>
                                          </p:stCondLst>
                                        </p:cTn>
                                        <p:tgtEl>
                                          <p:spTgt spid="587"/>
                                        </p:tgtEl>
                                        <p:attrNameLst>
                                          <p:attrName>style.visibility</p:attrName>
                                        </p:attrNameLst>
                                      </p:cBhvr>
                                      <p:to>
                                        <p:strVal val="visible"/>
                                      </p:to>
                                    </p:set>
                                    <p:anim calcmode="lin" valueType="num">
                                      <p:cBhvr additive="base">
                                        <p:cTn dur="1000"/>
                                        <p:tgtEl>
                                          <p:spTgt spid="58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56"/>
          <p:cNvSpPr/>
          <p:nvPr/>
        </p:nvSpPr>
        <p:spPr>
          <a:xfrm>
            <a:off x="94803" y="156526"/>
            <a:ext cx="4826100" cy="391500"/>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443728"/>
              </a:buClr>
              <a:buSzPts val="2437"/>
              <a:buFont typeface="Crimson Pro"/>
              <a:buNone/>
            </a:pPr>
            <a:r>
              <a:rPr b="1" i="0" lang="en-GB" sz="1737" u="none" cap="none" strike="noStrike">
                <a:solidFill>
                  <a:srgbClr val="443728"/>
                </a:solidFill>
              </a:rPr>
              <a:t>Case Study — Real-World Validation</a:t>
            </a:r>
            <a:endParaRPr i="0" sz="1737" u="none" cap="none" strike="noStrike">
              <a:solidFill>
                <a:srgbClr val="000000"/>
              </a:solidFill>
            </a:endParaRPr>
          </a:p>
        </p:txBody>
      </p:sp>
      <p:sp>
        <p:nvSpPr>
          <p:cNvPr id="593" name="Google Shape;593;p56"/>
          <p:cNvSpPr/>
          <p:nvPr/>
        </p:nvSpPr>
        <p:spPr>
          <a:xfrm>
            <a:off x="131699" y="662675"/>
            <a:ext cx="3058200" cy="1959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443728"/>
              </a:buClr>
              <a:buSzPts val="1201"/>
              <a:buFont typeface="Crimson Pro"/>
              <a:buNone/>
            </a:pPr>
            <a:r>
              <a:rPr b="1" i="0" lang="en-GB" sz="1101" u="none" cap="none" strike="noStrike">
                <a:solidFill>
                  <a:srgbClr val="443728"/>
                </a:solidFill>
              </a:rPr>
              <a:t>Scenario: Conflict Narrative Tracking</a:t>
            </a:r>
            <a:endParaRPr i="0" sz="1101" u="none" cap="none" strike="noStrike">
              <a:solidFill>
                <a:srgbClr val="000000"/>
              </a:solidFill>
            </a:endParaRPr>
          </a:p>
        </p:txBody>
      </p:sp>
      <p:grpSp>
        <p:nvGrpSpPr>
          <p:cNvPr id="594" name="Google Shape;594;p56"/>
          <p:cNvGrpSpPr/>
          <p:nvPr/>
        </p:nvGrpSpPr>
        <p:grpSpPr>
          <a:xfrm>
            <a:off x="49182" y="1504093"/>
            <a:ext cx="4322118" cy="2003236"/>
            <a:chOff x="49182" y="1504093"/>
            <a:chExt cx="4322118" cy="2003236"/>
          </a:xfrm>
        </p:grpSpPr>
        <p:sp>
          <p:nvSpPr>
            <p:cNvPr id="595" name="Google Shape;595;p56"/>
            <p:cNvSpPr/>
            <p:nvPr/>
          </p:nvSpPr>
          <p:spPr>
            <a:xfrm>
              <a:off x="57864" y="1504110"/>
              <a:ext cx="4267929" cy="2003219"/>
            </a:xfrm>
            <a:prstGeom prst="roundRect">
              <a:avLst>
                <a:gd fmla="val 5954" name="adj"/>
              </a:avLst>
            </a:prstGeom>
            <a:solidFill>
              <a:srgbClr val="FFFCFA"/>
            </a:solidFill>
            <a:ln cap="flat" cmpd="sng" w="9525">
              <a:solidFill>
                <a:srgbClr val="D1C8C6"/>
              </a:solidFill>
              <a:prstDash val="solid"/>
              <a:round/>
              <a:headEnd len="sm" w="sm" type="none"/>
              <a:tailEnd len="sm" w="sm" type="none"/>
            </a:ln>
          </p:spPr>
          <p:txBody>
            <a:bodyPr anchorCtr="0" anchor="ctr" bIns="32700" lIns="32700" spcFirstLastPara="1" rIns="32700" wrap="square" tIns="32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p56"/>
            <p:cNvSpPr/>
            <p:nvPr/>
          </p:nvSpPr>
          <p:spPr>
            <a:xfrm>
              <a:off x="49182" y="1504093"/>
              <a:ext cx="34835" cy="2003219"/>
            </a:xfrm>
            <a:prstGeom prst="roundRect">
              <a:avLst>
                <a:gd fmla="val 94954" name="adj"/>
              </a:avLst>
            </a:prstGeom>
            <a:solidFill>
              <a:srgbClr val="835E54"/>
            </a:solidFill>
            <a:ln>
              <a:noFill/>
            </a:ln>
          </p:spPr>
          <p:txBody>
            <a:bodyPr anchorCtr="0" anchor="ctr" bIns="32700" lIns="32700" spcFirstLastPara="1" rIns="32700" wrap="square" tIns="32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56"/>
            <p:cNvSpPr/>
            <p:nvPr/>
          </p:nvSpPr>
          <p:spPr>
            <a:xfrm>
              <a:off x="94800" y="1557325"/>
              <a:ext cx="4276500" cy="542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0"/>
                </a:spcAft>
                <a:buClr>
                  <a:schemeClr val="dk1"/>
                </a:buClr>
                <a:buSzPts val="1100"/>
                <a:buFont typeface="Arial"/>
                <a:buNone/>
              </a:pPr>
              <a:r>
                <a:rPr b="1" i="0" lang="en-GB" sz="1100" u="none" cap="none" strike="noStrike">
                  <a:solidFill>
                    <a:schemeClr val="dk1"/>
                  </a:solidFill>
                  <a:latin typeface="Arial"/>
                  <a:ea typeface="Arial"/>
                  <a:cs typeface="Arial"/>
                  <a:sym typeface="Arial"/>
                </a:rPr>
                <a:t> Key </a:t>
              </a:r>
              <a:r>
                <a:rPr b="1" lang="en-GB" sz="1100">
                  <a:solidFill>
                    <a:schemeClr val="dk1"/>
                  </a:solidFill>
                </a:rPr>
                <a:t>Observations</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0" i="0" lang="en-GB" sz="1100" u="none" cap="none" strike="noStrike">
                  <a:solidFill>
                    <a:schemeClr val="dk1"/>
                  </a:solidFill>
                  <a:latin typeface="Arial"/>
                  <a:ea typeface="Arial"/>
                  <a:cs typeface="Arial"/>
                  <a:sym typeface="Arial"/>
                </a:rPr>
                <a:t>The model successfully identified the</a:t>
              </a:r>
              <a:r>
                <a:rPr b="0" i="0" lang="en-GB" sz="1100" u="none" cap="none" strike="noStrike">
                  <a:solidFill>
                    <a:schemeClr val="dk1"/>
                  </a:solidFill>
                  <a:latin typeface="Arial"/>
                  <a:ea typeface="Arial"/>
                  <a:cs typeface="Arial"/>
                  <a:sym typeface="Arial"/>
                </a:rPr>
                <a:t> transition from </a:t>
              </a:r>
              <a:r>
                <a:rPr b="0" i="1" lang="en-GB" sz="1100" u="none" cap="none" strike="noStrike">
                  <a:solidFill>
                    <a:schemeClr val="dk1"/>
                  </a:solidFill>
                  <a:latin typeface="Arial"/>
                  <a:ea typeface="Arial"/>
                  <a:cs typeface="Arial"/>
                  <a:sym typeface="Arial"/>
                </a:rPr>
                <a:t>pre-conflict tension</a:t>
              </a:r>
              <a:r>
                <a:rPr b="0" i="0" lang="en-GB" sz="1100" u="none" cap="none" strike="noStrike">
                  <a:solidFill>
                    <a:schemeClr val="dk1"/>
                  </a:solidFill>
                  <a:latin typeface="Arial"/>
                  <a:ea typeface="Arial"/>
                  <a:cs typeface="Arial"/>
                  <a:sym typeface="Arial"/>
                </a:rPr>
                <a:t> to </a:t>
              </a:r>
              <a:r>
                <a:rPr b="0" i="1" lang="en-GB" sz="1100" u="none" cap="none" strike="noStrike">
                  <a:solidFill>
                    <a:schemeClr val="dk1"/>
                  </a:solidFill>
                  <a:latin typeface="Arial"/>
                  <a:ea typeface="Arial"/>
                  <a:cs typeface="Arial"/>
                  <a:sym typeface="Arial"/>
                </a:rPr>
                <a:t>active armed engagement</a:t>
              </a:r>
              <a:r>
                <a:rPr b="0" i="0" lang="en-GB" sz="1100" u="none" cap="none" strike="noStrike">
                  <a:solidFill>
                    <a:schemeClr val="dk1"/>
                  </a:solidFill>
                  <a:latin typeface="Arial"/>
                  <a:ea typeface="Arial"/>
                  <a:cs typeface="Arial"/>
                  <a:sym typeface="Arial"/>
                </a:rPr>
                <a:t> as a clear narrative boundary.</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GB" sz="1100" u="none" cap="none" strike="noStrike">
                  <a:solidFill>
                    <a:schemeClr val="dk1"/>
                  </a:solidFill>
                  <a:latin typeface="Arial"/>
                  <a:ea typeface="Arial"/>
                  <a:cs typeface="Arial"/>
                  <a:sym typeface="Arial"/>
                </a:rPr>
                <a:t>It captured both </a:t>
              </a:r>
              <a:r>
                <a:rPr b="1" i="0" lang="en-GB" sz="1100" u="none" cap="none" strike="noStrike">
                  <a:solidFill>
                    <a:schemeClr val="dk1"/>
                  </a:solidFill>
                  <a:latin typeface="Arial"/>
                  <a:ea typeface="Arial"/>
                  <a:cs typeface="Arial"/>
                  <a:sym typeface="Arial"/>
                </a:rPr>
                <a:t>abrupt shifts</a:t>
              </a:r>
              <a:r>
                <a:rPr b="0" i="0" lang="en-GB" sz="1100" u="none" cap="none" strike="noStrike">
                  <a:solidFill>
                    <a:schemeClr val="dk1"/>
                  </a:solidFill>
                  <a:latin typeface="Arial"/>
                  <a:ea typeface="Arial"/>
                  <a:cs typeface="Arial"/>
                  <a:sym typeface="Arial"/>
                </a:rPr>
                <a:t> (e.g., sudden outbreak of conflict) and </a:t>
              </a:r>
              <a:r>
                <a:rPr b="1" i="0" lang="en-GB" sz="1100" u="none" cap="none" strike="noStrike">
                  <a:solidFill>
                    <a:schemeClr val="dk1"/>
                  </a:solidFill>
                  <a:latin typeface="Arial"/>
                  <a:ea typeface="Arial"/>
                  <a:cs typeface="Arial"/>
                  <a:sym typeface="Arial"/>
                </a:rPr>
                <a:t>gradual changes</a:t>
              </a:r>
              <a:r>
                <a:rPr b="0" i="0" lang="en-GB" sz="1100" u="none" cap="none" strike="noStrike">
                  <a:solidFill>
                    <a:schemeClr val="dk1"/>
                  </a:solidFill>
                  <a:latin typeface="Arial"/>
                  <a:ea typeface="Arial"/>
                  <a:cs typeface="Arial"/>
                  <a:sym typeface="Arial"/>
                </a:rPr>
                <a:t> (e.g., slow diplomatic deterioration).</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GB" sz="1100" u="none" cap="none" strike="noStrike">
                  <a:solidFill>
                    <a:schemeClr val="dk1"/>
                  </a:solidFill>
                  <a:latin typeface="Arial"/>
                  <a:ea typeface="Arial"/>
                  <a:cs typeface="Arial"/>
                  <a:sym typeface="Arial"/>
                </a:rPr>
                <a:t>Detected segment boundaries closely matched </a:t>
              </a:r>
              <a:r>
                <a:rPr b="1" i="0" lang="en-GB" sz="1100" u="none" cap="none" strike="noStrike">
                  <a:solidFill>
                    <a:schemeClr val="dk1"/>
                  </a:solidFill>
                  <a:latin typeface="Arial"/>
                  <a:ea typeface="Arial"/>
                  <a:cs typeface="Arial"/>
                  <a:sym typeface="Arial"/>
                </a:rPr>
                <a:t>human-annotated ground truth</a:t>
              </a:r>
              <a:r>
                <a:rPr b="0" i="0" lang="en-GB" sz="1100" u="none" cap="none" strike="noStrike">
                  <a:solidFill>
                    <a:schemeClr val="dk1"/>
                  </a:solidFill>
                  <a:latin typeface="Arial"/>
                  <a:ea typeface="Arial"/>
                  <a:cs typeface="Arial"/>
                  <a:sym typeface="Arial"/>
                </a:rPr>
                <a:t>, ensuring reliability. </a:t>
              </a:r>
              <a:endParaRPr b="0" i="0" sz="1100" u="none" cap="none" strike="noStrike">
                <a:solidFill>
                  <a:schemeClr val="dk1"/>
                </a:solidFill>
                <a:latin typeface="Arial"/>
                <a:ea typeface="Arial"/>
                <a:cs typeface="Arial"/>
                <a:sym typeface="Arial"/>
              </a:endParaRPr>
            </a:p>
            <a:p>
              <a:pPr indent="0" lvl="0" marL="0" marR="0" rtl="0" algn="l">
                <a:lnSpc>
                  <a:spcPct val="146428"/>
                </a:lnSpc>
                <a:spcBef>
                  <a:spcPts val="1200"/>
                </a:spcBef>
                <a:spcAft>
                  <a:spcPts val="0"/>
                </a:spcAft>
                <a:buClr>
                  <a:srgbClr val="443728"/>
                </a:buClr>
                <a:buSzPts val="961"/>
                <a:buFont typeface="Open Sans"/>
                <a:buNone/>
              </a:pPr>
              <a:r>
                <a:t/>
              </a:r>
              <a:endParaRPr b="0" i="0" sz="1100" u="none" cap="none" strike="noStrike">
                <a:solidFill>
                  <a:srgbClr val="443728"/>
                </a:solidFill>
                <a:latin typeface="Arial"/>
                <a:ea typeface="Arial"/>
                <a:cs typeface="Arial"/>
                <a:sym typeface="Arial"/>
              </a:endParaRPr>
            </a:p>
          </p:txBody>
        </p:sp>
      </p:grpSp>
      <p:sp>
        <p:nvSpPr>
          <p:cNvPr id="598" name="Google Shape;598;p56"/>
          <p:cNvSpPr/>
          <p:nvPr/>
        </p:nvSpPr>
        <p:spPr>
          <a:xfrm>
            <a:off x="131700" y="933225"/>
            <a:ext cx="4091700" cy="1959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chemeClr val="dk1"/>
              </a:buClr>
              <a:buSzPts val="1100"/>
              <a:buFont typeface="Arial"/>
              <a:buNone/>
            </a:pPr>
            <a:r>
              <a:rPr b="1" i="0" lang="en-GB" sz="1000" u="none" cap="none" strike="noStrike">
                <a:solidFill>
                  <a:schemeClr val="dk1"/>
                </a:solidFill>
              </a:rPr>
              <a:t>Objective: </a:t>
            </a:r>
            <a:r>
              <a:rPr i="0" lang="en-GB" sz="1000" u="none" cap="none" strike="noStrike">
                <a:solidFill>
                  <a:schemeClr val="dk1"/>
                </a:solidFill>
              </a:rPr>
              <a:t>Evaluate the model on real-world geopolitical news data to test its ability to detect meaningful narrative shifts.</a:t>
            </a:r>
            <a:endParaRPr b="1" i="0" sz="1000" u="none" cap="none" strike="noStrike">
              <a:solidFill>
                <a:srgbClr val="443728"/>
              </a:solidFill>
            </a:endParaRPr>
          </a:p>
        </p:txBody>
      </p:sp>
      <p:grpSp>
        <p:nvGrpSpPr>
          <p:cNvPr id="599" name="Google Shape;599;p56"/>
          <p:cNvGrpSpPr/>
          <p:nvPr/>
        </p:nvGrpSpPr>
        <p:grpSpPr>
          <a:xfrm>
            <a:off x="94793" y="3691705"/>
            <a:ext cx="4230897" cy="1290911"/>
            <a:chOff x="94793" y="3691705"/>
            <a:chExt cx="4230897" cy="1290911"/>
          </a:xfrm>
        </p:grpSpPr>
        <p:grpSp>
          <p:nvGrpSpPr>
            <p:cNvPr id="600" name="Google Shape;600;p56"/>
            <p:cNvGrpSpPr/>
            <p:nvPr/>
          </p:nvGrpSpPr>
          <p:grpSpPr>
            <a:xfrm>
              <a:off x="94793" y="3691705"/>
              <a:ext cx="4230897" cy="1290911"/>
              <a:chOff x="521749" y="620689"/>
              <a:chExt cx="7881701" cy="1290911"/>
            </a:xfrm>
          </p:grpSpPr>
          <p:sp>
            <p:nvSpPr>
              <p:cNvPr id="601" name="Google Shape;601;p56"/>
              <p:cNvSpPr/>
              <p:nvPr/>
            </p:nvSpPr>
            <p:spPr>
              <a:xfrm>
                <a:off x="537750" y="620700"/>
                <a:ext cx="7865700" cy="1290900"/>
              </a:xfrm>
              <a:prstGeom prst="roundRect">
                <a:avLst>
                  <a:gd fmla="val 5954" name="adj"/>
                </a:avLst>
              </a:prstGeom>
              <a:solidFill>
                <a:srgbClr val="FFFCFA"/>
              </a:solidFill>
              <a:ln cap="flat" cmpd="sng" w="16000">
                <a:solidFill>
                  <a:srgbClr val="D1C8C6"/>
                </a:solidFill>
                <a:prstDash val="solid"/>
                <a:round/>
                <a:headEnd len="sm" w="sm" type="none"/>
                <a:tailEnd len="sm" w="sm" type="none"/>
              </a:ln>
            </p:spPr>
            <p:txBody>
              <a:bodyPr anchorCtr="0" anchor="ctr" bIns="64050" lIns="64050" spcFirstLastPara="1" rIns="64050" wrap="square" tIns="640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56"/>
              <p:cNvSpPr/>
              <p:nvPr/>
            </p:nvSpPr>
            <p:spPr>
              <a:xfrm>
                <a:off x="521749" y="620689"/>
                <a:ext cx="64200" cy="1290900"/>
              </a:xfrm>
              <a:prstGeom prst="roundRect">
                <a:avLst>
                  <a:gd fmla="val 94954" name="adj"/>
                </a:avLst>
              </a:prstGeom>
              <a:solidFill>
                <a:srgbClr val="835E54"/>
              </a:solidFill>
              <a:ln>
                <a:noFill/>
              </a:ln>
            </p:spPr>
            <p:txBody>
              <a:bodyPr anchorCtr="0" anchor="ctr" bIns="64050" lIns="64050" spcFirstLastPara="1" rIns="64050" wrap="square" tIns="640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03" name="Google Shape;603;p56"/>
            <p:cNvSpPr/>
            <p:nvPr/>
          </p:nvSpPr>
          <p:spPr>
            <a:xfrm>
              <a:off x="227900" y="3728400"/>
              <a:ext cx="4091700" cy="241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0"/>
                </a:spcAft>
                <a:buClr>
                  <a:schemeClr val="dk1"/>
                </a:buClr>
                <a:buSzPts val="1100"/>
                <a:buFont typeface="Arial"/>
                <a:buNone/>
              </a:pPr>
              <a:r>
                <a:rPr b="1" i="0" lang="en-GB" sz="1100" u="none" cap="none" strike="noStrike">
                  <a:solidFill>
                    <a:schemeClr val="dk1"/>
                  </a:solidFill>
                  <a:latin typeface="Arial"/>
                  <a:ea typeface="Arial"/>
                  <a:cs typeface="Arial"/>
                  <a:sym typeface="Arial"/>
                </a:rPr>
                <a:t>Key Outcome</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0" i="0" lang="en-GB" sz="1100" u="none" cap="none" strike="noStrike">
                  <a:solidFill>
                    <a:schemeClr val="dk1"/>
                  </a:solidFill>
                  <a:latin typeface="Arial"/>
                  <a:ea typeface="Arial"/>
                  <a:cs typeface="Arial"/>
                  <a:sym typeface="Arial"/>
                </a:rPr>
                <a:t>The results demonstrate strong </a:t>
              </a:r>
              <a:r>
                <a:rPr b="1" i="0" lang="en-GB" sz="1100" u="none" cap="none" strike="noStrike">
                  <a:solidFill>
                    <a:schemeClr val="dk1"/>
                  </a:solidFill>
                  <a:latin typeface="Arial"/>
                  <a:ea typeface="Arial"/>
                  <a:cs typeface="Arial"/>
                  <a:sym typeface="Arial"/>
                </a:rPr>
                <a:t>real-world applicability</a:t>
              </a:r>
              <a:r>
                <a:rPr b="0" i="0" lang="en-GB" sz="1100" u="none" cap="none" strike="noStrike">
                  <a:solidFill>
                    <a:schemeClr val="dk1"/>
                  </a:solidFill>
                  <a:latin typeface="Arial"/>
                  <a:ea typeface="Arial"/>
                  <a:cs typeface="Arial"/>
                  <a:sym typeface="Arial"/>
                </a:rPr>
                <a:t> beyond controlled benchmarks.</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GB" sz="1100" u="none" cap="none" strike="noStrike">
                  <a:solidFill>
                    <a:schemeClr val="dk1"/>
                  </a:solidFill>
                  <a:latin typeface="Arial"/>
                  <a:ea typeface="Arial"/>
                  <a:cs typeface="Arial"/>
                  <a:sym typeface="Arial"/>
                </a:rPr>
                <a:t>Confirms that the model can effectively track evolving narratives in live, complex data environments.</a:t>
              </a:r>
              <a:endParaRPr b="0" i="0" sz="1100" u="none" cap="none" strike="noStrike">
                <a:solidFill>
                  <a:schemeClr val="dk1"/>
                </a:solidFill>
                <a:latin typeface="Arial"/>
                <a:ea typeface="Arial"/>
                <a:cs typeface="Arial"/>
                <a:sym typeface="Arial"/>
              </a:endParaRPr>
            </a:p>
            <a:p>
              <a:pPr indent="0" lvl="0" marL="0" marR="0" rtl="0" algn="l">
                <a:lnSpc>
                  <a:spcPct val="125714"/>
                </a:lnSpc>
                <a:spcBef>
                  <a:spcPts val="1200"/>
                </a:spcBef>
                <a:spcAft>
                  <a:spcPts val="0"/>
                </a:spcAft>
                <a:buClr>
                  <a:schemeClr val="dk1"/>
                </a:buClr>
                <a:buSzPts val="1100"/>
                <a:buFont typeface="Arial"/>
                <a:buNone/>
              </a:pPr>
              <a:r>
                <a:t/>
              </a:r>
              <a:endParaRPr b="1" i="0" sz="1100" u="none" cap="none" strike="noStrike">
                <a:solidFill>
                  <a:schemeClr val="dk1"/>
                </a:solidFill>
                <a:latin typeface="Arial"/>
                <a:ea typeface="Arial"/>
                <a:cs typeface="Arial"/>
                <a:sym typeface="Arial"/>
              </a:endParaRPr>
            </a:p>
          </p:txBody>
        </p:sp>
      </p:grpSp>
      <p:grpSp>
        <p:nvGrpSpPr>
          <p:cNvPr id="604" name="Google Shape;604;p56"/>
          <p:cNvGrpSpPr/>
          <p:nvPr/>
        </p:nvGrpSpPr>
        <p:grpSpPr>
          <a:xfrm>
            <a:off x="4795875" y="1504115"/>
            <a:ext cx="4222200" cy="3478500"/>
            <a:chOff x="4795875" y="1504115"/>
            <a:chExt cx="4222200" cy="3478500"/>
          </a:xfrm>
        </p:grpSpPr>
        <p:sp>
          <p:nvSpPr>
            <p:cNvPr id="605" name="Google Shape;605;p56"/>
            <p:cNvSpPr/>
            <p:nvPr/>
          </p:nvSpPr>
          <p:spPr>
            <a:xfrm>
              <a:off x="4795875" y="1504115"/>
              <a:ext cx="4222200" cy="3478500"/>
            </a:xfrm>
            <a:prstGeom prst="roundRect">
              <a:avLst>
                <a:gd fmla="val 5954" name="adj"/>
              </a:avLst>
            </a:prstGeom>
            <a:solidFill>
              <a:srgbClr val="FFFCFA"/>
            </a:solidFill>
            <a:ln cap="flat" cmpd="sng" w="16000">
              <a:solidFill>
                <a:srgbClr val="D1C8C6"/>
              </a:solidFill>
              <a:prstDash val="solid"/>
              <a:round/>
              <a:headEnd len="sm" w="sm" type="none"/>
              <a:tailEnd len="sm" w="sm" type="none"/>
            </a:ln>
          </p:spPr>
          <p:txBody>
            <a:bodyPr anchorCtr="0" anchor="ctr" bIns="64050" lIns="64050" spcFirstLastPara="1" rIns="64050" wrap="square" tIns="64050">
              <a:noAutofit/>
            </a:bodyPr>
            <a:lstStyle/>
            <a:p>
              <a:pPr indent="0" lvl="0" marL="0" rtl="0" algn="l">
                <a:lnSpc>
                  <a:spcPct val="115000"/>
                </a:lnSpc>
                <a:spcBef>
                  <a:spcPts val="1200"/>
                </a:spcBef>
                <a:spcAft>
                  <a:spcPts val="0"/>
                </a:spcAft>
                <a:buClr>
                  <a:schemeClr val="dk1"/>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56"/>
            <p:cNvSpPr txBox="1"/>
            <p:nvPr/>
          </p:nvSpPr>
          <p:spPr>
            <a:xfrm>
              <a:off x="4918475" y="1596800"/>
              <a:ext cx="3916800" cy="31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chemeClr val="dk2"/>
                  </a:solidFill>
                </a:rPr>
                <a:t>Model</a:t>
              </a:r>
              <a:r>
                <a:rPr lang="en-GB">
                  <a:solidFill>
                    <a:schemeClr val="dk2"/>
                  </a:solidFill>
                </a:rPr>
                <a:t> </a:t>
              </a:r>
              <a:r>
                <a:rPr b="1" lang="en-GB">
                  <a:solidFill>
                    <a:schemeClr val="dk2"/>
                  </a:solidFill>
                </a:rPr>
                <a:t>output</a:t>
              </a:r>
              <a:endParaRPr b="1">
                <a:solidFill>
                  <a:schemeClr val="dk2"/>
                </a:solidFill>
              </a:endParaRPr>
            </a:p>
          </p:txBody>
        </p:sp>
        <p:sp>
          <p:nvSpPr>
            <p:cNvPr id="607" name="Google Shape;607;p56"/>
            <p:cNvSpPr txBox="1"/>
            <p:nvPr/>
          </p:nvSpPr>
          <p:spPr>
            <a:xfrm>
              <a:off x="4933550" y="1980950"/>
              <a:ext cx="3916800" cy="286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solidFill>
                    <a:schemeClr val="dk2"/>
                  </a:solidFill>
                </a:rPr>
                <a:t>“Senior officials described the move as a necessary step to weaken Moscow’s ability to sustain military operations, emphasizing that Washington stands firmly with Ukraine’s sovereignty.”</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rPr lang="en-GB" sz="1000">
                  <a:solidFill>
                    <a:schemeClr val="dk2"/>
                  </a:solidFill>
                </a:rPr>
                <a:t>“Rising fuel and food prices are placing pressure on households worldwide, with economists warning of prolonged inflationary trends.”</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rPr lang="en-GB" sz="1000">
                  <a:solidFill>
                    <a:schemeClr val="dk2"/>
                  </a:solidFill>
                </a:rPr>
                <a:t>“Healthcare challenges persist in war-affected areas, with limited access to essential medicines and services.”</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rPr lang="en-GB" sz="1000">
                  <a:solidFill>
                    <a:schemeClr val="dk2"/>
                  </a:solidFill>
                </a:rPr>
                <a:t>“The crisis has also prompted renewed discussions on accelerating the transition to renewable energy sources.”</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rPr lang="en-GB" sz="1000">
                  <a:solidFill>
                    <a:schemeClr val="dk2"/>
                  </a:solidFill>
                </a:rPr>
                <a:t>“While military aid continues, there is growing recognition that a negotiated settlement may be necessary.”</a:t>
              </a:r>
              <a:endParaRPr sz="1000">
                <a:solidFill>
                  <a:schemeClr val="dk2"/>
                </a:solidFill>
              </a:endParaRPr>
            </a:p>
            <a:p>
              <a:pPr indent="0" lvl="0" marL="0" rtl="0" algn="l">
                <a:spcBef>
                  <a:spcPts val="0"/>
                </a:spcBef>
                <a:spcAft>
                  <a:spcPts val="0"/>
                </a:spcAft>
                <a:buNone/>
              </a:pPr>
              <a:r>
                <a:t/>
              </a:r>
              <a:endParaRPr sz="900">
                <a:solidFill>
                  <a:schemeClr val="dk2"/>
                </a:solidFil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94"/>
                                        </p:tgtEl>
                                        <p:attrNameLst>
                                          <p:attrName>style.visibility</p:attrName>
                                        </p:attrNameLst>
                                      </p:cBhvr>
                                      <p:to>
                                        <p:strVal val="visible"/>
                                      </p:to>
                                    </p:set>
                                    <p:animEffect filter="fade" transition="in">
                                      <p:cBhvr>
                                        <p:cTn dur="1000"/>
                                        <p:tgtEl>
                                          <p:spTgt spid="5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9"/>
                                        </p:tgtEl>
                                        <p:attrNameLst>
                                          <p:attrName>style.visibility</p:attrName>
                                        </p:attrNameLst>
                                      </p:cBhvr>
                                      <p:to>
                                        <p:strVal val="visible"/>
                                      </p:to>
                                    </p:set>
                                    <p:animEffect filter="fade" transition="in">
                                      <p:cBhvr>
                                        <p:cTn dur="1000"/>
                                        <p:tgtEl>
                                          <p:spTgt spid="5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4"/>
                                        </p:tgtEl>
                                        <p:attrNameLst>
                                          <p:attrName>style.visibility</p:attrName>
                                        </p:attrNameLst>
                                      </p:cBhvr>
                                      <p:to>
                                        <p:strVal val="visible"/>
                                      </p:to>
                                    </p:set>
                                    <p:animEffect filter="fade" transition="in">
                                      <p:cBhvr>
                                        <p:cTn dur="1000"/>
                                        <p:tgtEl>
                                          <p:spTgt spid="6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57"/>
          <p:cNvSpPr/>
          <p:nvPr/>
        </p:nvSpPr>
        <p:spPr>
          <a:xfrm>
            <a:off x="148825" y="175375"/>
            <a:ext cx="5584500" cy="4551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43728"/>
              </a:buClr>
              <a:buSzPts val="2698"/>
              <a:buFont typeface="Crimson Pro"/>
              <a:buNone/>
            </a:pPr>
            <a:r>
              <a:rPr b="1" i="0" lang="en-GB" sz="2298" u="none" cap="none" strike="noStrike">
                <a:solidFill>
                  <a:srgbClr val="443728"/>
                </a:solidFill>
              </a:rPr>
              <a:t>Error Analysis on current testing </a:t>
            </a:r>
            <a:endParaRPr i="0" sz="2298" u="none" cap="none" strike="noStrike">
              <a:solidFill>
                <a:srgbClr val="000000"/>
              </a:solidFill>
            </a:endParaRPr>
          </a:p>
        </p:txBody>
      </p:sp>
      <p:grpSp>
        <p:nvGrpSpPr>
          <p:cNvPr id="613" name="Google Shape;613;p57"/>
          <p:cNvGrpSpPr/>
          <p:nvPr/>
        </p:nvGrpSpPr>
        <p:grpSpPr>
          <a:xfrm>
            <a:off x="556200" y="841280"/>
            <a:ext cx="6235500" cy="1176600"/>
            <a:chOff x="556200" y="841280"/>
            <a:chExt cx="6235500" cy="1176600"/>
          </a:xfrm>
        </p:grpSpPr>
        <p:sp>
          <p:nvSpPr>
            <p:cNvPr id="614" name="Google Shape;614;p57"/>
            <p:cNvSpPr/>
            <p:nvPr/>
          </p:nvSpPr>
          <p:spPr>
            <a:xfrm>
              <a:off x="556200" y="841280"/>
              <a:ext cx="6235500" cy="1176600"/>
            </a:xfrm>
            <a:prstGeom prst="roundRect">
              <a:avLst>
                <a:gd fmla="val 3567" name="adj"/>
              </a:avLst>
            </a:prstGeom>
            <a:solidFill>
              <a:srgbClr val="FFFCFA"/>
            </a:solidFill>
            <a:ln cap="flat" cmpd="sng" w="15425">
              <a:solidFill>
                <a:srgbClr val="D1C8C6"/>
              </a:solidFill>
              <a:prstDash val="solid"/>
              <a:round/>
              <a:headEnd len="sm" w="sm" type="none"/>
              <a:tailEnd len="sm" w="sm" type="none"/>
            </a:ln>
          </p:spPr>
          <p:txBody>
            <a:bodyPr anchorCtr="0" anchor="ctr" bIns="61675" lIns="61675" spcFirstLastPara="1" rIns="61675" wrap="square" tIns="616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57"/>
            <p:cNvSpPr/>
            <p:nvPr/>
          </p:nvSpPr>
          <p:spPr>
            <a:xfrm>
              <a:off x="578097" y="849675"/>
              <a:ext cx="6191700" cy="251400"/>
            </a:xfrm>
            <a:prstGeom prst="roundRect">
              <a:avLst>
                <a:gd fmla="val 9511" name="adj"/>
              </a:avLst>
            </a:prstGeom>
            <a:solidFill>
              <a:srgbClr val="EBE2E0"/>
            </a:solidFill>
            <a:ln>
              <a:noFill/>
            </a:ln>
          </p:spPr>
          <p:txBody>
            <a:bodyPr anchorCtr="0" anchor="ctr" bIns="61675" lIns="61675" spcFirstLastPara="1" rIns="61675" wrap="square" tIns="616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57"/>
            <p:cNvSpPr/>
            <p:nvPr/>
          </p:nvSpPr>
          <p:spPr>
            <a:xfrm>
              <a:off x="773067" y="1133277"/>
              <a:ext cx="2437500" cy="186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43728"/>
                </a:buClr>
                <a:buSzPts val="1349"/>
                <a:buFont typeface="Crimson Pro"/>
                <a:buNone/>
              </a:pPr>
              <a:r>
                <a:rPr b="1" i="0" lang="en-GB" sz="1349" u="none" cap="none" strike="noStrike">
                  <a:solidFill>
                    <a:srgbClr val="443728"/>
                  </a:solidFill>
                  <a:latin typeface="Crimson Pro"/>
                  <a:ea typeface="Crimson Pro"/>
                  <a:cs typeface="Crimson Pro"/>
                  <a:sym typeface="Crimson Pro"/>
                </a:rPr>
                <a:t>False Positives</a:t>
              </a:r>
              <a:endParaRPr b="0" i="0" sz="1349" u="none" cap="none" strike="noStrike">
                <a:solidFill>
                  <a:srgbClr val="000000"/>
                </a:solidFill>
                <a:latin typeface="Arial"/>
                <a:ea typeface="Arial"/>
                <a:cs typeface="Arial"/>
                <a:sym typeface="Arial"/>
              </a:endParaRPr>
            </a:p>
          </p:txBody>
        </p:sp>
        <p:sp>
          <p:nvSpPr>
            <p:cNvPr id="617" name="Google Shape;617;p57"/>
            <p:cNvSpPr/>
            <p:nvPr/>
          </p:nvSpPr>
          <p:spPr>
            <a:xfrm>
              <a:off x="750867" y="1359634"/>
              <a:ext cx="5801400" cy="5424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43728"/>
                </a:buClr>
                <a:buSzPts val="1079"/>
                <a:buFont typeface="Open Sans"/>
                <a:buNone/>
              </a:pPr>
              <a:r>
                <a:rPr b="1" i="0" lang="en-GB" sz="1079" u="none" cap="none" strike="noStrike">
                  <a:solidFill>
                    <a:srgbClr val="443728"/>
                  </a:solidFill>
                </a:rPr>
                <a:t>Stylistic or tonal changes</a:t>
              </a:r>
              <a:r>
                <a:rPr i="0" lang="en-GB" sz="1079" u="none" cap="none" strike="noStrike">
                  <a:solidFill>
                    <a:srgbClr val="443728"/>
                  </a:solidFill>
                </a:rPr>
                <a:t> — such as shifts in journalistic framing or authorial voice — are sometimes misclassified as genuine narrative shifts, inflating detection counts.</a:t>
              </a:r>
              <a:endParaRPr i="0" sz="1079" u="none" cap="none" strike="noStrike">
                <a:solidFill>
                  <a:srgbClr val="000000"/>
                </a:solidFill>
              </a:endParaRPr>
            </a:p>
          </p:txBody>
        </p:sp>
        <p:sp>
          <p:nvSpPr>
            <p:cNvPr id="618" name="Google Shape;618;p57"/>
            <p:cNvSpPr/>
            <p:nvPr/>
          </p:nvSpPr>
          <p:spPr>
            <a:xfrm>
              <a:off x="3494553" y="879948"/>
              <a:ext cx="358500" cy="157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43728"/>
                </a:buClr>
                <a:buSzPts val="1349"/>
                <a:buFont typeface="Crimson Pro"/>
                <a:buNone/>
              </a:pPr>
              <a:r>
                <a:rPr b="1" i="0" lang="en-GB" sz="1649" u="none" cap="none" strike="noStrike">
                  <a:solidFill>
                    <a:srgbClr val="443728"/>
                  </a:solidFill>
                  <a:latin typeface="Arial"/>
                  <a:ea typeface="Arial"/>
                  <a:cs typeface="Arial"/>
                  <a:sym typeface="Arial"/>
                </a:rPr>
                <a:t>1</a:t>
              </a:r>
              <a:endParaRPr b="0" i="0" sz="1649" u="none" cap="none" strike="noStrike">
                <a:solidFill>
                  <a:srgbClr val="000000"/>
                </a:solidFill>
                <a:latin typeface="Arial"/>
                <a:ea typeface="Arial"/>
                <a:cs typeface="Arial"/>
                <a:sym typeface="Arial"/>
              </a:endParaRPr>
            </a:p>
          </p:txBody>
        </p:sp>
      </p:grpSp>
      <p:grpSp>
        <p:nvGrpSpPr>
          <p:cNvPr id="619" name="Google Shape;619;p57"/>
          <p:cNvGrpSpPr/>
          <p:nvPr/>
        </p:nvGrpSpPr>
        <p:grpSpPr>
          <a:xfrm>
            <a:off x="533825" y="2228663"/>
            <a:ext cx="6235500" cy="1176600"/>
            <a:chOff x="533825" y="2228663"/>
            <a:chExt cx="6235500" cy="1176600"/>
          </a:xfrm>
        </p:grpSpPr>
        <p:sp>
          <p:nvSpPr>
            <p:cNvPr id="620" name="Google Shape;620;p57"/>
            <p:cNvSpPr/>
            <p:nvPr/>
          </p:nvSpPr>
          <p:spPr>
            <a:xfrm>
              <a:off x="533825" y="2228663"/>
              <a:ext cx="6235500" cy="1176600"/>
            </a:xfrm>
            <a:prstGeom prst="roundRect">
              <a:avLst>
                <a:gd fmla="val 3567" name="adj"/>
              </a:avLst>
            </a:prstGeom>
            <a:solidFill>
              <a:srgbClr val="FFFCFA"/>
            </a:solidFill>
            <a:ln cap="flat" cmpd="sng" w="15425">
              <a:solidFill>
                <a:srgbClr val="D1C8C6"/>
              </a:solidFill>
              <a:prstDash val="solid"/>
              <a:round/>
              <a:headEnd len="sm" w="sm" type="none"/>
              <a:tailEnd len="sm" w="sm" type="none"/>
            </a:ln>
          </p:spPr>
          <p:txBody>
            <a:bodyPr anchorCtr="0" anchor="ctr" bIns="61675" lIns="61675" spcFirstLastPara="1" rIns="61675" wrap="square" tIns="616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57"/>
            <p:cNvSpPr/>
            <p:nvPr/>
          </p:nvSpPr>
          <p:spPr>
            <a:xfrm>
              <a:off x="555715" y="2239884"/>
              <a:ext cx="6192000" cy="265200"/>
            </a:xfrm>
            <a:prstGeom prst="roundRect">
              <a:avLst>
                <a:gd fmla="val 9511" name="adj"/>
              </a:avLst>
            </a:prstGeom>
            <a:solidFill>
              <a:srgbClr val="EBE2E0"/>
            </a:solidFill>
            <a:ln>
              <a:noFill/>
            </a:ln>
          </p:spPr>
          <p:txBody>
            <a:bodyPr anchorCtr="0" anchor="ctr" bIns="61675" lIns="61675" spcFirstLastPara="1" rIns="61675" wrap="square" tIns="616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57"/>
            <p:cNvSpPr/>
            <p:nvPr/>
          </p:nvSpPr>
          <p:spPr>
            <a:xfrm>
              <a:off x="750698" y="2629264"/>
              <a:ext cx="2437800" cy="156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43728"/>
                </a:buClr>
                <a:buSzPts val="1349"/>
                <a:buFont typeface="Crimson Pro"/>
                <a:buNone/>
              </a:pPr>
              <a:r>
                <a:rPr b="1" i="0" lang="en-GB" sz="1349" u="none" cap="none" strike="noStrike">
                  <a:solidFill>
                    <a:srgbClr val="443728"/>
                  </a:solidFill>
                  <a:latin typeface="Crimson Pro"/>
                  <a:ea typeface="Crimson Pro"/>
                  <a:cs typeface="Crimson Pro"/>
                  <a:sym typeface="Crimson Pro"/>
                </a:rPr>
                <a:t>False Negatives</a:t>
              </a:r>
              <a:endParaRPr b="0" i="0" sz="1349" u="none" cap="none" strike="noStrike">
                <a:solidFill>
                  <a:srgbClr val="000000"/>
                </a:solidFill>
                <a:latin typeface="Arial"/>
                <a:ea typeface="Arial"/>
                <a:cs typeface="Arial"/>
                <a:sym typeface="Arial"/>
              </a:endParaRPr>
            </a:p>
          </p:txBody>
        </p:sp>
        <p:sp>
          <p:nvSpPr>
            <p:cNvPr id="623" name="Google Shape;623;p57"/>
            <p:cNvSpPr/>
            <p:nvPr/>
          </p:nvSpPr>
          <p:spPr>
            <a:xfrm>
              <a:off x="750698" y="2839175"/>
              <a:ext cx="5801700" cy="4548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43728"/>
                </a:buClr>
                <a:buSzPts val="1079"/>
                <a:buFont typeface="Open Sans"/>
                <a:buNone/>
              </a:pPr>
              <a:r>
                <a:rPr i="0" lang="en-GB" sz="1079" u="none" cap="none" strike="noStrike">
                  <a:solidFill>
                    <a:srgbClr val="443728"/>
                  </a:solidFill>
                </a:rPr>
                <a:t>When narrative transitions are </a:t>
              </a:r>
              <a:r>
                <a:rPr b="1" i="0" lang="en-GB" sz="1079" u="none" cap="none" strike="noStrike">
                  <a:solidFill>
                    <a:srgbClr val="443728"/>
                  </a:solidFill>
                </a:rPr>
                <a:t>gradual and subtle</a:t>
              </a:r>
              <a:r>
                <a:rPr i="0" lang="en-GB" sz="1079" u="none" cap="none" strike="noStrike">
                  <a:solidFill>
                    <a:srgbClr val="443728"/>
                  </a:solidFill>
                </a:rPr>
                <a:t>, the model may fail to cross the detection threshold, causing genuine shifts to go undetected.</a:t>
              </a:r>
              <a:endParaRPr i="0" sz="1079" u="none" cap="none" strike="noStrike">
                <a:solidFill>
                  <a:srgbClr val="000000"/>
                </a:solidFill>
              </a:endParaRPr>
            </a:p>
          </p:txBody>
        </p:sp>
        <p:sp>
          <p:nvSpPr>
            <p:cNvPr id="624" name="Google Shape;624;p57"/>
            <p:cNvSpPr/>
            <p:nvPr/>
          </p:nvSpPr>
          <p:spPr>
            <a:xfrm>
              <a:off x="3472361" y="2262337"/>
              <a:ext cx="358500" cy="156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43728"/>
                </a:buClr>
                <a:buSzPts val="1349"/>
                <a:buFont typeface="Crimson Pro"/>
                <a:buNone/>
              </a:pPr>
              <a:r>
                <a:rPr b="1" i="0" lang="en-GB" sz="1649" u="none" cap="none" strike="noStrike">
                  <a:solidFill>
                    <a:srgbClr val="443728"/>
                  </a:solidFill>
                  <a:latin typeface="Arial"/>
                  <a:ea typeface="Arial"/>
                  <a:cs typeface="Arial"/>
                  <a:sym typeface="Arial"/>
                </a:rPr>
                <a:t>2</a:t>
              </a:r>
              <a:endParaRPr b="0" i="0" sz="1649" u="none" cap="none" strike="noStrike">
                <a:solidFill>
                  <a:srgbClr val="000000"/>
                </a:solidFill>
                <a:latin typeface="Arial"/>
                <a:ea typeface="Arial"/>
                <a:cs typeface="Arial"/>
                <a:sym typeface="Arial"/>
              </a:endParaRPr>
            </a:p>
          </p:txBody>
        </p:sp>
      </p:grpSp>
      <p:grpSp>
        <p:nvGrpSpPr>
          <p:cNvPr id="625" name="Google Shape;625;p57"/>
          <p:cNvGrpSpPr/>
          <p:nvPr/>
        </p:nvGrpSpPr>
        <p:grpSpPr>
          <a:xfrm>
            <a:off x="534000" y="3616068"/>
            <a:ext cx="6279900" cy="1176607"/>
            <a:chOff x="534000" y="3616068"/>
            <a:chExt cx="6279900" cy="1176607"/>
          </a:xfrm>
        </p:grpSpPr>
        <p:sp>
          <p:nvSpPr>
            <p:cNvPr id="626" name="Google Shape;626;p57"/>
            <p:cNvSpPr/>
            <p:nvPr/>
          </p:nvSpPr>
          <p:spPr>
            <a:xfrm>
              <a:off x="534000" y="3616075"/>
              <a:ext cx="6279900" cy="1176600"/>
            </a:xfrm>
            <a:prstGeom prst="roundRect">
              <a:avLst>
                <a:gd fmla="val 3567" name="adj"/>
              </a:avLst>
            </a:prstGeom>
            <a:solidFill>
              <a:srgbClr val="FFFCFA"/>
            </a:solidFill>
            <a:ln cap="flat" cmpd="sng" w="15425">
              <a:solidFill>
                <a:srgbClr val="D1C8C6"/>
              </a:solidFill>
              <a:prstDash val="solid"/>
              <a:round/>
              <a:headEnd len="sm" w="sm" type="none"/>
              <a:tailEnd len="sm" w="sm" type="none"/>
            </a:ln>
          </p:spPr>
          <p:txBody>
            <a:bodyPr anchorCtr="0" anchor="ctr" bIns="61675" lIns="61675" spcFirstLastPara="1" rIns="61675" wrap="square" tIns="616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57"/>
            <p:cNvSpPr/>
            <p:nvPr/>
          </p:nvSpPr>
          <p:spPr>
            <a:xfrm>
              <a:off x="556048" y="3616068"/>
              <a:ext cx="6235500" cy="300000"/>
            </a:xfrm>
            <a:prstGeom prst="roundRect">
              <a:avLst>
                <a:gd fmla="val 9511" name="adj"/>
              </a:avLst>
            </a:prstGeom>
            <a:solidFill>
              <a:srgbClr val="EBE2E0"/>
            </a:solidFill>
            <a:ln>
              <a:noFill/>
            </a:ln>
          </p:spPr>
          <p:txBody>
            <a:bodyPr anchorCtr="0" anchor="ctr" bIns="61675" lIns="61675" spcFirstLastPara="1" rIns="61675" wrap="square" tIns="616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57"/>
            <p:cNvSpPr/>
            <p:nvPr/>
          </p:nvSpPr>
          <p:spPr>
            <a:xfrm>
              <a:off x="752407" y="4005498"/>
              <a:ext cx="2454900" cy="156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43728"/>
                </a:buClr>
                <a:buSzPts val="1349"/>
                <a:buFont typeface="Crimson Pro"/>
                <a:buNone/>
              </a:pPr>
              <a:r>
                <a:rPr b="1" i="0" lang="en-GB" sz="1349" u="none" cap="none" strike="noStrike">
                  <a:solidFill>
                    <a:srgbClr val="443728"/>
                  </a:solidFill>
                  <a:latin typeface="Crimson Pro"/>
                  <a:ea typeface="Crimson Pro"/>
                  <a:cs typeface="Crimson Pro"/>
                  <a:sym typeface="Crimson Pro"/>
                </a:rPr>
                <a:t>Threshold Sensitivity</a:t>
              </a:r>
              <a:endParaRPr b="0" i="0" sz="1349" u="none" cap="none" strike="noStrike">
                <a:solidFill>
                  <a:srgbClr val="000000"/>
                </a:solidFill>
                <a:latin typeface="Arial"/>
                <a:ea typeface="Arial"/>
                <a:cs typeface="Arial"/>
                <a:sym typeface="Arial"/>
              </a:endParaRPr>
            </a:p>
          </p:txBody>
        </p:sp>
        <p:sp>
          <p:nvSpPr>
            <p:cNvPr id="629" name="Google Shape;629;p57"/>
            <p:cNvSpPr/>
            <p:nvPr/>
          </p:nvSpPr>
          <p:spPr>
            <a:xfrm>
              <a:off x="752407" y="4215434"/>
              <a:ext cx="5842800" cy="4551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43728"/>
                </a:buClr>
                <a:buSzPts val="1079"/>
                <a:buFont typeface="Open Sans"/>
                <a:buNone/>
              </a:pPr>
              <a:r>
                <a:rPr i="0" lang="en-GB" sz="1079" u="none" cap="none" strike="noStrike">
                  <a:solidFill>
                    <a:srgbClr val="443728"/>
                  </a:solidFill>
                </a:rPr>
                <a:t>The choice of </a:t>
              </a:r>
              <a:r>
                <a:rPr b="1" i="0" lang="en-GB" sz="1079" u="none" cap="none" strike="noStrike">
                  <a:solidFill>
                    <a:srgbClr val="443728"/>
                  </a:solidFill>
                </a:rPr>
                <a:t>detection threshold</a:t>
              </a:r>
              <a:r>
                <a:rPr i="0" lang="en-GB" sz="1079" u="none" cap="none" strike="noStrike">
                  <a:solidFill>
                    <a:srgbClr val="443728"/>
                  </a:solidFill>
                </a:rPr>
                <a:t> significantly affects precision-recall trade-offs; no single value generalizes well across all topic types.</a:t>
              </a:r>
              <a:endParaRPr i="0" sz="1079" u="none" cap="none" strike="noStrike">
                <a:solidFill>
                  <a:srgbClr val="000000"/>
                </a:solidFill>
              </a:endParaRPr>
            </a:p>
          </p:txBody>
        </p:sp>
        <p:sp>
          <p:nvSpPr>
            <p:cNvPr id="630" name="Google Shape;630;p57"/>
            <p:cNvSpPr/>
            <p:nvPr/>
          </p:nvSpPr>
          <p:spPr>
            <a:xfrm>
              <a:off x="3477351" y="3667225"/>
              <a:ext cx="393000" cy="197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43728"/>
                </a:buClr>
                <a:buSzPts val="1349"/>
                <a:buFont typeface="Crimson Pro"/>
                <a:buNone/>
              </a:pPr>
              <a:r>
                <a:rPr b="1" i="0" lang="en-GB" sz="1649" u="none" cap="none" strike="noStrike">
                  <a:solidFill>
                    <a:srgbClr val="443728"/>
                  </a:solidFill>
                  <a:latin typeface="Arial"/>
                  <a:ea typeface="Arial"/>
                  <a:cs typeface="Arial"/>
                  <a:sym typeface="Arial"/>
                </a:rPr>
                <a:t>3</a:t>
              </a:r>
              <a:endParaRPr b="0" i="0" sz="1649"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13"/>
                                        </p:tgtEl>
                                        <p:attrNameLst>
                                          <p:attrName>style.visibility</p:attrName>
                                        </p:attrNameLst>
                                      </p:cBhvr>
                                      <p:to>
                                        <p:strVal val="visible"/>
                                      </p:to>
                                    </p:set>
                                    <p:animEffect filter="fade" transition="in">
                                      <p:cBhvr>
                                        <p:cTn dur="1000"/>
                                        <p:tgtEl>
                                          <p:spTgt spid="6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9"/>
                                        </p:tgtEl>
                                        <p:attrNameLst>
                                          <p:attrName>style.visibility</p:attrName>
                                        </p:attrNameLst>
                                      </p:cBhvr>
                                      <p:to>
                                        <p:strVal val="visible"/>
                                      </p:to>
                                    </p:set>
                                    <p:animEffect filter="fade" transition="in">
                                      <p:cBhvr>
                                        <p:cTn dur="1000"/>
                                        <p:tgtEl>
                                          <p:spTgt spid="6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5"/>
                                        </p:tgtEl>
                                        <p:attrNameLst>
                                          <p:attrName>style.visibility</p:attrName>
                                        </p:attrNameLst>
                                      </p:cBhvr>
                                      <p:to>
                                        <p:strVal val="visible"/>
                                      </p:to>
                                    </p:set>
                                    <p:animEffect filter="fade" transition="in">
                                      <p:cBhvr>
                                        <p:cTn dur="1000"/>
                                        <p:tgtEl>
                                          <p:spTgt spid="6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grpSp>
        <p:nvGrpSpPr>
          <p:cNvPr id="635" name="Google Shape;635;p58"/>
          <p:cNvGrpSpPr/>
          <p:nvPr/>
        </p:nvGrpSpPr>
        <p:grpSpPr>
          <a:xfrm>
            <a:off x="513047" y="566003"/>
            <a:ext cx="8420206" cy="3621133"/>
            <a:chOff x="1166243" y="822631"/>
            <a:chExt cx="9404899" cy="3076840"/>
          </a:xfrm>
        </p:grpSpPr>
        <p:grpSp>
          <p:nvGrpSpPr>
            <p:cNvPr id="636" name="Google Shape;636;p58"/>
            <p:cNvGrpSpPr/>
            <p:nvPr/>
          </p:nvGrpSpPr>
          <p:grpSpPr>
            <a:xfrm>
              <a:off x="1166243" y="822667"/>
              <a:ext cx="9404882" cy="3076715"/>
              <a:chOff x="2216703" y="1122273"/>
              <a:chExt cx="2903906" cy="1903201"/>
            </a:xfrm>
          </p:grpSpPr>
          <p:sp>
            <p:nvSpPr>
              <p:cNvPr id="637" name="Google Shape;637;p58"/>
              <p:cNvSpPr/>
              <p:nvPr/>
            </p:nvSpPr>
            <p:spPr>
              <a:xfrm>
                <a:off x="2234610" y="1122274"/>
                <a:ext cx="2886000" cy="1903200"/>
              </a:xfrm>
              <a:prstGeom prst="roundRect">
                <a:avLst>
                  <a:gd fmla="val 5302" name="adj"/>
                </a:avLst>
              </a:prstGeom>
              <a:solidFill>
                <a:srgbClr val="FFFCFA"/>
              </a:solidFill>
              <a:ln cap="flat" cmpd="sng" w="32325">
                <a:solidFill>
                  <a:srgbClr val="D1C8C6"/>
                </a:solidFill>
                <a:prstDash val="solid"/>
                <a:round/>
                <a:headEnd len="sm" w="sm" type="none"/>
                <a:tailEnd len="sm" w="sm" type="none"/>
              </a:ln>
            </p:spPr>
            <p:txBody>
              <a:bodyPr anchorCtr="0" anchor="ctr" bIns="129200" lIns="129200" spcFirstLastPara="1" rIns="129200" wrap="square" tIns="129200">
                <a:noAutofit/>
              </a:bodyPr>
              <a:lstStyle/>
              <a:p>
                <a:pPr indent="0" lvl="0" marL="0" marR="0" rtl="0" algn="l">
                  <a:lnSpc>
                    <a:spcPct val="100000"/>
                  </a:lnSpc>
                  <a:spcBef>
                    <a:spcPts val="0"/>
                  </a:spcBef>
                  <a:spcAft>
                    <a:spcPts val="0"/>
                  </a:spcAft>
                  <a:buClr>
                    <a:srgbClr val="000000"/>
                  </a:buClr>
                  <a:buSzPts val="2526"/>
                  <a:buFont typeface="Arial"/>
                  <a:buNone/>
                </a:pPr>
                <a:r>
                  <a:t/>
                </a:r>
                <a:endParaRPr b="0" i="0" sz="2526" u="none" cap="none" strike="noStrike">
                  <a:solidFill>
                    <a:srgbClr val="000000"/>
                  </a:solidFill>
                  <a:latin typeface="Arial"/>
                  <a:ea typeface="Arial"/>
                  <a:cs typeface="Arial"/>
                  <a:sym typeface="Arial"/>
                </a:endParaRPr>
              </a:p>
            </p:txBody>
          </p:sp>
          <p:sp>
            <p:nvSpPr>
              <p:cNvPr id="638" name="Google Shape;638;p58"/>
              <p:cNvSpPr/>
              <p:nvPr/>
            </p:nvSpPr>
            <p:spPr>
              <a:xfrm>
                <a:off x="2216703" y="1122273"/>
                <a:ext cx="40500" cy="1903200"/>
              </a:xfrm>
              <a:prstGeom prst="roundRect">
                <a:avLst>
                  <a:gd fmla="val 74369" name="adj"/>
                </a:avLst>
              </a:prstGeom>
              <a:solidFill>
                <a:srgbClr val="835E54"/>
              </a:solidFill>
              <a:ln>
                <a:noFill/>
              </a:ln>
            </p:spPr>
            <p:txBody>
              <a:bodyPr anchorCtr="0" anchor="ctr" bIns="129200" lIns="129200" spcFirstLastPara="1" rIns="129200" wrap="square" tIns="129200">
                <a:noAutofit/>
              </a:bodyPr>
              <a:lstStyle/>
              <a:p>
                <a:pPr indent="0" lvl="0" marL="0" marR="0" rtl="0" algn="l">
                  <a:lnSpc>
                    <a:spcPct val="100000"/>
                  </a:lnSpc>
                  <a:spcBef>
                    <a:spcPts val="0"/>
                  </a:spcBef>
                  <a:spcAft>
                    <a:spcPts val="0"/>
                  </a:spcAft>
                  <a:buClr>
                    <a:srgbClr val="000000"/>
                  </a:buClr>
                  <a:buSzPts val="2526"/>
                  <a:buFont typeface="Arial"/>
                  <a:buNone/>
                </a:pPr>
                <a:r>
                  <a:t/>
                </a:r>
                <a:endParaRPr b="0" i="0" sz="2526" u="none" cap="none" strike="noStrike">
                  <a:solidFill>
                    <a:srgbClr val="000000"/>
                  </a:solidFill>
                  <a:latin typeface="Arial"/>
                  <a:ea typeface="Arial"/>
                  <a:cs typeface="Arial"/>
                  <a:sym typeface="Arial"/>
                </a:endParaRPr>
              </a:p>
            </p:txBody>
          </p:sp>
        </p:grpSp>
        <p:sp>
          <p:nvSpPr>
            <p:cNvPr id="639" name="Google Shape;639;p58"/>
            <p:cNvSpPr/>
            <p:nvPr/>
          </p:nvSpPr>
          <p:spPr>
            <a:xfrm>
              <a:off x="10440042" y="822631"/>
              <a:ext cx="131100" cy="3076800"/>
            </a:xfrm>
            <a:prstGeom prst="roundRect">
              <a:avLst>
                <a:gd fmla="val 74369" name="adj"/>
              </a:avLst>
            </a:prstGeom>
            <a:solidFill>
              <a:srgbClr val="835E54"/>
            </a:solidFill>
            <a:ln>
              <a:noFill/>
            </a:ln>
          </p:spPr>
          <p:txBody>
            <a:bodyPr anchorCtr="0" anchor="ctr" bIns="129200" lIns="129200" spcFirstLastPara="1" rIns="129200" wrap="square" tIns="129200">
              <a:noAutofit/>
            </a:bodyPr>
            <a:lstStyle/>
            <a:p>
              <a:pPr indent="0" lvl="0" marL="0" marR="0" rtl="0" algn="l">
                <a:lnSpc>
                  <a:spcPct val="100000"/>
                </a:lnSpc>
                <a:spcBef>
                  <a:spcPts val="0"/>
                </a:spcBef>
                <a:spcAft>
                  <a:spcPts val="0"/>
                </a:spcAft>
                <a:buClr>
                  <a:srgbClr val="000000"/>
                </a:buClr>
                <a:buSzPts val="2526"/>
                <a:buFont typeface="Arial"/>
                <a:buNone/>
              </a:pPr>
              <a:r>
                <a:t/>
              </a:r>
              <a:endParaRPr b="0" i="0" sz="2526" u="none" cap="none" strike="noStrike">
                <a:solidFill>
                  <a:srgbClr val="000000"/>
                </a:solidFill>
                <a:latin typeface="Arial"/>
                <a:ea typeface="Arial"/>
                <a:cs typeface="Arial"/>
                <a:sym typeface="Arial"/>
              </a:endParaRPr>
            </a:p>
          </p:txBody>
        </p:sp>
        <p:sp>
          <p:nvSpPr>
            <p:cNvPr id="640" name="Google Shape;640;p58"/>
            <p:cNvSpPr/>
            <p:nvPr/>
          </p:nvSpPr>
          <p:spPr>
            <a:xfrm>
              <a:off x="1297403" y="822671"/>
              <a:ext cx="9142800" cy="3076800"/>
            </a:xfrm>
            <a:prstGeom prst="rect">
              <a:avLst/>
            </a:prstGeom>
            <a:noFill/>
            <a:ln>
              <a:noFill/>
            </a:ln>
          </p:spPr>
          <p:txBody>
            <a:bodyPr anchorCtr="0" anchor="ctr" bIns="0" lIns="0" spcFirstLastPara="1" rIns="0" wrap="square" tIns="0">
              <a:noAutofit/>
            </a:bodyPr>
            <a:lstStyle/>
            <a:p>
              <a:pPr indent="0" lvl="0" marL="0" marR="0" rtl="0" algn="ctr">
                <a:lnSpc>
                  <a:spcPct val="125423"/>
                </a:lnSpc>
                <a:spcBef>
                  <a:spcPts val="0"/>
                </a:spcBef>
                <a:spcAft>
                  <a:spcPts val="0"/>
                </a:spcAft>
                <a:buClr>
                  <a:srgbClr val="443728"/>
                </a:buClr>
                <a:buSzPts val="1861"/>
                <a:buFont typeface="Crimson Pro"/>
                <a:buNone/>
              </a:pPr>
              <a:r>
                <a:rPr b="1" lang="en-GB" sz="5469">
                  <a:solidFill>
                    <a:srgbClr val="443728"/>
                  </a:solidFill>
                </a:rPr>
                <a:t>Future work / Proposal</a:t>
              </a:r>
              <a:endParaRPr i="0" sz="5469" u="none" cap="none" strike="noStrike">
                <a:solidFill>
                  <a:srgbClr val="000000"/>
                </a:solidFill>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grpSp>
        <p:nvGrpSpPr>
          <p:cNvPr id="645" name="Google Shape;645;p59"/>
          <p:cNvGrpSpPr/>
          <p:nvPr/>
        </p:nvGrpSpPr>
        <p:grpSpPr>
          <a:xfrm>
            <a:off x="691325" y="1202002"/>
            <a:ext cx="7459083" cy="3363145"/>
            <a:chOff x="109072" y="1122265"/>
            <a:chExt cx="2817300" cy="1903200"/>
          </a:xfrm>
        </p:grpSpPr>
        <p:sp>
          <p:nvSpPr>
            <p:cNvPr id="646" name="Google Shape;646;p59"/>
            <p:cNvSpPr/>
            <p:nvPr/>
          </p:nvSpPr>
          <p:spPr>
            <a:xfrm>
              <a:off x="109072" y="1122265"/>
              <a:ext cx="2817300" cy="1903200"/>
            </a:xfrm>
            <a:prstGeom prst="roundRect">
              <a:avLst>
                <a:gd fmla="val 5302" name="adj"/>
              </a:avLst>
            </a:prstGeom>
            <a:solidFill>
              <a:srgbClr val="FFFCFA"/>
            </a:solidFill>
            <a:ln cap="flat" cmpd="sng" w="30850">
              <a:solidFill>
                <a:srgbClr val="D1C8C6"/>
              </a:solidFill>
              <a:prstDash val="solid"/>
              <a:round/>
              <a:headEnd len="sm" w="sm" type="none"/>
              <a:tailEnd len="sm" w="sm" type="none"/>
            </a:ln>
          </p:spPr>
          <p:txBody>
            <a:bodyPr anchorCtr="0" anchor="ctr" bIns="123400" lIns="123400" spcFirstLastPara="1" rIns="123400" wrap="square" tIns="123400">
              <a:noAutofit/>
            </a:bodyPr>
            <a:lstStyle/>
            <a:p>
              <a:pPr indent="0" lvl="0" marL="0" marR="0" rtl="0" algn="l">
                <a:lnSpc>
                  <a:spcPct val="100000"/>
                </a:lnSpc>
                <a:spcBef>
                  <a:spcPts val="0"/>
                </a:spcBef>
                <a:spcAft>
                  <a:spcPts val="0"/>
                </a:spcAft>
                <a:buClr>
                  <a:srgbClr val="000000"/>
                </a:buClr>
                <a:buSzPts val="2413"/>
                <a:buFont typeface="Arial"/>
                <a:buNone/>
              </a:pPr>
              <a:r>
                <a:t/>
              </a:r>
              <a:endParaRPr i="0" sz="2413" u="none" cap="none" strike="noStrike">
                <a:solidFill>
                  <a:srgbClr val="000000"/>
                </a:solidFill>
              </a:endParaRPr>
            </a:p>
          </p:txBody>
        </p:sp>
        <p:sp>
          <p:nvSpPr>
            <p:cNvPr id="647" name="Google Shape;647;p59"/>
            <p:cNvSpPr/>
            <p:nvPr/>
          </p:nvSpPr>
          <p:spPr>
            <a:xfrm>
              <a:off x="190670" y="1228506"/>
              <a:ext cx="1585200" cy="232500"/>
            </a:xfrm>
            <a:prstGeom prst="rect">
              <a:avLst/>
            </a:prstGeom>
            <a:noFill/>
            <a:ln>
              <a:noFill/>
            </a:ln>
          </p:spPr>
          <p:txBody>
            <a:bodyPr anchorCtr="0" anchor="ctr" bIns="0" lIns="0" spcFirstLastPara="1" rIns="0" wrap="square" tIns="0">
              <a:noAutofit/>
            </a:bodyPr>
            <a:lstStyle/>
            <a:p>
              <a:pPr indent="0" lvl="0" marL="0" rtl="0" algn="l">
                <a:lnSpc>
                  <a:spcPct val="150000"/>
                </a:lnSpc>
                <a:spcBef>
                  <a:spcPts val="0"/>
                </a:spcBef>
                <a:spcAft>
                  <a:spcPts val="1220"/>
                </a:spcAft>
                <a:buClr>
                  <a:schemeClr val="dk1"/>
                </a:buClr>
                <a:buSzPts val="1220"/>
                <a:buFont typeface="Arial"/>
                <a:buNone/>
              </a:pPr>
              <a:r>
                <a:t/>
              </a:r>
              <a:endParaRPr b="1" sz="1553">
                <a:solidFill>
                  <a:srgbClr val="443728"/>
                </a:solidFill>
              </a:endParaRPr>
            </a:p>
          </p:txBody>
        </p:sp>
      </p:grpSp>
      <p:sp>
        <p:nvSpPr>
          <p:cNvPr id="648" name="Google Shape;648;p59"/>
          <p:cNvSpPr/>
          <p:nvPr/>
        </p:nvSpPr>
        <p:spPr>
          <a:xfrm>
            <a:off x="485175" y="87325"/>
            <a:ext cx="3727200" cy="522900"/>
          </a:xfrm>
          <a:prstGeom prst="rect">
            <a:avLst/>
          </a:prstGeom>
          <a:noFill/>
          <a:ln>
            <a:noFill/>
          </a:ln>
        </p:spPr>
        <p:txBody>
          <a:bodyPr anchorCtr="0" anchor="t" bIns="0" lIns="0" spcFirstLastPara="1" rIns="0" wrap="square" tIns="0">
            <a:noAutofit/>
          </a:bodyPr>
          <a:lstStyle/>
          <a:p>
            <a:pPr indent="0" lvl="0" marL="0" marR="0" rtl="0" algn="l">
              <a:lnSpc>
                <a:spcPct val="125423"/>
              </a:lnSpc>
              <a:spcBef>
                <a:spcPts val="0"/>
              </a:spcBef>
              <a:spcAft>
                <a:spcPts val="0"/>
              </a:spcAft>
              <a:buClr>
                <a:srgbClr val="443728"/>
              </a:buClr>
              <a:buSzPts val="1864"/>
              <a:buFont typeface="Crimson Pro"/>
              <a:buNone/>
            </a:pPr>
            <a:r>
              <a:rPr b="1" lang="en-GB" sz="2864">
                <a:solidFill>
                  <a:srgbClr val="443728"/>
                </a:solidFill>
              </a:rPr>
              <a:t>Model Improvements </a:t>
            </a:r>
            <a:endParaRPr b="1" i="0" sz="2864" u="none" cap="none" strike="noStrike">
              <a:solidFill>
                <a:srgbClr val="000000"/>
              </a:solidFill>
            </a:endParaRPr>
          </a:p>
        </p:txBody>
      </p:sp>
      <p:sp>
        <p:nvSpPr>
          <p:cNvPr id="649" name="Google Shape;649;p59"/>
          <p:cNvSpPr/>
          <p:nvPr/>
        </p:nvSpPr>
        <p:spPr>
          <a:xfrm rot="-5400000">
            <a:off x="2403175" y="-1483625"/>
            <a:ext cx="41700" cy="4146000"/>
          </a:xfrm>
          <a:prstGeom prst="roundRect">
            <a:avLst>
              <a:gd fmla="val 74369" name="adj"/>
            </a:avLst>
          </a:prstGeom>
          <a:solidFill>
            <a:srgbClr val="835E54"/>
          </a:solidFill>
          <a:ln>
            <a:noFill/>
          </a:ln>
        </p:spPr>
        <p:txBody>
          <a:bodyPr anchorCtr="0" anchor="ctr" bIns="105475" lIns="105475" spcFirstLastPara="1" rIns="105475" wrap="square" tIns="105475">
            <a:noAutofit/>
          </a:bodyPr>
          <a:lstStyle/>
          <a:p>
            <a:pPr indent="0" lvl="0" marL="0" marR="0" rtl="0" algn="l">
              <a:lnSpc>
                <a:spcPct val="100000"/>
              </a:lnSpc>
              <a:spcBef>
                <a:spcPts val="0"/>
              </a:spcBef>
              <a:spcAft>
                <a:spcPts val="0"/>
              </a:spcAft>
              <a:buClr>
                <a:srgbClr val="000000"/>
              </a:buClr>
              <a:buSzPts val="2062"/>
              <a:buFont typeface="Arial"/>
              <a:buNone/>
            </a:pPr>
            <a:r>
              <a:t/>
            </a:r>
            <a:endParaRPr i="0" sz="2062" u="none" cap="none" strike="noStrike">
              <a:solidFill>
                <a:srgbClr val="000000"/>
              </a:solidFill>
            </a:endParaRPr>
          </a:p>
        </p:txBody>
      </p:sp>
      <p:sp>
        <p:nvSpPr>
          <p:cNvPr id="650" name="Google Shape;650;p59"/>
          <p:cNvSpPr txBox="1"/>
          <p:nvPr/>
        </p:nvSpPr>
        <p:spPr>
          <a:xfrm>
            <a:off x="1077100" y="1506425"/>
            <a:ext cx="6899400" cy="85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500" u="sng">
                <a:solidFill>
                  <a:schemeClr val="dk2"/>
                </a:solidFill>
              </a:rPr>
              <a:t>Embedding size : Sbert(768) , topic (5/ 64) , </a:t>
            </a:r>
            <a:r>
              <a:rPr b="1" lang="en-GB" sz="1500" u="sng">
                <a:solidFill>
                  <a:schemeClr val="dk2"/>
                </a:solidFill>
              </a:rPr>
              <a:t>time (1), entity(64)</a:t>
            </a:r>
            <a:endParaRPr b="1" sz="1500" u="sng">
              <a:solidFill>
                <a:schemeClr val="dk2"/>
              </a:solidFill>
            </a:endParaRPr>
          </a:p>
          <a:p>
            <a:pPr indent="0" lvl="0" marL="0" rtl="0" algn="l">
              <a:spcBef>
                <a:spcPts val="0"/>
              </a:spcBef>
              <a:spcAft>
                <a:spcPts val="0"/>
              </a:spcAft>
              <a:buNone/>
            </a:pPr>
            <a:r>
              <a:rPr lang="en-GB" sz="1200">
                <a:solidFill>
                  <a:schemeClr val="dk2"/>
                </a:solidFill>
              </a:rPr>
              <a:t>Now ,we have to come up with the embedding dimension that increase the representation of the topic , time and entity as compared ot sbert.</a:t>
            </a:r>
            <a:endParaRPr sz="1200">
              <a:solidFill>
                <a:schemeClr val="dk2"/>
              </a:solidFill>
            </a:endParaRPr>
          </a:p>
        </p:txBody>
      </p:sp>
      <p:sp>
        <p:nvSpPr>
          <p:cNvPr id="651" name="Google Shape;651;p59"/>
          <p:cNvSpPr txBox="1"/>
          <p:nvPr/>
        </p:nvSpPr>
        <p:spPr>
          <a:xfrm>
            <a:off x="1077100" y="2467925"/>
            <a:ext cx="6587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u="sng">
                <a:solidFill>
                  <a:schemeClr val="dk2"/>
                </a:solidFill>
              </a:rPr>
              <a:t>Multihead attention pooling :  </a:t>
            </a:r>
            <a:r>
              <a:rPr lang="en-GB" sz="1300">
                <a:solidFill>
                  <a:schemeClr val="dk2"/>
                </a:solidFill>
              </a:rPr>
              <a:t>While current attention pooling learns a single importance distribution over tokens, multi-head attention pooling can model multiple complementary </a:t>
            </a:r>
            <a:r>
              <a:rPr lang="en-GB" sz="1300">
                <a:solidFill>
                  <a:schemeClr val="dk2"/>
                </a:solidFill>
              </a:rPr>
              <a:t>perspectives, leading to richer embeddings.</a:t>
            </a:r>
            <a:endParaRPr sz="1200"/>
          </a:p>
        </p:txBody>
      </p:sp>
      <p:sp>
        <p:nvSpPr>
          <p:cNvPr id="652" name="Google Shape;652;p59"/>
          <p:cNvSpPr txBox="1"/>
          <p:nvPr/>
        </p:nvSpPr>
        <p:spPr>
          <a:xfrm>
            <a:off x="1077100" y="3511625"/>
            <a:ext cx="68994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u="sng">
                <a:solidFill>
                  <a:schemeClr val="dk2"/>
                </a:solidFill>
              </a:rPr>
              <a:t>Contrastive Loss</a:t>
            </a:r>
            <a:r>
              <a:rPr b="1" lang="en-GB" sz="1600" u="sng">
                <a:solidFill>
                  <a:schemeClr val="dk2"/>
                </a:solidFill>
              </a:rPr>
              <a:t>:  </a:t>
            </a:r>
            <a:r>
              <a:rPr lang="en-GB" sz="1300">
                <a:solidFill>
                  <a:schemeClr val="dk2"/>
                </a:solidFill>
              </a:rPr>
              <a:t>We  wanted to upgrade loss with temporal weighting to prioritize time-relevant relationships in narrative shifts.</a:t>
            </a:r>
            <a:endParaRPr sz="12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4">
                                  <p:stCondLst>
                                    <p:cond delay="0"/>
                                  </p:stCondLst>
                                  <p:childTnLst>
                                    <p:set>
                                      <p:cBhvr>
                                        <p:cTn dur="1" fill="hold">
                                          <p:stCondLst>
                                            <p:cond delay="0"/>
                                          </p:stCondLst>
                                        </p:cTn>
                                        <p:tgtEl>
                                          <p:spTgt spid="650"/>
                                        </p:tgtEl>
                                        <p:attrNameLst>
                                          <p:attrName>style.visibility</p:attrName>
                                        </p:attrNameLst>
                                      </p:cBhvr>
                                      <p:to>
                                        <p:strVal val="visible"/>
                                      </p:to>
                                    </p:set>
                                    <p:anim calcmode="lin" valueType="num">
                                      <p:cBhvr additive="base">
                                        <p:cTn dur="1000"/>
                                        <p:tgtEl>
                                          <p:spTgt spid="65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51"/>
                                        </p:tgtEl>
                                        <p:attrNameLst>
                                          <p:attrName>style.visibility</p:attrName>
                                        </p:attrNameLst>
                                      </p:cBhvr>
                                      <p:to>
                                        <p:strVal val="visible"/>
                                      </p:to>
                                    </p:set>
                                    <p:anim calcmode="lin" valueType="num">
                                      <p:cBhvr additive="base">
                                        <p:cTn dur="1000"/>
                                        <p:tgtEl>
                                          <p:spTgt spid="65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52"/>
                                        </p:tgtEl>
                                        <p:attrNameLst>
                                          <p:attrName>style.visibility</p:attrName>
                                        </p:attrNameLst>
                                      </p:cBhvr>
                                      <p:to>
                                        <p:strVal val="visible"/>
                                      </p:to>
                                    </p:set>
                                    <p:anim calcmode="lin" valueType="num">
                                      <p:cBhvr additive="base">
                                        <p:cTn dur="1000"/>
                                        <p:tgtEl>
                                          <p:spTgt spid="65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60"/>
          <p:cNvSpPr/>
          <p:nvPr/>
        </p:nvSpPr>
        <p:spPr>
          <a:xfrm>
            <a:off x="215525" y="1137662"/>
            <a:ext cx="8555295" cy="3630925"/>
          </a:xfrm>
          <a:prstGeom prst="roundRect">
            <a:avLst>
              <a:gd fmla="val 5302" name="adj"/>
            </a:avLst>
          </a:prstGeom>
          <a:solidFill>
            <a:srgbClr val="FFFCFA"/>
          </a:solidFill>
          <a:ln cap="flat" cmpd="sng" w="28500">
            <a:solidFill>
              <a:srgbClr val="D1C8C6"/>
            </a:solidFill>
            <a:prstDash val="solid"/>
            <a:round/>
            <a:headEnd len="sm" w="sm" type="none"/>
            <a:tailEnd len="sm" w="sm" type="none"/>
          </a:ln>
        </p:spPr>
        <p:txBody>
          <a:bodyPr anchorCtr="0" anchor="ctr" bIns="114050" lIns="114050" spcFirstLastPara="1" rIns="114050" wrap="square" tIns="114050">
            <a:noAutofit/>
          </a:bodyPr>
          <a:lstStyle/>
          <a:p>
            <a:pPr indent="0" lvl="0" marL="0" marR="0" rtl="0" algn="l">
              <a:lnSpc>
                <a:spcPct val="100000"/>
              </a:lnSpc>
              <a:spcBef>
                <a:spcPts val="0"/>
              </a:spcBef>
              <a:spcAft>
                <a:spcPts val="0"/>
              </a:spcAft>
              <a:buClr>
                <a:srgbClr val="000000"/>
              </a:buClr>
              <a:buSzPts val="2230"/>
              <a:buFont typeface="Arial"/>
              <a:buNone/>
            </a:pPr>
            <a:r>
              <a:t/>
            </a:r>
            <a:endParaRPr i="0" sz="2230" u="none" cap="none" strike="noStrike">
              <a:solidFill>
                <a:srgbClr val="000000"/>
              </a:solidFill>
            </a:endParaRPr>
          </a:p>
        </p:txBody>
      </p:sp>
      <p:grpSp>
        <p:nvGrpSpPr>
          <p:cNvPr id="658" name="Google Shape;658;p60"/>
          <p:cNvGrpSpPr/>
          <p:nvPr/>
        </p:nvGrpSpPr>
        <p:grpSpPr>
          <a:xfrm>
            <a:off x="491250" y="1340351"/>
            <a:ext cx="7867482" cy="840188"/>
            <a:chOff x="491250" y="1340351"/>
            <a:chExt cx="7867482" cy="840188"/>
          </a:xfrm>
        </p:grpSpPr>
        <p:sp>
          <p:nvSpPr>
            <p:cNvPr id="659" name="Google Shape;659;p60"/>
            <p:cNvSpPr/>
            <p:nvPr/>
          </p:nvSpPr>
          <p:spPr>
            <a:xfrm>
              <a:off x="491250" y="1340351"/>
              <a:ext cx="7867482" cy="132211"/>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1128"/>
                </a:spcAft>
                <a:buClr>
                  <a:schemeClr val="dk1"/>
                </a:buClr>
                <a:buSzPts val="1128"/>
                <a:buFont typeface="Arial"/>
                <a:buNone/>
              </a:pPr>
              <a:r>
                <a:rPr b="1" lang="en-GB" sz="1235">
                  <a:solidFill>
                    <a:srgbClr val="181818"/>
                  </a:solidFill>
                  <a:highlight>
                    <a:schemeClr val="lt1"/>
                  </a:highlight>
                </a:rPr>
                <a:t>Currently we are using the fixed window for each of the topic, But each topic evolve at different rate.</a:t>
              </a:r>
              <a:endParaRPr b="1" sz="1235">
                <a:solidFill>
                  <a:srgbClr val="443728"/>
                </a:solidFill>
              </a:endParaRPr>
            </a:p>
          </p:txBody>
        </p:sp>
        <p:sp>
          <p:nvSpPr>
            <p:cNvPr id="660" name="Google Shape;660;p60"/>
            <p:cNvSpPr/>
            <p:nvPr/>
          </p:nvSpPr>
          <p:spPr>
            <a:xfrm>
              <a:off x="545900" y="1558977"/>
              <a:ext cx="7626976" cy="621561"/>
            </a:xfrm>
            <a:prstGeom prst="rect">
              <a:avLst/>
            </a:prstGeom>
            <a:noFill/>
            <a:ln>
              <a:noFill/>
            </a:ln>
          </p:spPr>
          <p:txBody>
            <a:bodyPr anchorCtr="0" anchor="t" bIns="0" lIns="0" spcFirstLastPara="1" rIns="0" wrap="square" tIns="0">
              <a:noAutofit/>
            </a:bodyPr>
            <a:lstStyle/>
            <a:p>
              <a:pPr indent="-298839" lvl="0" marL="457200" rtl="0" algn="l">
                <a:spcBef>
                  <a:spcPts val="0"/>
                </a:spcBef>
                <a:spcAft>
                  <a:spcPts val="0"/>
                </a:spcAft>
                <a:buClr>
                  <a:schemeClr val="dk1"/>
                </a:buClr>
                <a:buSzPts val="1106"/>
                <a:buChar char="●"/>
              </a:pPr>
              <a:r>
                <a:rPr lang="en-GB" sz="1200">
                  <a:solidFill>
                    <a:schemeClr val="dk1"/>
                  </a:solidFill>
                </a:rPr>
                <a:t>Narrative evolution varies across topics—technology changes rapidly while domains like war evolve more gradually—thus, a fixed window is suboptimal, motivating topic-specific dynamic windowing.</a:t>
              </a:r>
              <a:endParaRPr sz="1200">
                <a:solidFill>
                  <a:schemeClr val="dk1"/>
                </a:solidFill>
              </a:endParaRPr>
            </a:p>
            <a:p>
              <a:pPr indent="0" lvl="0" marL="457200" rtl="0" algn="l">
                <a:spcBef>
                  <a:spcPts val="0"/>
                </a:spcBef>
                <a:spcAft>
                  <a:spcPts val="0"/>
                </a:spcAft>
                <a:buNone/>
              </a:pPr>
              <a:r>
                <a:t/>
              </a:r>
              <a:endParaRPr sz="1300" u="sng">
                <a:solidFill>
                  <a:schemeClr val="dk2"/>
                </a:solidFill>
              </a:endParaRPr>
            </a:p>
            <a:p>
              <a:pPr indent="0" lvl="0" marL="0" rtl="0" algn="l">
                <a:lnSpc>
                  <a:spcPct val="150000"/>
                </a:lnSpc>
                <a:spcBef>
                  <a:spcPts val="0"/>
                </a:spcBef>
                <a:spcAft>
                  <a:spcPts val="1128"/>
                </a:spcAft>
                <a:buNone/>
              </a:pPr>
              <a:r>
                <a:t/>
              </a:r>
              <a:endParaRPr sz="1206">
                <a:solidFill>
                  <a:srgbClr val="443728"/>
                </a:solidFill>
              </a:endParaRPr>
            </a:p>
          </p:txBody>
        </p:sp>
      </p:grpSp>
      <p:sp>
        <p:nvSpPr>
          <p:cNvPr id="661" name="Google Shape;661;p60"/>
          <p:cNvSpPr/>
          <p:nvPr/>
        </p:nvSpPr>
        <p:spPr>
          <a:xfrm>
            <a:off x="324775" y="162325"/>
            <a:ext cx="3727200" cy="522900"/>
          </a:xfrm>
          <a:prstGeom prst="rect">
            <a:avLst/>
          </a:prstGeom>
          <a:noFill/>
          <a:ln>
            <a:noFill/>
          </a:ln>
        </p:spPr>
        <p:txBody>
          <a:bodyPr anchorCtr="0" anchor="t" bIns="0" lIns="0" spcFirstLastPara="1" rIns="0" wrap="square" tIns="0">
            <a:noAutofit/>
          </a:bodyPr>
          <a:lstStyle/>
          <a:p>
            <a:pPr indent="0" lvl="0" marL="0" marR="0" rtl="0" algn="l">
              <a:lnSpc>
                <a:spcPct val="125423"/>
              </a:lnSpc>
              <a:spcBef>
                <a:spcPts val="0"/>
              </a:spcBef>
              <a:spcAft>
                <a:spcPts val="0"/>
              </a:spcAft>
              <a:buClr>
                <a:srgbClr val="443728"/>
              </a:buClr>
              <a:buSzPts val="1864"/>
              <a:buFont typeface="Crimson Pro"/>
              <a:buNone/>
            </a:pPr>
            <a:r>
              <a:rPr b="1" lang="en-GB" sz="2864">
                <a:solidFill>
                  <a:srgbClr val="443728"/>
                </a:solidFill>
              </a:rPr>
              <a:t>Temporal Windowing</a:t>
            </a:r>
            <a:r>
              <a:rPr b="1" lang="en-GB" sz="2864">
                <a:solidFill>
                  <a:srgbClr val="443728"/>
                </a:solidFill>
              </a:rPr>
              <a:t> </a:t>
            </a:r>
            <a:endParaRPr b="1" i="0" sz="2864" u="none" cap="none" strike="noStrike">
              <a:solidFill>
                <a:srgbClr val="000000"/>
              </a:solidFill>
            </a:endParaRPr>
          </a:p>
        </p:txBody>
      </p:sp>
      <p:sp>
        <p:nvSpPr>
          <p:cNvPr id="662" name="Google Shape;662;p60"/>
          <p:cNvSpPr/>
          <p:nvPr/>
        </p:nvSpPr>
        <p:spPr>
          <a:xfrm rot="-5400000">
            <a:off x="2202725" y="-1395500"/>
            <a:ext cx="48300" cy="4022700"/>
          </a:xfrm>
          <a:prstGeom prst="roundRect">
            <a:avLst>
              <a:gd fmla="val 74369" name="adj"/>
            </a:avLst>
          </a:prstGeom>
          <a:solidFill>
            <a:srgbClr val="835E54"/>
          </a:solidFill>
          <a:ln>
            <a:noFill/>
          </a:ln>
        </p:spPr>
        <p:txBody>
          <a:bodyPr anchorCtr="0" anchor="ctr" bIns="105475" lIns="105475" spcFirstLastPara="1" rIns="105475" wrap="square" tIns="105475">
            <a:noAutofit/>
          </a:bodyPr>
          <a:lstStyle/>
          <a:p>
            <a:pPr indent="0" lvl="0" marL="0" marR="0" rtl="0" algn="l">
              <a:lnSpc>
                <a:spcPct val="100000"/>
              </a:lnSpc>
              <a:spcBef>
                <a:spcPts val="0"/>
              </a:spcBef>
              <a:spcAft>
                <a:spcPts val="0"/>
              </a:spcAft>
              <a:buClr>
                <a:srgbClr val="000000"/>
              </a:buClr>
              <a:buSzPts val="2062"/>
              <a:buFont typeface="Arial"/>
              <a:buNone/>
            </a:pPr>
            <a:r>
              <a:t/>
            </a:r>
            <a:endParaRPr i="0" sz="2062" u="none" cap="none" strike="noStrike">
              <a:solidFill>
                <a:srgbClr val="000000"/>
              </a:solidFill>
            </a:endParaRPr>
          </a:p>
        </p:txBody>
      </p:sp>
      <p:grpSp>
        <p:nvGrpSpPr>
          <p:cNvPr id="663" name="Google Shape;663;p60"/>
          <p:cNvGrpSpPr/>
          <p:nvPr/>
        </p:nvGrpSpPr>
        <p:grpSpPr>
          <a:xfrm>
            <a:off x="398637" y="2503439"/>
            <a:ext cx="8189100" cy="2222409"/>
            <a:chOff x="398637" y="2503439"/>
            <a:chExt cx="8189100" cy="2222409"/>
          </a:xfrm>
        </p:grpSpPr>
        <p:sp>
          <p:nvSpPr>
            <p:cNvPr id="664" name="Google Shape;664;p60"/>
            <p:cNvSpPr/>
            <p:nvPr/>
          </p:nvSpPr>
          <p:spPr>
            <a:xfrm>
              <a:off x="398637" y="2503439"/>
              <a:ext cx="8189100" cy="761100"/>
            </a:xfrm>
            <a:prstGeom prst="rect">
              <a:avLst/>
            </a:prstGeom>
            <a:noFill/>
            <a:ln>
              <a:noFill/>
            </a:ln>
          </p:spPr>
          <p:txBody>
            <a:bodyPr anchorCtr="0" anchor="t" bIns="0" lIns="0" spcFirstLastPara="1" rIns="0" wrap="square" tIns="0">
              <a:noAutofit/>
            </a:bodyPr>
            <a:lstStyle/>
            <a:p>
              <a:pPr indent="0" lvl="0" marL="457200" rtl="0" algn="ctr">
                <a:spcBef>
                  <a:spcPts val="0"/>
                </a:spcBef>
                <a:spcAft>
                  <a:spcPts val="0"/>
                </a:spcAft>
                <a:buClr>
                  <a:schemeClr val="dk1"/>
                </a:buClr>
                <a:buSzPts val="1100"/>
                <a:buFont typeface="Arial"/>
                <a:buNone/>
              </a:pPr>
              <a:r>
                <a:t/>
              </a:r>
              <a:endParaRPr b="1" sz="1300" u="sng">
                <a:solidFill>
                  <a:schemeClr val="dk2"/>
                </a:solidFill>
              </a:endParaRPr>
            </a:p>
            <a:p>
              <a:pPr indent="0" lvl="0" marL="0" rtl="0" algn="ctr">
                <a:lnSpc>
                  <a:spcPct val="150000"/>
                </a:lnSpc>
                <a:spcBef>
                  <a:spcPts val="0"/>
                </a:spcBef>
                <a:spcAft>
                  <a:spcPts val="0"/>
                </a:spcAft>
                <a:buClr>
                  <a:schemeClr val="dk1"/>
                </a:buClr>
                <a:buSzPts val="1100"/>
                <a:buFont typeface="Arial"/>
                <a:buNone/>
              </a:pPr>
              <a:r>
                <a:rPr b="1" lang="en-GB" sz="1335">
                  <a:solidFill>
                    <a:srgbClr val="181818"/>
                  </a:solidFill>
                  <a:highlight>
                    <a:schemeClr val="lt1"/>
                  </a:highlight>
                </a:rPr>
                <a:t>“There are decades where nothing happens, and there are weeks where decades happen” </a:t>
              </a:r>
              <a:endParaRPr b="1" sz="1335">
                <a:solidFill>
                  <a:srgbClr val="181818"/>
                </a:solidFill>
                <a:highlight>
                  <a:schemeClr val="lt1"/>
                </a:highlight>
              </a:endParaRPr>
            </a:p>
            <a:p>
              <a:pPr indent="0" lvl="0" marL="0" rtl="0" algn="ctr">
                <a:lnSpc>
                  <a:spcPct val="150000"/>
                </a:lnSpc>
                <a:spcBef>
                  <a:spcPts val="1128"/>
                </a:spcBef>
                <a:spcAft>
                  <a:spcPts val="1128"/>
                </a:spcAft>
                <a:buClr>
                  <a:schemeClr val="dk1"/>
                </a:buClr>
                <a:buSzPts val="1100"/>
                <a:buFont typeface="Arial"/>
                <a:buNone/>
              </a:pPr>
              <a:r>
                <a:rPr b="1" lang="en-GB" sz="1335">
                  <a:solidFill>
                    <a:srgbClr val="181818"/>
                  </a:solidFill>
                  <a:highlight>
                    <a:schemeClr val="lt1"/>
                  </a:highlight>
                </a:rPr>
                <a:t>~ Vladimir lenin. </a:t>
              </a:r>
              <a:endParaRPr b="1" sz="1235">
                <a:solidFill>
                  <a:srgbClr val="181818"/>
                </a:solidFill>
                <a:highlight>
                  <a:schemeClr val="lt1"/>
                </a:highlight>
              </a:endParaRPr>
            </a:p>
          </p:txBody>
        </p:sp>
        <p:sp>
          <p:nvSpPr>
            <p:cNvPr id="665" name="Google Shape;665;p60"/>
            <p:cNvSpPr/>
            <p:nvPr/>
          </p:nvSpPr>
          <p:spPr>
            <a:xfrm>
              <a:off x="455512" y="3495248"/>
              <a:ext cx="7939500" cy="1230600"/>
            </a:xfrm>
            <a:prstGeom prst="rect">
              <a:avLst/>
            </a:prstGeom>
            <a:noFill/>
            <a:ln>
              <a:noFill/>
            </a:ln>
          </p:spPr>
          <p:txBody>
            <a:bodyPr anchorCtr="0" anchor="t" bIns="0" lIns="0" spcFirstLastPara="1" rIns="0" wrap="square" tIns="0">
              <a:noAutofit/>
            </a:bodyPr>
            <a:lstStyle/>
            <a:p>
              <a:pPr indent="-307052" lvl="0" marL="457200" rtl="0" algn="l">
                <a:lnSpc>
                  <a:spcPct val="150000"/>
                </a:lnSpc>
                <a:spcBef>
                  <a:spcPts val="0"/>
                </a:spcBef>
                <a:spcAft>
                  <a:spcPts val="0"/>
                </a:spcAft>
                <a:buClr>
                  <a:srgbClr val="181818"/>
                </a:buClr>
                <a:buSzPts val="1235"/>
                <a:buChar char="●"/>
              </a:pPr>
              <a:r>
                <a:rPr lang="en-GB" sz="1235">
                  <a:solidFill>
                    <a:srgbClr val="181818"/>
                  </a:solidFill>
                  <a:highlight>
                    <a:schemeClr val="lt1"/>
                  </a:highlight>
                </a:rPr>
                <a:t>So it is not great idea to do the narrative shift based on the window, better to  choose dynamic window, currently we are creating dynamic window only when there is semantic shift, but some time tone shift, weight to the topic and topic shift will also the factor responsible for the narrative shift </a:t>
              </a:r>
              <a:endParaRPr sz="1235">
                <a:solidFill>
                  <a:srgbClr val="181818"/>
                </a:solidFill>
                <a:highlight>
                  <a:schemeClr val="lt1"/>
                </a:highlight>
              </a:endParaRPr>
            </a:p>
            <a:p>
              <a:pPr indent="0" lvl="0" marL="457200" rtl="0" algn="l">
                <a:lnSpc>
                  <a:spcPct val="150000"/>
                </a:lnSpc>
                <a:spcBef>
                  <a:spcPts val="1128"/>
                </a:spcBef>
                <a:spcAft>
                  <a:spcPts val="1128"/>
                </a:spcAft>
                <a:buNone/>
              </a:pPr>
              <a:r>
                <a:t/>
              </a:r>
              <a:endParaRPr sz="1206">
                <a:solidFill>
                  <a:srgbClr val="443728"/>
                </a:solidFil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58"/>
                                        </p:tgtEl>
                                        <p:attrNameLst>
                                          <p:attrName>style.visibility</p:attrName>
                                        </p:attrNameLst>
                                      </p:cBhvr>
                                      <p:to>
                                        <p:strVal val="visible"/>
                                      </p:to>
                                    </p:set>
                                    <p:animEffect filter="fade" transition="in">
                                      <p:cBhvr>
                                        <p:cTn dur="1000"/>
                                        <p:tgtEl>
                                          <p:spTgt spid="6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3"/>
                                        </p:tgtEl>
                                        <p:attrNameLst>
                                          <p:attrName>style.visibility</p:attrName>
                                        </p:attrNameLst>
                                      </p:cBhvr>
                                      <p:to>
                                        <p:strVal val="visible"/>
                                      </p:to>
                                    </p:set>
                                    <p:animEffect filter="fade" transition="in">
                                      <p:cBhvr>
                                        <p:cTn dur="1000"/>
                                        <p:tgtEl>
                                          <p:spTgt spid="6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61"/>
          <p:cNvSpPr/>
          <p:nvPr/>
        </p:nvSpPr>
        <p:spPr>
          <a:xfrm>
            <a:off x="414400" y="1645251"/>
            <a:ext cx="8485500" cy="2187000"/>
          </a:xfrm>
          <a:prstGeom prst="roundRect">
            <a:avLst>
              <a:gd fmla="val 5302" name="adj"/>
            </a:avLst>
          </a:prstGeom>
          <a:solidFill>
            <a:srgbClr val="FFFCFA"/>
          </a:solidFill>
          <a:ln cap="flat" cmpd="sng" w="27800">
            <a:solidFill>
              <a:srgbClr val="D1C8C6"/>
            </a:solidFill>
            <a:prstDash val="solid"/>
            <a:round/>
            <a:headEnd len="sm" w="sm" type="none"/>
            <a:tailEnd len="sm" w="sm" type="none"/>
          </a:ln>
        </p:spPr>
        <p:txBody>
          <a:bodyPr anchorCtr="0" anchor="ctr" bIns="111250" lIns="111250" spcFirstLastPara="1" rIns="111250" wrap="square" tIns="111250">
            <a:noAutofit/>
          </a:bodyPr>
          <a:lstStyle/>
          <a:p>
            <a:pPr indent="0" lvl="0" marL="0" marR="0" rtl="0" algn="l">
              <a:lnSpc>
                <a:spcPct val="100000"/>
              </a:lnSpc>
              <a:spcBef>
                <a:spcPts val="0"/>
              </a:spcBef>
              <a:spcAft>
                <a:spcPts val="0"/>
              </a:spcAft>
              <a:buClr>
                <a:srgbClr val="000000"/>
              </a:buClr>
              <a:buSzPts val="2175"/>
              <a:buFont typeface="Arial"/>
              <a:buNone/>
            </a:pPr>
            <a:r>
              <a:t/>
            </a:r>
            <a:endParaRPr i="0" sz="2175" u="none" cap="none" strike="noStrike">
              <a:solidFill>
                <a:srgbClr val="000000"/>
              </a:solidFill>
            </a:endParaRPr>
          </a:p>
        </p:txBody>
      </p:sp>
      <p:sp>
        <p:nvSpPr>
          <p:cNvPr id="671" name="Google Shape;671;p61"/>
          <p:cNvSpPr/>
          <p:nvPr/>
        </p:nvSpPr>
        <p:spPr>
          <a:xfrm>
            <a:off x="846700" y="140375"/>
            <a:ext cx="4632600" cy="522900"/>
          </a:xfrm>
          <a:prstGeom prst="rect">
            <a:avLst/>
          </a:prstGeom>
          <a:noFill/>
          <a:ln>
            <a:noFill/>
          </a:ln>
        </p:spPr>
        <p:txBody>
          <a:bodyPr anchorCtr="0" anchor="t" bIns="0" lIns="0" spcFirstLastPara="1" rIns="0" wrap="square" tIns="0">
            <a:noAutofit/>
          </a:bodyPr>
          <a:lstStyle/>
          <a:p>
            <a:pPr indent="0" lvl="0" marL="0" marR="0" rtl="0" algn="l">
              <a:lnSpc>
                <a:spcPct val="125423"/>
              </a:lnSpc>
              <a:spcBef>
                <a:spcPts val="0"/>
              </a:spcBef>
              <a:spcAft>
                <a:spcPts val="0"/>
              </a:spcAft>
              <a:buClr>
                <a:srgbClr val="443728"/>
              </a:buClr>
              <a:buSzPts val="1864"/>
              <a:buFont typeface="Crimson Pro"/>
              <a:buNone/>
            </a:pPr>
            <a:r>
              <a:rPr b="1" lang="en-GB" sz="3064">
                <a:solidFill>
                  <a:srgbClr val="443728"/>
                </a:solidFill>
              </a:rPr>
              <a:t> </a:t>
            </a:r>
            <a:endParaRPr b="1" i="0" sz="3064" u="none" cap="none" strike="noStrike">
              <a:solidFill>
                <a:srgbClr val="000000"/>
              </a:solidFill>
            </a:endParaRPr>
          </a:p>
        </p:txBody>
      </p:sp>
      <p:grpSp>
        <p:nvGrpSpPr>
          <p:cNvPr id="672" name="Google Shape;672;p61"/>
          <p:cNvGrpSpPr/>
          <p:nvPr/>
        </p:nvGrpSpPr>
        <p:grpSpPr>
          <a:xfrm>
            <a:off x="560450" y="1803046"/>
            <a:ext cx="8103876" cy="2107411"/>
            <a:chOff x="167256" y="1228506"/>
            <a:chExt cx="1608614" cy="1418846"/>
          </a:xfrm>
        </p:grpSpPr>
        <p:sp>
          <p:nvSpPr>
            <p:cNvPr id="673" name="Google Shape;673;p61"/>
            <p:cNvSpPr/>
            <p:nvPr/>
          </p:nvSpPr>
          <p:spPr>
            <a:xfrm>
              <a:off x="190670" y="1228506"/>
              <a:ext cx="1585200" cy="232500"/>
            </a:xfrm>
            <a:prstGeom prst="rect">
              <a:avLst/>
            </a:prstGeom>
            <a:noFill/>
            <a:ln>
              <a:noFill/>
            </a:ln>
          </p:spPr>
          <p:txBody>
            <a:bodyPr anchorCtr="0" anchor="t" bIns="0" lIns="0" spcFirstLastPara="1" rIns="0" wrap="square" tIns="0">
              <a:noAutofit/>
            </a:bodyPr>
            <a:lstStyle/>
            <a:p>
              <a:pPr indent="0" lvl="0" marL="0" rtl="0" algn="l">
                <a:lnSpc>
                  <a:spcPct val="127586"/>
                </a:lnSpc>
                <a:spcBef>
                  <a:spcPts val="0"/>
                </a:spcBef>
                <a:spcAft>
                  <a:spcPts val="0"/>
                </a:spcAft>
                <a:buClr>
                  <a:srgbClr val="443728"/>
                </a:buClr>
                <a:buSzPts val="916"/>
                <a:buFont typeface="Crimson Pro"/>
                <a:buNone/>
              </a:pPr>
              <a:r>
                <a:rPr b="1" lang="en-GB">
                  <a:solidFill>
                    <a:srgbClr val="443728"/>
                  </a:solidFill>
                </a:rPr>
                <a:t>Building smarter models that understand entities</a:t>
              </a:r>
              <a:endParaRPr b="1">
                <a:solidFill>
                  <a:srgbClr val="181818"/>
                </a:solidFill>
                <a:highlight>
                  <a:schemeClr val="lt1"/>
                </a:highlight>
              </a:endParaRPr>
            </a:p>
          </p:txBody>
        </p:sp>
        <p:sp>
          <p:nvSpPr>
            <p:cNvPr id="674" name="Google Shape;674;p61"/>
            <p:cNvSpPr/>
            <p:nvPr/>
          </p:nvSpPr>
          <p:spPr>
            <a:xfrm>
              <a:off x="167256" y="1486052"/>
              <a:ext cx="1540500" cy="1161300"/>
            </a:xfrm>
            <a:prstGeom prst="rect">
              <a:avLst/>
            </a:prstGeom>
            <a:noFill/>
            <a:ln>
              <a:noFill/>
            </a:ln>
          </p:spPr>
          <p:txBody>
            <a:bodyPr anchorCtr="0" anchor="t" bIns="0" lIns="0" spcFirstLastPara="1" rIns="0" wrap="square" tIns="0">
              <a:noAutofit/>
            </a:bodyPr>
            <a:lstStyle/>
            <a:p>
              <a:pPr indent="-425003" lvl="0" marL="710306" rtl="0" algn="l">
                <a:lnSpc>
                  <a:spcPct val="134782"/>
                </a:lnSpc>
                <a:spcBef>
                  <a:spcPts val="0"/>
                </a:spcBef>
                <a:spcAft>
                  <a:spcPts val="0"/>
                </a:spcAft>
                <a:buClr>
                  <a:srgbClr val="443728"/>
                </a:buClr>
                <a:buSzPts val="1100"/>
                <a:buChar char="●"/>
              </a:pPr>
              <a:r>
                <a:rPr lang="en-GB" sz="1100">
                  <a:solidFill>
                    <a:srgbClr val="443728"/>
                  </a:solidFill>
                </a:rPr>
                <a:t>“The United States continues to provide military and financial support to Ukraine in its ongoing conflict with Russia.”</a:t>
              </a:r>
              <a:br>
                <a:rPr lang="en-GB" sz="1100">
                  <a:solidFill>
                    <a:srgbClr val="443728"/>
                  </a:solidFill>
                </a:rPr>
              </a:br>
              <a:r>
                <a:rPr lang="en-GB" sz="1100">
                  <a:solidFill>
                    <a:srgbClr val="443728"/>
                  </a:solidFill>
                </a:rPr>
                <a:t>“The United States is focusing on maintaining stability in the Indo-Pacific region to avoid escalating tensions with China.”</a:t>
              </a:r>
              <a:endParaRPr sz="1100">
                <a:solidFill>
                  <a:srgbClr val="443728"/>
                </a:solidFill>
              </a:endParaRPr>
            </a:p>
            <a:p>
              <a:pPr indent="-425003" lvl="0" marL="710306" rtl="0" algn="l">
                <a:lnSpc>
                  <a:spcPct val="134782"/>
                </a:lnSpc>
                <a:spcBef>
                  <a:spcPts val="0"/>
                </a:spcBef>
                <a:spcAft>
                  <a:spcPts val="0"/>
                </a:spcAft>
                <a:buClr>
                  <a:srgbClr val="443728"/>
                </a:buClr>
                <a:buSzPts val="1100"/>
                <a:buChar char="●"/>
              </a:pPr>
              <a:r>
                <a:rPr lang="en-GB" sz="1100">
                  <a:solidFill>
                    <a:srgbClr val="443728"/>
                  </a:solidFill>
                </a:rPr>
                <a:t>We aim to develop a more robust, entity-aware model that accurately captures narrative evolution within the same entity while minimizing cross-entity noise.</a:t>
              </a:r>
              <a:endParaRPr sz="1100">
                <a:solidFill>
                  <a:srgbClr val="443728"/>
                </a:solidFill>
              </a:endParaRPr>
            </a:p>
          </p:txBody>
        </p:sp>
      </p:grpSp>
      <p:sp>
        <p:nvSpPr>
          <p:cNvPr id="675" name="Google Shape;675;p61"/>
          <p:cNvSpPr/>
          <p:nvPr/>
        </p:nvSpPr>
        <p:spPr>
          <a:xfrm>
            <a:off x="332575" y="140375"/>
            <a:ext cx="6340800" cy="522900"/>
          </a:xfrm>
          <a:prstGeom prst="rect">
            <a:avLst/>
          </a:prstGeom>
          <a:noFill/>
          <a:ln>
            <a:noFill/>
          </a:ln>
        </p:spPr>
        <p:txBody>
          <a:bodyPr anchorCtr="0" anchor="t" bIns="0" lIns="0" spcFirstLastPara="1" rIns="0" wrap="square" tIns="0">
            <a:noAutofit/>
          </a:bodyPr>
          <a:lstStyle/>
          <a:p>
            <a:pPr indent="0" lvl="0" marL="0" marR="0" rtl="0" algn="l">
              <a:lnSpc>
                <a:spcPct val="125423"/>
              </a:lnSpc>
              <a:spcBef>
                <a:spcPts val="0"/>
              </a:spcBef>
              <a:spcAft>
                <a:spcPts val="0"/>
              </a:spcAft>
              <a:buClr>
                <a:srgbClr val="443728"/>
              </a:buClr>
              <a:buSzPts val="1864"/>
              <a:buFont typeface="Crimson Pro"/>
              <a:buNone/>
            </a:pPr>
            <a:r>
              <a:rPr b="1" lang="en-GB" sz="2864">
                <a:solidFill>
                  <a:srgbClr val="443728"/>
                </a:solidFill>
              </a:rPr>
              <a:t>Entity </a:t>
            </a:r>
            <a:r>
              <a:rPr b="1" lang="en-GB" sz="2864">
                <a:solidFill>
                  <a:srgbClr val="443728"/>
                </a:solidFill>
              </a:rPr>
              <a:t>aligned</a:t>
            </a:r>
            <a:r>
              <a:rPr b="1" lang="en-GB" sz="2864">
                <a:solidFill>
                  <a:srgbClr val="443728"/>
                </a:solidFill>
              </a:rPr>
              <a:t> narrative shift</a:t>
            </a:r>
            <a:r>
              <a:rPr b="1" lang="en-GB" sz="2864">
                <a:solidFill>
                  <a:srgbClr val="443728"/>
                </a:solidFill>
              </a:rPr>
              <a:t> </a:t>
            </a:r>
            <a:endParaRPr b="1" i="0" sz="2864" u="none" cap="none" strike="noStrike">
              <a:solidFill>
                <a:srgbClr val="000000"/>
              </a:solidFill>
            </a:endParaRPr>
          </a:p>
        </p:txBody>
      </p:sp>
      <p:sp>
        <p:nvSpPr>
          <p:cNvPr id="676" name="Google Shape;676;p61"/>
          <p:cNvSpPr/>
          <p:nvPr/>
        </p:nvSpPr>
        <p:spPr>
          <a:xfrm rot="-5400000">
            <a:off x="2834825" y="-2057350"/>
            <a:ext cx="63900" cy="5286900"/>
          </a:xfrm>
          <a:prstGeom prst="roundRect">
            <a:avLst>
              <a:gd fmla="val 74369" name="adj"/>
            </a:avLst>
          </a:prstGeom>
          <a:solidFill>
            <a:srgbClr val="835E54"/>
          </a:solidFill>
          <a:ln>
            <a:noFill/>
          </a:ln>
        </p:spPr>
        <p:txBody>
          <a:bodyPr anchorCtr="0" anchor="ctr" bIns="105475" lIns="105475" spcFirstLastPara="1" rIns="105475" wrap="square" tIns="105475">
            <a:noAutofit/>
          </a:bodyPr>
          <a:lstStyle/>
          <a:p>
            <a:pPr indent="0" lvl="0" marL="0" marR="0" rtl="0" algn="l">
              <a:lnSpc>
                <a:spcPct val="100000"/>
              </a:lnSpc>
              <a:spcBef>
                <a:spcPts val="0"/>
              </a:spcBef>
              <a:spcAft>
                <a:spcPts val="0"/>
              </a:spcAft>
              <a:buClr>
                <a:srgbClr val="000000"/>
              </a:buClr>
              <a:buSzPts val="2062"/>
              <a:buFont typeface="Arial"/>
              <a:buNone/>
            </a:pPr>
            <a:r>
              <a:t/>
            </a:r>
            <a:endParaRPr i="0" sz="2062" u="none" cap="none" strike="noStrike">
              <a:solidFill>
                <a:srgbClr val="00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72"/>
                                        </p:tgtEl>
                                        <p:attrNameLst>
                                          <p:attrName>style.visibility</p:attrName>
                                        </p:attrNameLst>
                                      </p:cBhvr>
                                      <p:to>
                                        <p:strVal val="visible"/>
                                      </p:to>
                                    </p:set>
                                    <p:animEffect filter="fade" transition="in">
                                      <p:cBhvr>
                                        <p:cTn dur="1000"/>
                                        <p:tgtEl>
                                          <p:spTgt spid="6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grpSp>
        <p:nvGrpSpPr>
          <p:cNvPr id="681" name="Google Shape;681;p62"/>
          <p:cNvGrpSpPr/>
          <p:nvPr/>
        </p:nvGrpSpPr>
        <p:grpSpPr>
          <a:xfrm>
            <a:off x="1166243" y="787113"/>
            <a:ext cx="6811515" cy="3112274"/>
            <a:chOff x="1166243" y="787113"/>
            <a:chExt cx="6811515" cy="3112274"/>
          </a:xfrm>
        </p:grpSpPr>
        <p:grpSp>
          <p:nvGrpSpPr>
            <p:cNvPr id="682" name="Google Shape;682;p62"/>
            <p:cNvGrpSpPr/>
            <p:nvPr/>
          </p:nvGrpSpPr>
          <p:grpSpPr>
            <a:xfrm>
              <a:off x="1166243" y="822667"/>
              <a:ext cx="6746552" cy="3076719"/>
              <a:chOff x="2216703" y="1122273"/>
              <a:chExt cx="2083105" cy="1903204"/>
            </a:xfrm>
          </p:grpSpPr>
          <p:sp>
            <p:nvSpPr>
              <p:cNvPr id="683" name="Google Shape;683;p62"/>
              <p:cNvSpPr/>
              <p:nvPr/>
            </p:nvSpPr>
            <p:spPr>
              <a:xfrm>
                <a:off x="2234608" y="1122277"/>
                <a:ext cx="2065200" cy="1903200"/>
              </a:xfrm>
              <a:prstGeom prst="roundRect">
                <a:avLst>
                  <a:gd fmla="val 5302" name="adj"/>
                </a:avLst>
              </a:prstGeom>
              <a:solidFill>
                <a:srgbClr val="FFFCFA"/>
              </a:solidFill>
              <a:ln cap="flat" cmpd="sng" w="40150">
                <a:solidFill>
                  <a:srgbClr val="D1C8C6"/>
                </a:solidFill>
                <a:prstDash val="solid"/>
                <a:round/>
                <a:headEnd len="sm" w="sm" type="none"/>
                <a:tailEnd len="sm" w="sm" type="none"/>
              </a:ln>
            </p:spPr>
            <p:txBody>
              <a:bodyPr anchorCtr="0" anchor="ctr" bIns="160525" lIns="160525" spcFirstLastPara="1" rIns="160525" wrap="square" tIns="160525">
                <a:noAutofit/>
              </a:bodyPr>
              <a:lstStyle/>
              <a:p>
                <a:pPr indent="0" lvl="0" marL="0" marR="0" rtl="0" algn="l">
                  <a:lnSpc>
                    <a:spcPct val="100000"/>
                  </a:lnSpc>
                  <a:spcBef>
                    <a:spcPts val="0"/>
                  </a:spcBef>
                  <a:spcAft>
                    <a:spcPts val="0"/>
                  </a:spcAft>
                  <a:buClr>
                    <a:srgbClr val="000000"/>
                  </a:buClr>
                  <a:buSzPts val="3139"/>
                  <a:buFont typeface="Arial"/>
                  <a:buNone/>
                </a:pPr>
                <a:r>
                  <a:t/>
                </a:r>
                <a:endParaRPr b="0" i="0" sz="3139" u="none" cap="none" strike="noStrike">
                  <a:solidFill>
                    <a:srgbClr val="000000"/>
                  </a:solidFill>
                  <a:latin typeface="Arial"/>
                  <a:ea typeface="Arial"/>
                  <a:cs typeface="Arial"/>
                  <a:sym typeface="Arial"/>
                </a:endParaRPr>
              </a:p>
            </p:txBody>
          </p:sp>
          <p:sp>
            <p:nvSpPr>
              <p:cNvPr id="684" name="Google Shape;684;p62"/>
              <p:cNvSpPr/>
              <p:nvPr/>
            </p:nvSpPr>
            <p:spPr>
              <a:xfrm>
                <a:off x="2216703" y="1122273"/>
                <a:ext cx="40500" cy="1903200"/>
              </a:xfrm>
              <a:prstGeom prst="roundRect">
                <a:avLst>
                  <a:gd fmla="val 74369" name="adj"/>
                </a:avLst>
              </a:prstGeom>
              <a:solidFill>
                <a:srgbClr val="835E54"/>
              </a:solidFill>
              <a:ln>
                <a:noFill/>
              </a:ln>
            </p:spPr>
            <p:txBody>
              <a:bodyPr anchorCtr="0" anchor="ctr" bIns="160525" lIns="160525" spcFirstLastPara="1" rIns="160525" wrap="square" tIns="160525">
                <a:noAutofit/>
              </a:bodyPr>
              <a:lstStyle/>
              <a:p>
                <a:pPr indent="0" lvl="0" marL="0" marR="0" rtl="0" algn="l">
                  <a:lnSpc>
                    <a:spcPct val="100000"/>
                  </a:lnSpc>
                  <a:spcBef>
                    <a:spcPts val="0"/>
                  </a:spcBef>
                  <a:spcAft>
                    <a:spcPts val="0"/>
                  </a:spcAft>
                  <a:buClr>
                    <a:srgbClr val="000000"/>
                  </a:buClr>
                  <a:buSzPts val="3139"/>
                  <a:buFont typeface="Arial"/>
                  <a:buNone/>
                </a:pPr>
                <a:r>
                  <a:t/>
                </a:r>
                <a:endParaRPr b="0" i="0" sz="3139" u="none" cap="none" strike="noStrike">
                  <a:solidFill>
                    <a:srgbClr val="000000"/>
                  </a:solidFill>
                  <a:latin typeface="Arial"/>
                  <a:ea typeface="Arial"/>
                  <a:cs typeface="Arial"/>
                  <a:sym typeface="Arial"/>
                </a:endParaRPr>
              </a:p>
            </p:txBody>
          </p:sp>
        </p:grpSp>
        <p:sp>
          <p:nvSpPr>
            <p:cNvPr id="685" name="Google Shape;685;p62"/>
            <p:cNvSpPr/>
            <p:nvPr/>
          </p:nvSpPr>
          <p:spPr>
            <a:xfrm>
              <a:off x="1557375" y="1324798"/>
              <a:ext cx="5831400" cy="2493900"/>
            </a:xfrm>
            <a:prstGeom prst="rect">
              <a:avLst/>
            </a:prstGeom>
            <a:noFill/>
            <a:ln>
              <a:noFill/>
            </a:ln>
          </p:spPr>
          <p:txBody>
            <a:bodyPr anchorCtr="0" anchor="t" bIns="0" lIns="0" spcFirstLastPara="1" rIns="0" wrap="square" tIns="0">
              <a:noAutofit/>
            </a:bodyPr>
            <a:lstStyle/>
            <a:p>
              <a:pPr indent="0" lvl="0" marL="0" marR="0" rtl="0" algn="l">
                <a:lnSpc>
                  <a:spcPct val="125423"/>
                </a:lnSpc>
                <a:spcBef>
                  <a:spcPts val="0"/>
                </a:spcBef>
                <a:spcAft>
                  <a:spcPts val="0"/>
                </a:spcAft>
                <a:buClr>
                  <a:srgbClr val="443728"/>
                </a:buClr>
                <a:buSzPts val="2313"/>
                <a:buFont typeface="Crimson Pro"/>
                <a:buNone/>
              </a:pPr>
              <a:r>
                <a:rPr b="1" lang="en-GB" sz="12232">
                  <a:solidFill>
                    <a:srgbClr val="443728"/>
                  </a:solidFill>
                  <a:latin typeface="Caveat"/>
                  <a:ea typeface="Caveat"/>
                  <a:cs typeface="Caveat"/>
                  <a:sym typeface="Caveat"/>
                </a:rPr>
                <a:t>Thank You</a:t>
              </a:r>
              <a:endParaRPr i="0" sz="12232" u="none" cap="none" strike="noStrike">
                <a:solidFill>
                  <a:srgbClr val="000000"/>
                </a:solidFill>
                <a:latin typeface="Caveat"/>
                <a:ea typeface="Caveat"/>
                <a:cs typeface="Caveat"/>
                <a:sym typeface="Caveat"/>
              </a:endParaRPr>
            </a:p>
          </p:txBody>
        </p:sp>
        <p:sp>
          <p:nvSpPr>
            <p:cNvPr id="686" name="Google Shape;686;p62"/>
            <p:cNvSpPr/>
            <p:nvPr/>
          </p:nvSpPr>
          <p:spPr>
            <a:xfrm>
              <a:off x="7846358" y="787113"/>
              <a:ext cx="131400" cy="3076800"/>
            </a:xfrm>
            <a:prstGeom prst="roundRect">
              <a:avLst>
                <a:gd fmla="val 74369" name="adj"/>
              </a:avLst>
            </a:prstGeom>
            <a:solidFill>
              <a:srgbClr val="835E54"/>
            </a:solidFill>
            <a:ln>
              <a:noFill/>
            </a:ln>
          </p:spPr>
          <p:txBody>
            <a:bodyPr anchorCtr="0" anchor="ctr" bIns="160525" lIns="160525" spcFirstLastPara="1" rIns="160525" wrap="square" tIns="160525">
              <a:noAutofit/>
            </a:bodyPr>
            <a:lstStyle/>
            <a:p>
              <a:pPr indent="0" lvl="0" marL="0" marR="0" rtl="0" algn="l">
                <a:lnSpc>
                  <a:spcPct val="100000"/>
                </a:lnSpc>
                <a:spcBef>
                  <a:spcPts val="0"/>
                </a:spcBef>
                <a:spcAft>
                  <a:spcPts val="0"/>
                </a:spcAft>
                <a:buClr>
                  <a:srgbClr val="000000"/>
                </a:buClr>
                <a:buSzPts val="3139"/>
                <a:buFont typeface="Arial"/>
                <a:buNone/>
              </a:pPr>
              <a:r>
                <a:t/>
              </a:r>
              <a:endParaRPr b="0" i="0" sz="3139"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mph" presetID="8" presetSubtype="0">
                                  <p:stCondLst>
                                    <p:cond delay="0"/>
                                  </p:stCondLst>
                                  <p:childTnLst>
                                    <p:animRot by="-21600000">
                                      <p:cBhvr>
                                        <p:cTn dur="1100" fill="hold"/>
                                        <p:tgtEl>
                                          <p:spTgt spid="681"/>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